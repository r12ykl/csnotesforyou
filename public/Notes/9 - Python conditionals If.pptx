
<file path=[Content_Types].xml><?xml version="1.0" encoding="utf-8"?>
<Types xmlns="http://schemas.openxmlformats.org/package/2006/content-types">
  <Default Extension="png" ContentType="image/png"/>
  <Default Extension="png&amp;ehk=H" ContentType="image/png"/>
  <Default Extension="jpeg" ContentType="image/jpeg"/>
  <Default Extension="rels" ContentType="application/vnd.openxmlformats-package.relationships+xml"/>
  <Default Extension="jpg&amp;ehk=qP8SYZNcVvQJKYjeFmtgvA&amp;r=0&amp;pid=OfficeInsert" ContentType="image/jpeg"/>
  <Default Extension="xml" ContentType="application/xml"/>
  <Default Extension="jpg&amp;ehk=zYWO5l6KSP9OMb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648" r:id="rId2"/>
  </p:sldMasterIdLst>
  <p:notesMasterIdLst>
    <p:notesMasterId r:id="rId21"/>
  </p:notesMasterIdLst>
  <p:sldIdLst>
    <p:sldId id="256" r:id="rId3"/>
    <p:sldId id="259" r:id="rId4"/>
    <p:sldId id="309" r:id="rId5"/>
    <p:sldId id="310" r:id="rId6"/>
    <p:sldId id="298" r:id="rId7"/>
    <p:sldId id="300" r:id="rId8"/>
    <p:sldId id="299" r:id="rId9"/>
    <p:sldId id="306" r:id="rId10"/>
    <p:sldId id="291" r:id="rId11"/>
    <p:sldId id="301" r:id="rId12"/>
    <p:sldId id="302" r:id="rId13"/>
    <p:sldId id="308" r:id="rId14"/>
    <p:sldId id="304" r:id="rId15"/>
    <p:sldId id="307" r:id="rId16"/>
    <p:sldId id="305" r:id="rId17"/>
    <p:sldId id="294" r:id="rId18"/>
    <p:sldId id="296" r:id="rId19"/>
    <p:sldId id="260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C8"/>
    <a:srgbClr val="F0F0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154051-4D3A-4001-BE88-A9ADEAE40CDA}" v="164" dt="2021-10-07T08:33:11.1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80" autoAdjust="0"/>
    <p:restoredTop sz="81594" autoAdjust="0"/>
  </p:normalViewPr>
  <p:slideViewPr>
    <p:cSldViewPr>
      <p:cViewPr varScale="1">
        <p:scale>
          <a:sx n="54" d="100"/>
          <a:sy n="54" d="100"/>
        </p:scale>
        <p:origin x="920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246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28" Type="http://schemas.openxmlformats.org/officeDocument/2006/relationships/customXml" Target="../customXml/item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Relationship Id="rId27" Type="http://schemas.microsoft.com/office/2015/10/relationships/revisionInfo" Target="revisionInfo.xml"/><Relationship Id="rId30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ine Smyth" userId="de5ce227-53e3-42c9-b7e0-2fb7785ba6f5" providerId="ADAL" clId="{33154051-4D3A-4001-BE88-A9ADEAE40CDA}"/>
    <pc:docChg chg="custSel addSld delSld modSld">
      <pc:chgData name="Pauline Smyth" userId="de5ce227-53e3-42c9-b7e0-2fb7785ba6f5" providerId="ADAL" clId="{33154051-4D3A-4001-BE88-A9ADEAE40CDA}" dt="2021-10-07T09:24:16.163" v="240" actId="47"/>
      <pc:docMkLst>
        <pc:docMk/>
      </pc:docMkLst>
      <pc:sldChg chg="addSp delSp modSp add mod delAnim modAnim">
        <pc:chgData name="Pauline Smyth" userId="de5ce227-53e3-42c9-b7e0-2fb7785ba6f5" providerId="ADAL" clId="{33154051-4D3A-4001-BE88-A9ADEAE40CDA}" dt="2021-10-07T09:23:57.664" v="239" actId="1076"/>
        <pc:sldMkLst>
          <pc:docMk/>
          <pc:sldMk cId="1262109766" sldId="309"/>
        </pc:sldMkLst>
        <pc:spChg chg="mod">
          <ac:chgData name="Pauline Smyth" userId="de5ce227-53e3-42c9-b7e0-2fb7785ba6f5" providerId="ADAL" clId="{33154051-4D3A-4001-BE88-A9ADEAE40CDA}" dt="2021-10-07T08:34:00.045" v="233" actId="1076"/>
          <ac:spMkLst>
            <pc:docMk/>
            <pc:sldMk cId="1262109766" sldId="309"/>
            <ac:spMk id="2" creationId="{00000000-0000-0000-0000-000000000000}"/>
          </ac:spMkLst>
        </pc:spChg>
        <pc:spChg chg="del mod">
          <ac:chgData name="Pauline Smyth" userId="de5ce227-53e3-42c9-b7e0-2fb7785ba6f5" providerId="ADAL" clId="{33154051-4D3A-4001-BE88-A9ADEAE40CDA}" dt="2021-10-07T08:33:48.489" v="230" actId="478"/>
          <ac:spMkLst>
            <pc:docMk/>
            <pc:sldMk cId="1262109766" sldId="309"/>
            <ac:spMk id="3" creationId="{00000000-0000-0000-0000-000000000000}"/>
          </ac:spMkLst>
        </pc:spChg>
        <pc:picChg chg="add mod">
          <ac:chgData name="Pauline Smyth" userId="de5ce227-53e3-42c9-b7e0-2fb7785ba6f5" providerId="ADAL" clId="{33154051-4D3A-4001-BE88-A9ADEAE40CDA}" dt="2021-10-07T08:34:38.716" v="236" actId="1076"/>
          <ac:picMkLst>
            <pc:docMk/>
            <pc:sldMk cId="1262109766" sldId="309"/>
            <ac:picMk id="5" creationId="{6F9497AC-7A00-4465-8671-FB586AB2B869}"/>
          </ac:picMkLst>
        </pc:picChg>
        <pc:picChg chg="add">
          <ac:chgData name="Pauline Smyth" userId="de5ce227-53e3-42c9-b7e0-2fb7785ba6f5" providerId="ADAL" clId="{33154051-4D3A-4001-BE88-A9ADEAE40CDA}" dt="2021-10-07T08:34:34.344" v="235" actId="22"/>
          <ac:picMkLst>
            <pc:docMk/>
            <pc:sldMk cId="1262109766" sldId="309"/>
            <ac:picMk id="7" creationId="{F5F0FD1C-3DAB-47DA-9D75-8FD4E0D3CB0A}"/>
          </ac:picMkLst>
        </pc:picChg>
        <pc:picChg chg="add mod">
          <ac:chgData name="Pauline Smyth" userId="de5ce227-53e3-42c9-b7e0-2fb7785ba6f5" providerId="ADAL" clId="{33154051-4D3A-4001-BE88-A9ADEAE40CDA}" dt="2021-10-07T09:23:57.664" v="239" actId="1076"/>
          <ac:picMkLst>
            <pc:docMk/>
            <pc:sldMk cId="1262109766" sldId="309"/>
            <ac:picMk id="9" creationId="{0DD9B7A8-A92D-4E09-944A-6C1FEA303A13}"/>
          </ac:picMkLst>
        </pc:picChg>
      </pc:sldChg>
      <pc:sldChg chg="addSp delSp modSp add mod setBg delAnim">
        <pc:chgData name="Pauline Smyth" userId="de5ce227-53e3-42c9-b7e0-2fb7785ba6f5" providerId="ADAL" clId="{33154051-4D3A-4001-BE88-A9ADEAE40CDA}" dt="2021-10-07T08:22:24.407" v="195"/>
        <pc:sldMkLst>
          <pc:docMk/>
          <pc:sldMk cId="510870090" sldId="310"/>
        </pc:sldMkLst>
        <pc:spChg chg="mod">
          <ac:chgData name="Pauline Smyth" userId="de5ce227-53e3-42c9-b7e0-2fb7785ba6f5" providerId="ADAL" clId="{33154051-4D3A-4001-BE88-A9ADEAE40CDA}" dt="2021-10-07T08:21:58.059" v="192" actId="26606"/>
          <ac:spMkLst>
            <pc:docMk/>
            <pc:sldMk cId="510870090" sldId="310"/>
            <ac:spMk id="2" creationId="{00000000-0000-0000-0000-000000000000}"/>
          </ac:spMkLst>
        </pc:spChg>
        <pc:spChg chg="del">
          <ac:chgData name="Pauline Smyth" userId="de5ce227-53e3-42c9-b7e0-2fb7785ba6f5" providerId="ADAL" clId="{33154051-4D3A-4001-BE88-A9ADEAE40CDA}" dt="2021-10-07T08:20:49.047" v="182" actId="478"/>
          <ac:spMkLst>
            <pc:docMk/>
            <pc:sldMk cId="510870090" sldId="310"/>
            <ac:spMk id="3" creationId="{00000000-0000-0000-0000-000000000000}"/>
          </ac:spMkLst>
        </pc:spChg>
        <pc:spChg chg="add">
          <ac:chgData name="Pauline Smyth" userId="de5ce227-53e3-42c9-b7e0-2fb7785ba6f5" providerId="ADAL" clId="{33154051-4D3A-4001-BE88-A9ADEAE40CDA}" dt="2021-10-07T08:21:58.059" v="192" actId="26606"/>
          <ac:spMkLst>
            <pc:docMk/>
            <pc:sldMk cId="510870090" sldId="310"/>
            <ac:spMk id="9" creationId="{D12DDE76-C203-4047-9998-63900085B5E8}"/>
          </ac:spMkLst>
        </pc:spChg>
        <pc:picChg chg="add mod">
          <ac:chgData name="Pauline Smyth" userId="de5ce227-53e3-42c9-b7e0-2fb7785ba6f5" providerId="ADAL" clId="{33154051-4D3A-4001-BE88-A9ADEAE40CDA}" dt="2021-10-07T08:22:10.837" v="194" actId="14100"/>
          <ac:picMkLst>
            <pc:docMk/>
            <pc:sldMk cId="510870090" sldId="310"/>
            <ac:picMk id="4" creationId="{438259E1-D3AA-478F-87A1-3689930B991A}"/>
          </ac:picMkLst>
        </pc:picChg>
      </pc:sldChg>
      <pc:sldChg chg="addSp modSp add del mod modAnim">
        <pc:chgData name="Pauline Smyth" userId="de5ce227-53e3-42c9-b7e0-2fb7785ba6f5" providerId="ADAL" clId="{33154051-4D3A-4001-BE88-A9ADEAE40CDA}" dt="2021-10-07T09:24:16.163" v="240" actId="47"/>
        <pc:sldMkLst>
          <pc:docMk/>
          <pc:sldMk cId="1034793175" sldId="311"/>
        </pc:sldMkLst>
        <pc:spChg chg="mod">
          <ac:chgData name="Pauline Smyth" userId="de5ce227-53e3-42c9-b7e0-2fb7785ba6f5" providerId="ADAL" clId="{33154051-4D3A-4001-BE88-A9ADEAE40CDA}" dt="2021-10-07T08:27:30.102" v="218" actId="1076"/>
          <ac:spMkLst>
            <pc:docMk/>
            <pc:sldMk cId="1034793175" sldId="311"/>
            <ac:spMk id="2" creationId="{00000000-0000-0000-0000-000000000000}"/>
          </ac:spMkLst>
        </pc:spChg>
        <pc:spChg chg="mod">
          <ac:chgData name="Pauline Smyth" userId="de5ce227-53e3-42c9-b7e0-2fb7785ba6f5" providerId="ADAL" clId="{33154051-4D3A-4001-BE88-A9ADEAE40CDA}" dt="2021-10-07T08:27:43.338" v="222" actId="6549"/>
          <ac:spMkLst>
            <pc:docMk/>
            <pc:sldMk cId="1034793175" sldId="311"/>
            <ac:spMk id="3" creationId="{00000000-0000-0000-0000-000000000000}"/>
          </ac:spMkLst>
        </pc:spChg>
        <pc:picChg chg="add mod">
          <ac:chgData name="Pauline Smyth" userId="de5ce227-53e3-42c9-b7e0-2fb7785ba6f5" providerId="ADAL" clId="{33154051-4D3A-4001-BE88-A9ADEAE40CDA}" dt="2021-10-07T08:27:34.558" v="220" actId="14100"/>
          <ac:picMkLst>
            <pc:docMk/>
            <pc:sldMk cId="1034793175" sldId="311"/>
            <ac:picMk id="5" creationId="{CE8ABE57-FCF1-4F6B-8031-A57DD21E07F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408EF2-A9E7-4AC3-A802-968461B2836C}" type="datetimeFigureOut">
              <a:rPr lang="en-IE" smtClean="0"/>
              <a:pPr/>
              <a:t>07/10/2021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8CF78B-96D2-4305-8711-1B89159C1975}" type="slidenum">
              <a:rPr lang="en-IE" smtClean="0"/>
              <a:pPr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50894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This lesson will focus on the</a:t>
            </a:r>
            <a:r>
              <a:rPr lang="en-IE" b="1" dirty="0"/>
              <a:t> IF </a:t>
            </a:r>
            <a:r>
              <a:rPr lang="en-IE" dirty="0"/>
              <a:t>statement. It is assumed that variables, data types, casting, and input-output have been covered before this lesson.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dirty="0"/>
              <a:t>Conditionals are considered to be the first key Threshold Concepts in learning how to Program.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dirty="0"/>
              <a:t>The tasks and ideas would require several classes to ensure students have time to engage with the concept.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35729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The concept learned here, plus some of the programs written later in the lesson by the students, are used in the follow-up lesson on </a:t>
            </a:r>
            <a:r>
              <a:rPr lang="en-IE" b="1" dirty="0"/>
              <a:t>if..</a:t>
            </a:r>
            <a:r>
              <a:rPr lang="en-IE" b="1" dirty="0" err="1"/>
              <a:t>elif</a:t>
            </a:r>
            <a:r>
              <a:rPr lang="en-IE" b="1" dirty="0"/>
              <a:t>..else </a:t>
            </a:r>
            <a:r>
              <a:rPr lang="en-IE" dirty="0"/>
              <a:t>statements.</a:t>
            </a:r>
          </a:p>
          <a:p>
            <a:r>
              <a:rPr lang="en-IE" dirty="0"/>
              <a:t>It will make a difference if any programs written here are saved with appropriate file names so they can be recalled in the follow-up lesson.</a:t>
            </a:r>
          </a:p>
          <a:p>
            <a:r>
              <a:rPr lang="en-IE" dirty="0"/>
              <a:t>The main Learning Outcomes (LO) achieved are highlighted throughout the lesson and tasks.</a:t>
            </a:r>
          </a:p>
          <a:p>
            <a:r>
              <a:rPr lang="en-IE" dirty="0"/>
              <a:t>The list is not exhaustive, and consultation with the LCCS spec is encouraged at all times throughout the implementation of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713411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The concept learned here, plus some of the programs written later in the lesson by the students, are used in the follow-up lesson on </a:t>
            </a:r>
            <a:r>
              <a:rPr lang="en-IE" b="1" dirty="0"/>
              <a:t>if..</a:t>
            </a:r>
            <a:r>
              <a:rPr lang="en-IE" b="1" dirty="0" err="1"/>
              <a:t>elif</a:t>
            </a:r>
            <a:r>
              <a:rPr lang="en-IE" b="1" dirty="0"/>
              <a:t>..else </a:t>
            </a:r>
            <a:r>
              <a:rPr lang="en-IE" dirty="0"/>
              <a:t>statements.</a:t>
            </a:r>
          </a:p>
          <a:p>
            <a:r>
              <a:rPr lang="en-IE" dirty="0"/>
              <a:t>It will make a difference if any programs written here are saved with appropriate file names so they can be recalled in the follow-up lesson.</a:t>
            </a:r>
          </a:p>
          <a:p>
            <a:r>
              <a:rPr lang="en-IE" dirty="0"/>
              <a:t>The main Learning Outcomes (LO) achieved are highlighted throughout the lesson and tasks.</a:t>
            </a:r>
          </a:p>
          <a:p>
            <a:r>
              <a:rPr lang="en-IE" dirty="0"/>
              <a:t>The list is not exhaustive, and consultation with the LCCS spec is encouraged at all times throughout the implementation of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939885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The concept learned here, plus some of the programs written later in the lesson by the students, are used in the follow-up lesson on </a:t>
            </a:r>
            <a:r>
              <a:rPr lang="en-IE" b="1" dirty="0"/>
              <a:t>if..</a:t>
            </a:r>
            <a:r>
              <a:rPr lang="en-IE" b="1" dirty="0" err="1"/>
              <a:t>elif</a:t>
            </a:r>
            <a:r>
              <a:rPr lang="en-IE" b="1" dirty="0"/>
              <a:t>..else </a:t>
            </a:r>
            <a:r>
              <a:rPr lang="en-IE" dirty="0"/>
              <a:t>statements.</a:t>
            </a:r>
          </a:p>
          <a:p>
            <a:r>
              <a:rPr lang="en-IE" dirty="0"/>
              <a:t>It will make a difference if any programs written here are saved with appropriate file names so they can be recalled in the follow-up lesson.</a:t>
            </a:r>
          </a:p>
          <a:p>
            <a:r>
              <a:rPr lang="en-IE" dirty="0"/>
              <a:t>The main Learning Outcomes (LO) achieved are highlighted throughout the lesson and tasks.</a:t>
            </a:r>
          </a:p>
          <a:p>
            <a:r>
              <a:rPr lang="en-IE" dirty="0"/>
              <a:t>The list is not exhaustive, and consultation with the LCCS spec is encouraged at all times throughout the implementation of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98939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The If statement is read as </a:t>
            </a:r>
            <a:r>
              <a:rPr lang="en-IE" sz="2000" dirty="0">
                <a:solidFill>
                  <a:srgbClr val="FF0000"/>
                </a:solidFill>
              </a:rPr>
              <a:t>“If the temperature is greater than zero is True then execute the following commands”</a:t>
            </a:r>
          </a:p>
          <a:p>
            <a:r>
              <a:rPr lang="en-IE" dirty="0"/>
              <a:t>Note the indentation.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149930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Note that all lines within the </a:t>
            </a:r>
            <a:r>
              <a:rPr lang="en-IE" b="1" dirty="0"/>
              <a:t>If</a:t>
            </a:r>
            <a:r>
              <a:rPr lang="en-IE" dirty="0"/>
              <a:t> statement are indented. These will all be executed when the condition is True.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09744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A flow chart of the If statement follows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53131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A FLOW chart representation ….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683756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Encourage students to make a prediction before testing out the code.</a:t>
            </a:r>
          </a:p>
          <a:p>
            <a:r>
              <a:rPr lang="en-IE" dirty="0"/>
              <a:t>The purpose of this exercise is to highlight that the interpreter will continue executing If statements whether the previous ones were True Or False.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dirty="0"/>
              <a:t>The PRIMM method will encourage engagement. (Predict Run Investigate Modify Make)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232349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The output from program with multiple</a:t>
            </a:r>
            <a:r>
              <a:rPr lang="en-IE" b="1" dirty="0"/>
              <a:t> If </a:t>
            </a:r>
            <a:r>
              <a:rPr lang="en-IE" dirty="0"/>
              <a:t>statements.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10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9712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Encourage students to make a prediction before testing out the code.</a:t>
            </a:r>
          </a:p>
          <a:p>
            <a:r>
              <a:rPr lang="en-IE" sz="2000" dirty="0">
                <a:solidFill>
                  <a:srgbClr val="FF0000"/>
                </a:solidFill>
              </a:rPr>
              <a:t>There are three temperatures that will produce no output (0, 40 and 70). </a:t>
            </a:r>
          </a:p>
          <a:p>
            <a:r>
              <a:rPr lang="en-IE" sz="2000" dirty="0">
                <a:solidFill>
                  <a:srgbClr val="FF0000"/>
                </a:solidFill>
              </a:rPr>
              <a:t>Pose the question as a brain teaser. (It is mentioned on the slide.)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11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039140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Encourage the students to use their IDE to figure out and understand the less familiar operations.</a:t>
            </a:r>
          </a:p>
          <a:p>
            <a:r>
              <a:rPr lang="en-IE" b="1" dirty="0">
                <a:solidFill>
                  <a:srgbClr val="FF0000"/>
                </a:solidFill>
              </a:rPr>
              <a:t>Draw attention to the “equals” relational operator.  Ask why there are two equals. (One equal sign is an assignment!!)</a:t>
            </a:r>
          </a:p>
          <a:p>
            <a:r>
              <a:rPr lang="en-IE" dirty="0"/>
              <a:t>The </a:t>
            </a:r>
            <a:r>
              <a:rPr lang="en-IE" dirty="0" err="1"/>
              <a:t>etasksheet</a:t>
            </a:r>
            <a:r>
              <a:rPr lang="en-IE" dirty="0"/>
              <a:t> above can be downloaded from the website, completed by the students (as a fillable pdf) and stored in their online space. Or it can be printed out for a written class task.</a:t>
            </a:r>
          </a:p>
          <a:p>
            <a:r>
              <a:rPr lang="en-IE" dirty="0"/>
              <a:t>The answers are revealed when the slide show is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8CF78B-96D2-4305-8711-1B89159C1975}" type="slidenum">
              <a:rPr kumimoji="0" lang="en-I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I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54594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Ask the students what the reminders might be ….. In particular casting inputs from strings to integers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13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073681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Before showing the sample code on the next slide, give the students some time to write the algorithm / program to compare two numbers entered by the user.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14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726703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Sample Code for comparing two numbers entered by the user.</a:t>
            </a:r>
          </a:p>
          <a:p>
            <a:r>
              <a:rPr lang="en-IE" dirty="0"/>
              <a:t>This will be used as one of the kick off points for introducing </a:t>
            </a:r>
            <a:r>
              <a:rPr lang="en-IE" b="1" dirty="0" err="1"/>
              <a:t>if..then..else</a:t>
            </a:r>
            <a:r>
              <a:rPr lang="en-IE" b="1" dirty="0"/>
              <a:t> </a:t>
            </a:r>
            <a:r>
              <a:rPr lang="en-IE" dirty="0"/>
              <a:t>statements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15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326097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This is the bones of the guessing game. At this point, students can only control the flow of their programs using If statements.</a:t>
            </a:r>
          </a:p>
          <a:p>
            <a:r>
              <a:rPr lang="en-IE" dirty="0"/>
              <a:t>Students must write the algorithm first. The next slide shows a possible </a:t>
            </a:r>
            <a:r>
              <a:rPr lang="en-IE" sz="2000" dirty="0">
                <a:solidFill>
                  <a:srgbClr val="FF0000"/>
                </a:solidFill>
              </a:rPr>
              <a:t>algorithm in pseudo-code.</a:t>
            </a:r>
          </a:p>
          <a:p>
            <a:r>
              <a:rPr lang="en-IE" sz="2000" dirty="0">
                <a:solidFill>
                  <a:srgbClr val="FF0000"/>
                </a:solidFill>
              </a:rPr>
              <a:t>On ncca.ie, use the html resource to write the guessing game in Scratch and analyse its CT level. Compare the 2 programs and the 2 User Interfaces.</a:t>
            </a:r>
          </a:p>
          <a:p>
            <a:r>
              <a:rPr lang="en-IE" dirty="0"/>
              <a:t>When students study LOOPS they will be able to offer the user unlimited amount of turns and the option to exit the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8E70F5-F765-4AEF-B7F1-D2874B49F805}" type="slidenum">
              <a:rPr lang="en-IE" smtClean="0"/>
              <a:pPr/>
              <a:t>16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893001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Students finding it hard to write the algorithm/program unaided could use this pseudo code as a scaffold for writing their own code.</a:t>
            </a:r>
          </a:p>
          <a:p>
            <a:r>
              <a:rPr lang="en-IE" dirty="0"/>
              <a:t>The algorithm must introduce the concept of NESTED </a:t>
            </a:r>
            <a:r>
              <a:rPr lang="en-IE" b="1" dirty="0"/>
              <a:t>if</a:t>
            </a:r>
            <a:r>
              <a:rPr lang="en-IE" dirty="0"/>
              <a:t> statements … that is </a:t>
            </a:r>
            <a:r>
              <a:rPr lang="en-IE" b="1" dirty="0"/>
              <a:t>if</a:t>
            </a:r>
            <a:r>
              <a:rPr lang="en-IE" dirty="0"/>
              <a:t> statements within</a:t>
            </a:r>
            <a:r>
              <a:rPr lang="en-IE" b="1" dirty="0"/>
              <a:t> if </a:t>
            </a:r>
            <a:r>
              <a:rPr lang="en-IE" dirty="0"/>
              <a:t>statements.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17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573893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The main Learning Outcomes (LO) achieved are highlighted throughout the lesson and tasks.</a:t>
            </a:r>
          </a:p>
          <a:p>
            <a:r>
              <a:rPr lang="en-IE" dirty="0"/>
              <a:t>The list is not exhaustive, and consultation with the LCCS spec is encouraged at all times throughout the implementation of the course.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8CF78B-96D2-4305-8711-1B89159C1975}" type="slidenum">
              <a:rPr lang="en-IE" smtClean="0"/>
              <a:pPr/>
              <a:t>18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96497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bigideasdeh-43wiki.wikispaces.com/expected+outcomes+of+phase+i+therapy" TargetMode="External"/><Relationship Id="rId2" Type="http://schemas.openxmlformats.org/officeDocument/2006/relationships/image" Target="../media/image2.jpg&amp;ehk=qP8SYZNcVvQJKYjeFmtgvA&amp;r=0&amp;pid=OfficeInsert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nestcandy.blogspot.com/2012/06/inspirational-quote-sunday-1.html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81316" y="365126"/>
            <a:ext cx="6634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881316" y="1825625"/>
            <a:ext cx="663403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8453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6161-D4EF-4684-A1D9-2DE6B480031D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37A79B7-4BAA-44BA-AB00-078DFAE9BA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-17811"/>
            <a:ext cx="678390" cy="6783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6161-D4EF-4684-A1D9-2DE6B480031D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6161-D4EF-4684-A1D9-2DE6B480031D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6161-D4EF-4684-A1D9-2DE6B480031D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6161-D4EF-4684-A1D9-2DE6B480031D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6161-D4EF-4684-A1D9-2DE6B480031D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ThinkPairShareSquare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A4CD9F-77FD-4ED2-A934-3CF935803F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rot="19983803">
            <a:off x="7112324" y="511380"/>
            <a:ext cx="1695614" cy="113040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1786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FAFA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6037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6161-D4EF-4684-A1D9-2DE6B480031D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6161-D4EF-4684-A1D9-2DE6B480031D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E6161-D4EF-4684-A1D9-2DE6B480031D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1316" y="365126"/>
            <a:ext cx="663403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1316" y="1825625"/>
            <a:ext cx="663403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5407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7E6161-D4EF-4684-A1D9-2DE6B480031D}" type="datetimeFigureOut">
              <a:rPr lang="en-US" smtClean="0"/>
              <a:pPr/>
              <a:t>10/7/2021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13F3F-4261-4FB4-B26F-332750FEB3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1" r:id="rId8"/>
    <p:sldLayoutId id="2147483660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&amp;ehk=zYWO5l6KSP9OMb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://neurowiki2013.wikidot.com/individual:tagged-for-failure-creb-cbp-and-other-molecules-a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&amp;ehk=zYWO5l6KSP9OMb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.png"/><Relationship Id="rId4" Type="http://schemas.openxmlformats.org/officeDocument/2006/relationships/hyperlink" Target="http://neurowiki2013.wikidot.com/individual:tagged-for-failure-creb-cbp-and-other-molecules-a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&amp;ehk=H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://population-based-intervention.wikispaces.com/Home-school+partnership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5696" y="1124744"/>
            <a:ext cx="5184576" cy="1325563"/>
          </a:xfrm>
        </p:spPr>
        <p:txBody>
          <a:bodyPr>
            <a:normAutofit/>
          </a:bodyPr>
          <a:lstStyle/>
          <a:p>
            <a:r>
              <a:rPr lang="en-US" sz="4400" dirty="0"/>
              <a:t>Learning to Program</a:t>
            </a:r>
            <a:br>
              <a:rPr lang="en-US" sz="4400" dirty="0"/>
            </a:br>
            <a:r>
              <a:rPr lang="en-US" sz="4400" dirty="0"/>
              <a:t>in Python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0E86030-66F4-4B1C-AD61-31FB7E9985FE}"/>
              </a:ext>
            </a:extLst>
          </p:cNvPr>
          <p:cNvSpPr txBox="1">
            <a:spLocks/>
          </p:cNvSpPr>
          <p:nvPr/>
        </p:nvSpPr>
        <p:spPr>
          <a:xfrm>
            <a:off x="4932040" y="4016626"/>
            <a:ext cx="3380928" cy="17526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b="1" dirty="0">
                <a:solidFill>
                  <a:schemeClr val="tx1"/>
                </a:solidFill>
              </a:rPr>
              <a:t>Concept 4</a:t>
            </a:r>
          </a:p>
          <a:p>
            <a:r>
              <a:rPr lang="en-US" sz="3600" b="1" dirty="0">
                <a:solidFill>
                  <a:schemeClr val="tx1"/>
                </a:solidFill>
              </a:rPr>
              <a:t>Conditionals</a:t>
            </a:r>
          </a:p>
          <a:p>
            <a:r>
              <a:rPr lang="en-US" sz="3000" b="1" dirty="0">
                <a:solidFill>
                  <a:schemeClr val="tx1"/>
                </a:solidFill>
              </a:rPr>
              <a:t>(if statements)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549275"/>
            <a:ext cx="8229600" cy="1143000"/>
          </a:xfrm>
        </p:spPr>
        <p:txBody>
          <a:bodyPr/>
          <a:lstStyle/>
          <a:p>
            <a:r>
              <a:rPr lang="en-IE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683568" y="1722437"/>
            <a:ext cx="8229600" cy="3413125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E" dirty="0"/>
              <a:t>From this lesson the students will: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Understand the concept of a conditional </a:t>
            </a:r>
            <a:r>
              <a:rPr lang="en-IE" b="1" dirty="0"/>
              <a:t>if </a:t>
            </a:r>
            <a:r>
              <a:rPr lang="en-IE" dirty="0"/>
              <a:t>statement.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Read and Write code to carry out simple tasks.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Use relational operators to make comparisons.</a:t>
            </a:r>
          </a:p>
        </p:txBody>
      </p:sp>
    </p:spTree>
    <p:extLst>
      <p:ext uri="{BB962C8B-B14F-4D97-AF65-F5344CB8AC3E}">
        <p14:creationId xmlns:p14="http://schemas.microsoft.com/office/powerpoint/2010/main" val="3643977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79512" y="188640"/>
            <a:ext cx="8229600" cy="1143000"/>
          </a:xfrm>
        </p:spPr>
        <p:txBody>
          <a:bodyPr/>
          <a:lstStyle/>
          <a:p>
            <a:r>
              <a:rPr lang="en-IE" dirty="0"/>
              <a:t>Python Control structures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9497AC-7A00-4465-8671-FB586AB2B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" y="1575097"/>
            <a:ext cx="6830720" cy="7202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F0FD1C-3DAB-47DA-9D75-8FD4E0D3CB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" y="2505075"/>
            <a:ext cx="8953500" cy="1847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D9B7A8-A92D-4E09-944A-6C1FEA303A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400" y="4562657"/>
            <a:ext cx="897255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109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28650" y="171162"/>
            <a:ext cx="2130136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Hangman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8259E1-D3AA-478F-87A1-3689930B991A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635896" y="171162"/>
            <a:ext cx="4879454" cy="668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870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15616" y="415859"/>
            <a:ext cx="7127875" cy="792162"/>
          </a:xfrm>
        </p:spPr>
        <p:txBody>
          <a:bodyPr/>
          <a:lstStyle/>
          <a:p>
            <a:r>
              <a:rPr lang="en-IE" b="1" dirty="0"/>
              <a:t>if</a:t>
            </a:r>
            <a:r>
              <a:rPr lang="en-IE" dirty="0"/>
              <a:t> Statement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DA3B498-8481-480D-8089-99F7AE1D4AF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23453" y="1341115"/>
            <a:ext cx="8712200" cy="48958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/>
              <a:t>if</a:t>
            </a:r>
            <a:r>
              <a:rPr lang="en-US" dirty="0"/>
              <a:t> statement: executes a set of commands only if a certain condition is True.  </a:t>
            </a:r>
          </a:p>
          <a:p>
            <a:pPr>
              <a:lnSpc>
                <a:spcPct val="90000"/>
              </a:lnSpc>
            </a:pPr>
            <a:r>
              <a:rPr lang="en-US" dirty="0"/>
              <a:t>Otherwise, the commands are skipped.</a:t>
            </a:r>
          </a:p>
          <a:p>
            <a:pPr lvl="1">
              <a:lnSpc>
                <a:spcPct val="80000"/>
              </a:lnSpc>
            </a:pPr>
            <a:endParaRPr lang="en-US" sz="900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en-US" dirty="0"/>
              <a:t>Syntax:</a:t>
            </a:r>
          </a:p>
          <a:p>
            <a:pPr marL="457200" lvl="1" indent="0">
              <a:lnSpc>
                <a:spcPct val="80000"/>
              </a:lnSpc>
              <a:buNone/>
            </a:pPr>
            <a:endParaRPr lang="en-US" dirty="0"/>
          </a:p>
          <a:p>
            <a:pPr lvl="1">
              <a:lnSpc>
                <a:spcPct val="80000"/>
              </a:lnSpc>
              <a:buFontTx/>
              <a:buNone/>
            </a:pPr>
            <a:r>
              <a:rPr lang="en-US" dirty="0"/>
              <a:t>	</a:t>
            </a:r>
            <a:endParaRPr lang="en-US" dirty="0">
              <a:latin typeface="Courier New" charset="0"/>
            </a:endParaRPr>
          </a:p>
        </p:txBody>
      </p:sp>
      <p:pic>
        <p:nvPicPr>
          <p:cNvPr id="8" name="Picture 7" descr="A close up of a logo&#10;&#10;Description generated with high confidence">
            <a:extLst>
              <a:ext uri="{FF2B5EF4-FFF2-40B4-BE49-F238E27FC236}">
                <a16:creationId xmlns:a16="http://schemas.microsoft.com/office/drawing/2014/main" id="{3BBBDBB1-14BF-4547-80D5-1D8F5114D1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640" y="3703092"/>
            <a:ext cx="8190907" cy="165618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3459770F-562C-4C5C-92BD-E03BF323B783}"/>
              </a:ext>
            </a:extLst>
          </p:cNvPr>
          <p:cNvGrpSpPr/>
          <p:nvPr/>
        </p:nvGrpSpPr>
        <p:grpSpPr>
          <a:xfrm>
            <a:off x="1979712" y="4837803"/>
            <a:ext cx="6696744" cy="1358164"/>
            <a:chOff x="1691680" y="5093431"/>
            <a:chExt cx="6696744" cy="1358164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5FD3BE6-FF9D-489C-9624-8EBD4C5995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91680" y="5093431"/>
              <a:ext cx="3168352" cy="92785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C25FC7F-CEBD-4E02-B952-C7F06BB17C01}"/>
                </a:ext>
              </a:extLst>
            </p:cNvPr>
            <p:cNvSpPr txBox="1"/>
            <p:nvPr/>
          </p:nvSpPr>
          <p:spPr>
            <a:xfrm>
              <a:off x="5220072" y="5805264"/>
              <a:ext cx="316835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sz="3600" b="1" dirty="0">
                  <a:solidFill>
                    <a:srgbClr val="FF0000"/>
                  </a:solidFill>
                </a:rPr>
                <a:t>indentation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090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08062" y="369094"/>
            <a:ext cx="7127875" cy="792162"/>
          </a:xfrm>
        </p:spPr>
        <p:txBody>
          <a:bodyPr/>
          <a:lstStyle/>
          <a:p>
            <a:r>
              <a:rPr lang="en-IE" b="1" dirty="0"/>
              <a:t>if</a:t>
            </a:r>
            <a:r>
              <a:rPr lang="en-IE" dirty="0"/>
              <a:t> Statement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DA3B498-8481-480D-8089-99F7AE1D4AF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196975"/>
            <a:ext cx="8712200" cy="48958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You can execute as many lines of code within an </a:t>
            </a:r>
            <a:r>
              <a:rPr lang="en-US" b="1" dirty="0"/>
              <a:t>if</a:t>
            </a:r>
            <a:r>
              <a:rPr lang="en-US" dirty="0"/>
              <a:t> statement as you wish.</a:t>
            </a:r>
          </a:p>
          <a:p>
            <a:pPr lvl="1">
              <a:lnSpc>
                <a:spcPct val="80000"/>
              </a:lnSpc>
            </a:pPr>
            <a:endParaRPr lang="en-US" sz="900" dirty="0"/>
          </a:p>
          <a:p>
            <a:pPr marL="457200" lvl="1" indent="0">
              <a:lnSpc>
                <a:spcPct val="80000"/>
              </a:lnSpc>
              <a:buNone/>
            </a:pPr>
            <a:endParaRPr lang="en-US" dirty="0"/>
          </a:p>
          <a:p>
            <a:pPr lvl="1">
              <a:lnSpc>
                <a:spcPct val="80000"/>
              </a:lnSpc>
              <a:buFontTx/>
              <a:buNone/>
            </a:pPr>
            <a:r>
              <a:rPr lang="en-US" dirty="0"/>
              <a:t>	</a:t>
            </a:r>
            <a:endParaRPr lang="en-US" dirty="0">
              <a:latin typeface="Courier New" charset="0"/>
            </a:endParaRPr>
          </a:p>
        </p:txBody>
      </p:sp>
      <p:pic>
        <p:nvPicPr>
          <p:cNvPr id="4" name="Picture 3" descr="A picture containing indoor&#10;&#10;Description generated with high confidence">
            <a:extLst>
              <a:ext uri="{FF2B5EF4-FFF2-40B4-BE49-F238E27FC236}">
                <a16:creationId xmlns:a16="http://schemas.microsoft.com/office/drawing/2014/main" id="{3FBA72CF-7E97-427B-98F9-22AFC48B84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548" y="2420888"/>
            <a:ext cx="8126904" cy="2448272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0910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187624" y="435955"/>
            <a:ext cx="7127875" cy="792162"/>
          </a:xfrm>
        </p:spPr>
        <p:txBody>
          <a:bodyPr/>
          <a:lstStyle/>
          <a:p>
            <a:r>
              <a:rPr lang="en-IE" b="1" dirty="0"/>
              <a:t>if</a:t>
            </a:r>
            <a:r>
              <a:rPr lang="en-IE" dirty="0"/>
              <a:t> Statement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DA3B498-8481-480D-8089-99F7AE1D4AF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19311" y="1412776"/>
            <a:ext cx="8064500" cy="48958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b="1" dirty="0"/>
              <a:t>if </a:t>
            </a:r>
            <a:r>
              <a:rPr lang="en-US" dirty="0"/>
              <a:t>(condition is True):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Execute these set of commands</a:t>
            </a:r>
          </a:p>
          <a:p>
            <a:pPr>
              <a:lnSpc>
                <a:spcPct val="90000"/>
              </a:lnSpc>
            </a:pPr>
            <a:r>
              <a:rPr lang="en-US" dirty="0"/>
              <a:t>Otherwise the commands are skipped.</a:t>
            </a:r>
          </a:p>
          <a:p>
            <a:pPr lvl="1">
              <a:lnSpc>
                <a:spcPct val="80000"/>
              </a:lnSpc>
            </a:pPr>
            <a:endParaRPr lang="en-US" sz="900" dirty="0"/>
          </a:p>
          <a:p>
            <a:pPr marL="457200" lvl="1" indent="0">
              <a:lnSpc>
                <a:spcPct val="80000"/>
              </a:lnSpc>
              <a:buNone/>
            </a:pPr>
            <a:r>
              <a:rPr lang="en-US" u="sng" dirty="0"/>
              <a:t>Syntax</a:t>
            </a:r>
          </a:p>
          <a:p>
            <a:pPr marL="457200" lvl="1" indent="0">
              <a:lnSpc>
                <a:spcPct val="80000"/>
              </a:lnSpc>
              <a:buNone/>
            </a:pPr>
            <a:endParaRPr lang="en-US" dirty="0"/>
          </a:p>
          <a:p>
            <a:pPr lvl="1">
              <a:lnSpc>
                <a:spcPct val="80000"/>
              </a:lnSpc>
              <a:buFontTx/>
              <a:buNone/>
            </a:pPr>
            <a:r>
              <a:rPr lang="en-US" dirty="0"/>
              <a:t>	</a:t>
            </a:r>
            <a:r>
              <a:rPr lang="en-US" dirty="0">
                <a:latin typeface="Courier New" charset="0"/>
              </a:rPr>
              <a:t>if </a:t>
            </a:r>
            <a:r>
              <a:rPr lang="en-US" b="1" dirty="0"/>
              <a:t>condition</a:t>
            </a:r>
            <a:r>
              <a:rPr lang="en-US" dirty="0">
                <a:latin typeface="Courier New" charset="0"/>
              </a:rPr>
              <a:t>: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dirty="0">
                <a:latin typeface="Courier New" charset="0"/>
              </a:rPr>
              <a:t>	    </a:t>
            </a:r>
            <a:r>
              <a:rPr lang="en-US" dirty="0"/>
              <a:t>execute s</a:t>
            </a:r>
            <a:r>
              <a:rPr lang="en-US" b="1" dirty="0"/>
              <a:t>tatements </a:t>
            </a:r>
            <a:r>
              <a:rPr lang="en-US" i="1" dirty="0"/>
              <a:t>(note indentation)</a:t>
            </a:r>
            <a:endParaRPr lang="en-US" i="1" dirty="0">
              <a:latin typeface="Courier New" charset="0"/>
            </a:endParaRPr>
          </a:p>
          <a:p>
            <a:pPr marL="457200" lvl="1" indent="0">
              <a:lnSpc>
                <a:spcPct val="80000"/>
              </a:lnSpc>
              <a:buNone/>
            </a:pPr>
            <a:endParaRPr lang="en-US" dirty="0">
              <a:latin typeface="Courier New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524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AF71E9A5-2CD0-4F69-8191-21309811B39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100013"/>
            <a:ext cx="8229600" cy="1143001"/>
          </a:xfrm>
        </p:spPr>
        <p:txBody>
          <a:bodyPr/>
          <a:lstStyle/>
          <a:p>
            <a:r>
              <a:rPr lang="en-IE" b="1" dirty="0"/>
              <a:t>if</a:t>
            </a:r>
            <a:r>
              <a:rPr lang="en-IE" dirty="0"/>
              <a:t> flowchart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EEF9D1-AE66-40EC-A9C5-AEFD62CDD603}"/>
              </a:ext>
            </a:extLst>
          </p:cNvPr>
          <p:cNvSpPr txBox="1"/>
          <p:nvPr/>
        </p:nvSpPr>
        <p:spPr>
          <a:xfrm>
            <a:off x="3329862" y="3645024"/>
            <a:ext cx="1458162" cy="646331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E" b="1" dirty="0"/>
              <a:t>Execute your code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0D848AD-C84C-401B-B426-28D758754C6D}"/>
              </a:ext>
            </a:extLst>
          </p:cNvPr>
          <p:cNvGrpSpPr/>
          <p:nvPr/>
        </p:nvGrpSpPr>
        <p:grpSpPr>
          <a:xfrm>
            <a:off x="1763688" y="770370"/>
            <a:ext cx="4392488" cy="5749307"/>
            <a:chOff x="1862699" y="715705"/>
            <a:chExt cx="4392488" cy="5749307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0DC0BA8-2C5B-43C8-A990-8CCD1DEA3349}"/>
                </a:ext>
              </a:extLst>
            </p:cNvPr>
            <p:cNvGrpSpPr/>
            <p:nvPr/>
          </p:nvGrpSpPr>
          <p:grpSpPr>
            <a:xfrm>
              <a:off x="1862699" y="715705"/>
              <a:ext cx="4392488" cy="5564641"/>
              <a:chOff x="1862699" y="762320"/>
              <a:chExt cx="4392488" cy="5564641"/>
            </a:xfrm>
          </p:grpSpPr>
          <p:pic>
            <p:nvPicPr>
              <p:cNvPr id="5" name="Picture 5" descr="_images/while-flow-chart.png">
                <a:extLst>
                  <a:ext uri="{FF2B5EF4-FFF2-40B4-BE49-F238E27FC236}">
                    <a16:creationId xmlns:a16="http://schemas.microsoft.com/office/drawing/2014/main" id="{D65F54A6-30F8-4EC7-9D37-D5E0863C87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3014"/>
              <a:stretch/>
            </p:blipFill>
            <p:spPr bwMode="auto">
              <a:xfrm>
                <a:off x="1862699" y="762320"/>
                <a:ext cx="4392488" cy="55646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47634A7C-AAD1-47BA-BF47-915DB4874C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99188" y="4291355"/>
                <a:ext cx="12008" cy="1804325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7E61E38C-E3AC-4335-B540-3F1FD24410E7}"/>
                  </a:ext>
                </a:extLst>
              </p:cNvPr>
              <p:cNvCxnSpPr/>
              <p:nvPr/>
            </p:nvCxnSpPr>
            <p:spPr>
              <a:xfrm flipH="1">
                <a:off x="2058755" y="934394"/>
                <a:ext cx="2007223" cy="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58C25BAB-AB70-4229-B8A2-D0271598BEC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58755" y="3968189"/>
                <a:ext cx="1305144" cy="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B24084C-BE41-4D19-A7ED-44DE29E5407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058755" y="929429"/>
                <a:ext cx="1" cy="3038760"/>
              </a:xfrm>
              <a:prstGeom prst="line">
                <a:avLst/>
              </a:prstGeom>
              <a:ln w="762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C09D528-0DCF-411D-AEB7-6D8C29571648}"/>
                </a:ext>
              </a:extLst>
            </p:cNvPr>
            <p:cNvSpPr txBox="1"/>
            <p:nvPr/>
          </p:nvSpPr>
          <p:spPr>
            <a:xfrm>
              <a:off x="3385719" y="6095680"/>
              <a:ext cx="1458162" cy="36933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E" b="1" dirty="0"/>
                <a:t>Continue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14CB9C3-07A6-42E4-88CC-4E82E93EE92F}"/>
                </a:ext>
              </a:extLst>
            </p:cNvPr>
            <p:cNvSpPr txBox="1"/>
            <p:nvPr/>
          </p:nvSpPr>
          <p:spPr>
            <a:xfrm>
              <a:off x="3315671" y="3589290"/>
              <a:ext cx="1486544" cy="58477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1600" b="1" dirty="0"/>
                <a:t>Execute these lines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110A889-3A6E-43E1-AE2E-04F7C97EE653}"/>
              </a:ext>
            </a:extLst>
          </p:cNvPr>
          <p:cNvGrpSpPr/>
          <p:nvPr/>
        </p:nvGrpSpPr>
        <p:grpSpPr>
          <a:xfrm>
            <a:off x="4572000" y="675243"/>
            <a:ext cx="4582048" cy="369332"/>
            <a:chOff x="4572000" y="675243"/>
            <a:chExt cx="4582048" cy="36933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FD40829-DD88-4C71-8A66-44CEB3F68B5C}"/>
                </a:ext>
              </a:extLst>
            </p:cNvPr>
            <p:cNvSpPr txBox="1"/>
            <p:nvPr/>
          </p:nvSpPr>
          <p:spPr>
            <a:xfrm>
              <a:off x="6057704" y="675243"/>
              <a:ext cx="309634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b="1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Flow Chart starts here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FC18C96-E4A2-4EC7-87DF-A8E3812C04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2000" y="960076"/>
              <a:ext cx="1296144" cy="840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4651434"/>
      </p:ext>
    </p:extLst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CD6B1FBE-4314-4787-B079-6B99703821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83568" y="199287"/>
            <a:ext cx="8229600" cy="1143000"/>
          </a:xfrm>
        </p:spPr>
        <p:txBody>
          <a:bodyPr/>
          <a:lstStyle/>
          <a:p>
            <a:r>
              <a:rPr lang="en-IE" dirty="0"/>
              <a:t>Multiple </a:t>
            </a:r>
            <a:r>
              <a:rPr lang="en-IE" b="1" dirty="0"/>
              <a:t>if</a:t>
            </a:r>
            <a:r>
              <a:rPr lang="en-IE" dirty="0"/>
              <a:t> statements</a:t>
            </a:r>
            <a:endParaRPr lang="en-US" dirty="0"/>
          </a:p>
        </p:txBody>
      </p:sp>
      <p:pic>
        <p:nvPicPr>
          <p:cNvPr id="7" name="Picture 6" descr="A picture containing screenshot&#10;&#10;Description generated with very high confidence">
            <a:extLst>
              <a:ext uri="{FF2B5EF4-FFF2-40B4-BE49-F238E27FC236}">
                <a16:creationId xmlns:a16="http://schemas.microsoft.com/office/drawing/2014/main" id="{6AD64BE4-B70F-40FE-BE12-7D6986BA29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342287"/>
            <a:ext cx="8229600" cy="417342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A2665A1-2E7C-4814-9B2F-F57DE9BAE86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6313115" y="1334813"/>
            <a:ext cx="2219325" cy="1296987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E" sz="2800" b="1" dirty="0"/>
              <a:t>Can you predict what the output will be ?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A83C36-9397-4377-AC4B-87AC84CEBA16}"/>
              </a:ext>
            </a:extLst>
          </p:cNvPr>
          <p:cNvSpPr txBox="1"/>
          <p:nvPr/>
        </p:nvSpPr>
        <p:spPr>
          <a:xfrm>
            <a:off x="127594" y="6258603"/>
            <a:ext cx="88888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 1.22 students should be able to read, write, test, and modify computer programs</a:t>
            </a:r>
          </a:p>
        </p:txBody>
      </p:sp>
    </p:spTree>
    <p:extLst>
      <p:ext uri="{BB962C8B-B14F-4D97-AF65-F5344CB8AC3E}">
        <p14:creationId xmlns:p14="http://schemas.microsoft.com/office/powerpoint/2010/main" val="3557445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CD6B1FBE-4314-4787-B079-6B99703821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54640" y="332656"/>
            <a:ext cx="8229600" cy="1143000"/>
          </a:xfrm>
        </p:spPr>
        <p:txBody>
          <a:bodyPr/>
          <a:lstStyle/>
          <a:p>
            <a:r>
              <a:rPr lang="en-IE" dirty="0"/>
              <a:t>output from Multiple </a:t>
            </a:r>
            <a:r>
              <a:rPr lang="en-IE" b="1" dirty="0"/>
              <a:t>if</a:t>
            </a:r>
            <a:r>
              <a:rPr lang="en-IE" dirty="0"/>
              <a:t> program</a:t>
            </a:r>
            <a:endParaRPr lang="en-US" dirty="0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CA2665A1-2E7C-4814-9B2F-F57DE9BAE86F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2347574" y="4077072"/>
            <a:ext cx="6588125" cy="151130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E" sz="3600" dirty="0"/>
              <a:t>All three </a:t>
            </a:r>
            <a:r>
              <a:rPr lang="en-IE" sz="3600" b="1" dirty="0"/>
              <a:t>if</a:t>
            </a:r>
            <a:r>
              <a:rPr lang="en-IE" sz="3600" dirty="0"/>
              <a:t> statements were true so all three commands are executed.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5030FF55-315B-4EF9-97FC-002B949340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11" y="1628800"/>
            <a:ext cx="8760977" cy="244827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1A4A2EE-E295-4A85-8421-8F5FE1F155D2}"/>
              </a:ext>
            </a:extLst>
          </p:cNvPr>
          <p:cNvSpPr txBox="1"/>
          <p:nvPr/>
        </p:nvSpPr>
        <p:spPr>
          <a:xfrm>
            <a:off x="754640" y="6237312"/>
            <a:ext cx="72750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 1.4 students should be able to solve problems using skills of logic</a:t>
            </a:r>
          </a:p>
        </p:txBody>
      </p:sp>
    </p:spTree>
    <p:extLst>
      <p:ext uri="{BB962C8B-B14F-4D97-AF65-F5344CB8AC3E}">
        <p14:creationId xmlns:p14="http://schemas.microsoft.com/office/powerpoint/2010/main" val="1682295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CD6B1FBE-4314-4787-B079-6B99703821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79512" y="12001"/>
            <a:ext cx="8229600" cy="1021634"/>
          </a:xfrm>
        </p:spPr>
        <p:txBody>
          <a:bodyPr/>
          <a:lstStyle/>
          <a:p>
            <a:r>
              <a:rPr lang="en-IE" dirty="0"/>
              <a:t>Testing 2 conditions in 1 </a:t>
            </a:r>
            <a:r>
              <a:rPr lang="en-IE" b="1" dirty="0"/>
              <a:t>if</a:t>
            </a:r>
            <a:endParaRPr lang="en-US" b="1" dirty="0"/>
          </a:p>
        </p:txBody>
      </p:sp>
      <p:pic>
        <p:nvPicPr>
          <p:cNvPr id="3" name="Picture 2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BB84AD3F-1698-4187-8E14-1CDA8BF93A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4" y="908720"/>
            <a:ext cx="9100032" cy="56932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6FB97B-2563-461A-BAAF-14D16649EB34}"/>
              </a:ext>
            </a:extLst>
          </p:cNvPr>
          <p:cNvSpPr txBox="1"/>
          <p:nvPr/>
        </p:nvSpPr>
        <p:spPr>
          <a:xfrm>
            <a:off x="5198088" y="1033635"/>
            <a:ext cx="3923928" cy="24929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IE" sz="2000" dirty="0"/>
              <a:t>Read this code.</a:t>
            </a:r>
          </a:p>
          <a:p>
            <a:pPr algn="ctr"/>
            <a:r>
              <a:rPr lang="en-IE" sz="2400" dirty="0"/>
              <a:t>Especially the </a:t>
            </a:r>
            <a:r>
              <a:rPr lang="en-IE" sz="2400" b="1" dirty="0"/>
              <a:t>and</a:t>
            </a:r>
            <a:r>
              <a:rPr lang="en-IE" sz="2400" dirty="0"/>
              <a:t> operator.</a:t>
            </a:r>
            <a:endParaRPr lang="en-US" sz="2400" dirty="0"/>
          </a:p>
          <a:p>
            <a:pPr algn="ctr"/>
            <a:r>
              <a:rPr lang="en-US" sz="2000" dirty="0"/>
              <a:t>Predict what happens.</a:t>
            </a:r>
          </a:p>
          <a:p>
            <a:pPr algn="ctr"/>
            <a:endParaRPr lang="en-US" sz="2000" dirty="0"/>
          </a:p>
          <a:p>
            <a:pPr algn="ctr"/>
            <a:r>
              <a:rPr lang="en-US" sz="2400" dirty="0"/>
              <a:t>3 temperatures will slip through?</a:t>
            </a:r>
          </a:p>
          <a:p>
            <a:pPr algn="ctr"/>
            <a:r>
              <a:rPr lang="en-US" sz="2400" dirty="0"/>
              <a:t>One of them is 40.</a:t>
            </a:r>
          </a:p>
        </p:txBody>
      </p:sp>
    </p:spTree>
    <p:extLst>
      <p:ext uri="{BB962C8B-B14F-4D97-AF65-F5344CB8AC3E}">
        <p14:creationId xmlns:p14="http://schemas.microsoft.com/office/powerpoint/2010/main" val="2002099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B4F4C10-3B57-46BD-8E33-35E72C9098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3062512"/>
              </p:ext>
            </p:extLst>
          </p:nvPr>
        </p:nvGraphicFramePr>
        <p:xfrm>
          <a:off x="755576" y="1124744"/>
          <a:ext cx="7704856" cy="527304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997555">
                  <a:extLst>
                    <a:ext uri="{9D8B030D-6E8A-4147-A177-3AD203B41FA5}">
                      <a16:colId xmlns:a16="http://schemas.microsoft.com/office/drawing/2014/main" val="1064276653"/>
                    </a:ext>
                  </a:extLst>
                </a:gridCol>
                <a:gridCol w="1916023">
                  <a:extLst>
                    <a:ext uri="{9D8B030D-6E8A-4147-A177-3AD203B41FA5}">
                      <a16:colId xmlns:a16="http://schemas.microsoft.com/office/drawing/2014/main" val="806643344"/>
                    </a:ext>
                  </a:extLst>
                </a:gridCol>
                <a:gridCol w="2079088">
                  <a:extLst>
                    <a:ext uri="{9D8B030D-6E8A-4147-A177-3AD203B41FA5}">
                      <a16:colId xmlns:a16="http://schemas.microsoft.com/office/drawing/2014/main" val="1671600801"/>
                    </a:ext>
                  </a:extLst>
                </a:gridCol>
                <a:gridCol w="1712190">
                  <a:extLst>
                    <a:ext uri="{9D8B030D-6E8A-4147-A177-3AD203B41FA5}">
                      <a16:colId xmlns:a16="http://schemas.microsoft.com/office/drawing/2014/main" val="1070243092"/>
                    </a:ext>
                  </a:extLst>
                </a:gridCol>
              </a:tblGrid>
              <a:tr h="570514">
                <a:tc>
                  <a:txBody>
                    <a:bodyPr/>
                    <a:lstStyle/>
                    <a:p>
                      <a:pPr algn="ctr"/>
                      <a:r>
                        <a:rPr lang="en-IE" sz="2400" b="1" dirty="0"/>
                        <a:t>Relational 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0" dirty="0"/>
                        <a:t>True / 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0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2400" b="0" dirty="0"/>
                        <a:t>Answer</a:t>
                      </a:r>
                    </a:p>
                    <a:p>
                      <a:pPr algn="ctr"/>
                      <a:r>
                        <a:rPr lang="en-IE" sz="2400" b="0" dirty="0"/>
                        <a:t>(True/False)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2286440"/>
                  </a:ext>
                </a:extLst>
              </a:tr>
              <a:tr h="5661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charset="0"/>
                        </a:rPr>
                        <a:t>==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 + 1 == 2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equals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978410136"/>
                  </a:ext>
                </a:extLst>
              </a:tr>
              <a:tr h="5661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charset="0"/>
                        </a:rPr>
                        <a:t>!=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3.2 != 2.5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does not equal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884777148"/>
                  </a:ext>
                </a:extLst>
              </a:tr>
              <a:tr h="5661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charset="0"/>
                        </a:rPr>
                        <a:t>&lt;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 &lt; 5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less than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622324587"/>
                  </a:ext>
                </a:extLst>
              </a:tr>
              <a:tr h="5661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charset="0"/>
                        </a:rPr>
                        <a:t>&gt;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 &gt; 5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greater than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335896944"/>
                  </a:ext>
                </a:extLst>
              </a:tr>
              <a:tr h="5661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charset="0"/>
                        </a:rPr>
                        <a:t>&lt;=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24 &lt;= 13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less than or equal to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False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46750265"/>
                  </a:ext>
                </a:extLst>
              </a:tr>
              <a:tr h="5661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charset="0"/>
                        </a:rPr>
                        <a:t>&gt;=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5.0 &gt;= 5.0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greater than or equal to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True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45815695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8E08940-75F2-4838-852A-D2D894D3CA63}"/>
              </a:ext>
            </a:extLst>
          </p:cNvPr>
          <p:cNvSpPr txBox="1"/>
          <p:nvPr/>
        </p:nvSpPr>
        <p:spPr>
          <a:xfrm>
            <a:off x="539552" y="155196"/>
            <a:ext cx="82089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E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Fill in the </a:t>
            </a:r>
            <a:r>
              <a:rPr lang="en-IE" sz="2400" b="1" dirty="0">
                <a:solidFill>
                  <a:srgbClr val="7030A0"/>
                </a:solidFill>
                <a:latin typeface="Calibri"/>
              </a:rPr>
              <a:t>Operation and Answer</a:t>
            </a:r>
            <a:r>
              <a:rPr kumimoji="0" lang="en-IE" sz="24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columns for each comparison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sz="2400" b="1" dirty="0">
                <a:solidFill>
                  <a:srgbClr val="7030A0"/>
                </a:solidFill>
                <a:latin typeface="Calibri"/>
              </a:rPr>
              <a:t>- Describe the operation in your own words-</a:t>
            </a:r>
            <a:endParaRPr kumimoji="0" lang="en-IE" sz="2400" b="1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8C2B18F-EFC5-4D7B-8130-6E3FCCDFE85C}"/>
              </a:ext>
            </a:extLst>
          </p:cNvPr>
          <p:cNvSpPr/>
          <p:nvPr/>
        </p:nvSpPr>
        <p:spPr>
          <a:xfrm>
            <a:off x="4716016" y="2003308"/>
            <a:ext cx="1963857" cy="5995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60850E5-1BA2-495B-BC81-EAF3F29CFCEB}"/>
              </a:ext>
            </a:extLst>
          </p:cNvPr>
          <p:cNvSpPr/>
          <p:nvPr/>
        </p:nvSpPr>
        <p:spPr>
          <a:xfrm>
            <a:off x="4716016" y="2758944"/>
            <a:ext cx="1963857" cy="50309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B6BE86B-1EFA-420C-9E35-2210F69B9AE8}"/>
              </a:ext>
            </a:extLst>
          </p:cNvPr>
          <p:cNvSpPr/>
          <p:nvPr/>
        </p:nvSpPr>
        <p:spPr>
          <a:xfrm>
            <a:off x="4716016" y="3456051"/>
            <a:ext cx="1963857" cy="50309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AFAA2A-92FE-4AB4-9F38-E73825371CBF}"/>
              </a:ext>
            </a:extLst>
          </p:cNvPr>
          <p:cNvSpPr/>
          <p:nvPr/>
        </p:nvSpPr>
        <p:spPr>
          <a:xfrm>
            <a:off x="4716016" y="4130844"/>
            <a:ext cx="1963857" cy="50309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083A877-6501-4638-AA18-E800340BFF98}"/>
              </a:ext>
            </a:extLst>
          </p:cNvPr>
          <p:cNvSpPr/>
          <p:nvPr/>
        </p:nvSpPr>
        <p:spPr>
          <a:xfrm>
            <a:off x="4716016" y="4794460"/>
            <a:ext cx="1963857" cy="72277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EE46639-D9D0-4B2D-93FE-95385DDE680B}"/>
              </a:ext>
            </a:extLst>
          </p:cNvPr>
          <p:cNvSpPr/>
          <p:nvPr/>
        </p:nvSpPr>
        <p:spPr>
          <a:xfrm>
            <a:off x="4725144" y="5633877"/>
            <a:ext cx="1963857" cy="72277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B3384A76-49FC-480E-BE77-7C74C825A9A3}"/>
              </a:ext>
            </a:extLst>
          </p:cNvPr>
          <p:cNvSpPr/>
          <p:nvPr/>
        </p:nvSpPr>
        <p:spPr>
          <a:xfrm>
            <a:off x="6876257" y="2014261"/>
            <a:ext cx="1512168" cy="5995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DE40F296-A1A1-4D71-9F30-DE71BC6EEDB9}"/>
              </a:ext>
            </a:extLst>
          </p:cNvPr>
          <p:cNvSpPr/>
          <p:nvPr/>
        </p:nvSpPr>
        <p:spPr>
          <a:xfrm>
            <a:off x="6876257" y="2769897"/>
            <a:ext cx="1512168" cy="50309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E0FB4DB-D346-4680-845D-A295ED878E87}"/>
              </a:ext>
            </a:extLst>
          </p:cNvPr>
          <p:cNvSpPr/>
          <p:nvPr/>
        </p:nvSpPr>
        <p:spPr>
          <a:xfrm>
            <a:off x="6876257" y="3467004"/>
            <a:ext cx="1512168" cy="50309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ADE83D3-1EF7-4DF9-9700-4A948085942B}"/>
              </a:ext>
            </a:extLst>
          </p:cNvPr>
          <p:cNvSpPr/>
          <p:nvPr/>
        </p:nvSpPr>
        <p:spPr>
          <a:xfrm>
            <a:off x="6876257" y="4141797"/>
            <a:ext cx="1512168" cy="50309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F8C508F-7737-4F6E-8F0A-EFD36E8805F7}"/>
              </a:ext>
            </a:extLst>
          </p:cNvPr>
          <p:cNvSpPr/>
          <p:nvPr/>
        </p:nvSpPr>
        <p:spPr>
          <a:xfrm>
            <a:off x="6876257" y="4805413"/>
            <a:ext cx="1512168" cy="72277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1ED17E9-2F12-4579-AAEA-79DCACD7E5A4}"/>
              </a:ext>
            </a:extLst>
          </p:cNvPr>
          <p:cNvSpPr/>
          <p:nvPr/>
        </p:nvSpPr>
        <p:spPr>
          <a:xfrm>
            <a:off x="6885385" y="5644830"/>
            <a:ext cx="1512168" cy="72277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8796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6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  <p:bldP spid="11" grpId="0" animBg="1"/>
      <p:bldP spid="12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CD6B1FBE-4314-4787-B079-6B99703821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7504" y="266630"/>
            <a:ext cx="8229600" cy="1143000"/>
          </a:xfrm>
        </p:spPr>
        <p:txBody>
          <a:bodyPr/>
          <a:lstStyle/>
          <a:p>
            <a:r>
              <a:rPr lang="en-IE" dirty="0"/>
              <a:t>Comparing User Inputs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18A5AB9-8A5A-4567-BE86-8125112530F4}"/>
              </a:ext>
            </a:extLst>
          </p:cNvPr>
          <p:cNvGrpSpPr/>
          <p:nvPr/>
        </p:nvGrpSpPr>
        <p:grpSpPr>
          <a:xfrm>
            <a:off x="539552" y="383985"/>
            <a:ext cx="8559734" cy="4688186"/>
            <a:chOff x="539552" y="383985"/>
            <a:chExt cx="8559734" cy="4688186"/>
          </a:xfrm>
        </p:grpSpPr>
        <p:pic>
          <p:nvPicPr>
            <p:cNvPr id="12" name="Picture 11" descr="A close up of a logo&#10;&#10;Description generated with very high confidence">
              <a:extLst>
                <a:ext uri="{FF2B5EF4-FFF2-40B4-BE49-F238E27FC236}">
                  <a16:creationId xmlns:a16="http://schemas.microsoft.com/office/drawing/2014/main" id="{0E9D8EE9-4A97-4D34-A0C8-4F27F57D7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1044391">
              <a:off x="7574922" y="383985"/>
              <a:ext cx="1524364" cy="142643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1AEA225-B5BC-4185-9DF5-64E3D2A9AD15}"/>
                </a:ext>
              </a:extLst>
            </p:cNvPr>
            <p:cNvSpPr txBox="1"/>
            <p:nvPr/>
          </p:nvSpPr>
          <p:spPr>
            <a:xfrm>
              <a:off x="539552" y="1409630"/>
              <a:ext cx="7709710" cy="36625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E" sz="3200" b="1" u="sng" dirty="0"/>
                <a:t>Write a program that compares two numbers entered by the user.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IE" sz="2800" dirty="0"/>
                <a:t>If the numbers are different, tell the user which number is greater.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IE" sz="2800" dirty="0"/>
                <a:t>If the numbers are equal, tell the user the numbers are equal.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IE" sz="2800" dirty="0"/>
                <a:t>Before you begin, some reminders…….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endParaRPr lang="en-US" sz="2800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5AD20AD-BA45-4EAE-864F-2D39A250F898}"/>
              </a:ext>
            </a:extLst>
          </p:cNvPr>
          <p:cNvSpPr txBox="1"/>
          <p:nvPr/>
        </p:nvSpPr>
        <p:spPr>
          <a:xfrm>
            <a:off x="124011" y="5961475"/>
            <a:ext cx="90199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 1.1 students should be able to describe a systematic process for solving problems and making decisions</a:t>
            </a:r>
          </a:p>
        </p:txBody>
      </p:sp>
    </p:spTree>
    <p:extLst>
      <p:ext uri="{BB962C8B-B14F-4D97-AF65-F5344CB8AC3E}">
        <p14:creationId xmlns:p14="http://schemas.microsoft.com/office/powerpoint/2010/main" val="2771907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CD6B1FBE-4314-4787-B079-6B99703821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7504" y="266630"/>
            <a:ext cx="8229600" cy="1143000"/>
          </a:xfrm>
        </p:spPr>
        <p:txBody>
          <a:bodyPr/>
          <a:lstStyle/>
          <a:p>
            <a:r>
              <a:rPr lang="en-IE" dirty="0"/>
              <a:t>Reminders on User Inputs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18A5AB9-8A5A-4567-BE86-8125112530F4}"/>
              </a:ext>
            </a:extLst>
          </p:cNvPr>
          <p:cNvGrpSpPr/>
          <p:nvPr/>
        </p:nvGrpSpPr>
        <p:grpSpPr>
          <a:xfrm>
            <a:off x="539552" y="383985"/>
            <a:ext cx="8559734" cy="3272414"/>
            <a:chOff x="539552" y="383985"/>
            <a:chExt cx="8559734" cy="3272414"/>
          </a:xfrm>
        </p:grpSpPr>
        <p:pic>
          <p:nvPicPr>
            <p:cNvPr id="12" name="Picture 11" descr="A close up of a logo&#10;&#10;Description generated with very high confidence">
              <a:extLst>
                <a:ext uri="{FF2B5EF4-FFF2-40B4-BE49-F238E27FC236}">
                  <a16:creationId xmlns:a16="http://schemas.microsoft.com/office/drawing/2014/main" id="{0E9D8EE9-4A97-4D34-A0C8-4F27F57D7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4"/>
                </a:ext>
              </a:extLst>
            </a:blip>
            <a:stretch>
              <a:fillRect/>
            </a:stretch>
          </p:blipFill>
          <p:spPr>
            <a:xfrm rot="1044391">
              <a:off x="7574922" y="383985"/>
              <a:ext cx="1524364" cy="142643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1AEA225-B5BC-4185-9DF5-64E3D2A9AD15}"/>
                </a:ext>
              </a:extLst>
            </p:cNvPr>
            <p:cNvSpPr txBox="1"/>
            <p:nvPr/>
          </p:nvSpPr>
          <p:spPr>
            <a:xfrm>
              <a:off x="539552" y="1409630"/>
              <a:ext cx="7709710" cy="2246769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IE" sz="2800" dirty="0"/>
                <a:t>Python takes all input as STRINGS. 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IE" sz="2800" dirty="0"/>
                <a:t>You must CAST the input to the DATA TYPE you want.</a:t>
              </a:r>
            </a:p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IE" sz="2800" dirty="0"/>
                <a:t>The example below casts the user input from a string to an integer.</a:t>
              </a:r>
              <a:endParaRPr lang="en-US" sz="2800" dirty="0"/>
            </a:p>
          </p:txBody>
        </p:sp>
      </p:grpSp>
      <p:pic>
        <p:nvPicPr>
          <p:cNvPr id="14" name="Picture 1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8CFBD7CF-42E4-48D4-A7FD-E8902589C85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81" b="79775"/>
          <a:stretch/>
        </p:blipFill>
        <p:spPr>
          <a:xfrm>
            <a:off x="586956" y="3921681"/>
            <a:ext cx="7993807" cy="224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670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CD6B1FBE-4314-4787-B079-6B997038213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14400" y="-15875"/>
            <a:ext cx="8229600" cy="1143000"/>
          </a:xfrm>
        </p:spPr>
        <p:txBody>
          <a:bodyPr>
            <a:normAutofit/>
          </a:bodyPr>
          <a:lstStyle/>
          <a:p>
            <a:r>
              <a:rPr lang="en-IE" dirty="0"/>
              <a:t>Comparing User Inputs .. </a:t>
            </a:r>
            <a:r>
              <a:rPr lang="en-IE" sz="3100" dirty="0"/>
              <a:t>sample code</a:t>
            </a:r>
            <a:endParaRPr lang="en-US" sz="3100" dirty="0"/>
          </a:p>
        </p:txBody>
      </p:sp>
      <p:pic>
        <p:nvPicPr>
          <p:cNvPr id="9" name="Picture 8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DBAF1465-147E-437B-954A-2CA109A798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424" y="980728"/>
            <a:ext cx="8351184" cy="5544616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85CCDAD-2DA6-492D-8792-F468C0667725}"/>
              </a:ext>
            </a:extLst>
          </p:cNvPr>
          <p:cNvSpPr/>
          <p:nvPr/>
        </p:nvSpPr>
        <p:spPr>
          <a:xfrm>
            <a:off x="611560" y="5733256"/>
            <a:ext cx="7848872" cy="59957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dirty="0">
                <a:solidFill>
                  <a:schemeClr val="tx1"/>
                </a:solidFill>
                <a:latin typeface="Calibri"/>
              </a:rPr>
              <a:t>What code might be behind me?</a:t>
            </a:r>
            <a:endParaRPr kumimoji="0" lang="en-IE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88241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54340C9-C30F-4239-8613-A35637B79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 rot="20430709">
            <a:off x="7304597" y="949281"/>
            <a:ext cx="1657412" cy="69407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US" dirty="0"/>
              <a:t>Create Your Own … Guessing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460415" y="1633984"/>
            <a:ext cx="8229600" cy="1651000"/>
          </a:xfrm>
          <a:ln>
            <a:solidFill>
              <a:schemeClr val="accent1"/>
            </a:solidFill>
          </a:ln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800" dirty="0"/>
              <a:t>Your task is to write a program that asks the user to guess a number between 1 and 5 that your program randomly generates. </a:t>
            </a:r>
          </a:p>
          <a:p>
            <a:pPr marL="0" indent="0" algn="ctr">
              <a:buNone/>
            </a:pPr>
            <a:r>
              <a:rPr lang="en-US" sz="2800" dirty="0"/>
              <a:t>You must write the algorithm first and then code it in Python.</a:t>
            </a:r>
          </a:p>
          <a:p>
            <a:endParaRPr lang="en-US" sz="2800" dirty="0"/>
          </a:p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6AD6991-F5DD-44AE-ABDB-B4F48E933AC7}"/>
              </a:ext>
            </a:extLst>
          </p:cNvPr>
          <p:cNvSpPr txBox="1">
            <a:spLocks/>
          </p:cNvSpPr>
          <p:nvPr/>
        </p:nvSpPr>
        <p:spPr>
          <a:xfrm>
            <a:off x="460415" y="3284984"/>
            <a:ext cx="8229600" cy="2808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400" b="1" u="sng" dirty="0">
                <a:solidFill>
                  <a:srgbClr val="FF0000"/>
                </a:solidFill>
              </a:rPr>
              <a:t>User Interface</a:t>
            </a:r>
          </a:p>
          <a:p>
            <a:r>
              <a:rPr lang="en-US" sz="2400" dirty="0"/>
              <a:t>You must tell the user if they guessed correctly and congratulate them.</a:t>
            </a:r>
          </a:p>
          <a:p>
            <a:r>
              <a:rPr lang="en-US" sz="2400" dirty="0"/>
              <a:t>If they guessed incorrectly, you must tell them if their guess was too high or too low. And let them have 1 more go. If they are wrong, then say Hard Luck!!!!</a:t>
            </a:r>
          </a:p>
          <a:p>
            <a:endParaRPr lang="en-US" sz="2800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7A1E99-FD35-41AB-9DE9-6F037D630C78}"/>
              </a:ext>
            </a:extLst>
          </p:cNvPr>
          <p:cNvSpPr txBox="1"/>
          <p:nvPr/>
        </p:nvSpPr>
        <p:spPr>
          <a:xfrm>
            <a:off x="0" y="6021288"/>
            <a:ext cx="9030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 1.16 students should be able to compare two different user interfaces and identify different design decisions that shape the user experience</a:t>
            </a:r>
          </a:p>
        </p:txBody>
      </p:sp>
    </p:spTree>
    <p:extLst>
      <p:ext uri="{BB962C8B-B14F-4D97-AF65-F5344CB8AC3E}">
        <p14:creationId xmlns:p14="http://schemas.microsoft.com/office/powerpoint/2010/main" val="3658485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F316DEF-927D-4E67-8287-C63227645D9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73224" y="0"/>
            <a:ext cx="8229600" cy="1143000"/>
          </a:xfrm>
        </p:spPr>
        <p:txBody>
          <a:bodyPr/>
          <a:lstStyle/>
          <a:p>
            <a:r>
              <a:rPr lang="en-IE" dirty="0"/>
              <a:t>pseudo code .. for guessing game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41AF6B-D7BB-46AF-A706-41F0E76E804C}"/>
              </a:ext>
            </a:extLst>
          </p:cNvPr>
          <p:cNvSpPr txBox="1"/>
          <p:nvPr/>
        </p:nvSpPr>
        <p:spPr>
          <a:xfrm>
            <a:off x="837928" y="908720"/>
            <a:ext cx="7632848" cy="5306068"/>
          </a:xfrm>
          <a:prstGeom prst="rect">
            <a:avLst/>
          </a:prstGeom>
          <a:solidFill>
            <a:schemeClr val="bg1"/>
          </a:solidFill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lvl="0">
              <a:spcBef>
                <a:spcPct val="20000"/>
              </a:spcBef>
            </a:pPr>
            <a:r>
              <a:rPr lang="en-IE" sz="2200" dirty="0">
                <a:solidFill>
                  <a:prstClr val="black"/>
                </a:solidFill>
              </a:rPr>
              <a:t>generate a random number between 1 and 5;</a:t>
            </a:r>
          </a:p>
          <a:p>
            <a:pPr>
              <a:spcBef>
                <a:spcPct val="20000"/>
              </a:spcBef>
            </a:pPr>
            <a:r>
              <a:rPr lang="en-IE" sz="2200" dirty="0" err="1">
                <a:solidFill>
                  <a:prstClr val="black"/>
                </a:solidFill>
              </a:rPr>
              <a:t>userNumber</a:t>
            </a:r>
            <a:r>
              <a:rPr lang="en-IE" sz="2200" dirty="0">
                <a:solidFill>
                  <a:prstClr val="black"/>
                </a:solidFill>
              </a:rPr>
              <a:t> = user’s first guess;</a:t>
            </a:r>
          </a:p>
          <a:p>
            <a:pPr lvl="0">
              <a:spcBef>
                <a:spcPct val="20000"/>
              </a:spcBef>
            </a:pPr>
            <a:r>
              <a:rPr lang="en-IE" sz="2200" b="1" u="sng" dirty="0">
                <a:solidFill>
                  <a:prstClr val="black"/>
                </a:solidFill>
              </a:rPr>
              <a:t>if</a:t>
            </a:r>
            <a:r>
              <a:rPr lang="en-IE" sz="2200" dirty="0">
                <a:solidFill>
                  <a:prstClr val="black"/>
                </a:solidFill>
              </a:rPr>
              <a:t> </a:t>
            </a:r>
            <a:r>
              <a:rPr lang="en-IE" sz="2200" dirty="0" err="1">
                <a:solidFill>
                  <a:prstClr val="black"/>
                </a:solidFill>
              </a:rPr>
              <a:t>userNumber</a:t>
            </a:r>
            <a:r>
              <a:rPr lang="en-IE" sz="2200" dirty="0">
                <a:solidFill>
                  <a:prstClr val="black"/>
                </a:solidFill>
              </a:rPr>
              <a:t> == </a:t>
            </a:r>
            <a:r>
              <a:rPr lang="en-IE" sz="2200" dirty="0" err="1">
                <a:solidFill>
                  <a:prstClr val="black"/>
                </a:solidFill>
              </a:rPr>
              <a:t>gameNumber</a:t>
            </a:r>
            <a:r>
              <a:rPr lang="en-IE" sz="2200" dirty="0">
                <a:solidFill>
                  <a:srgbClr val="002060"/>
                </a:solidFill>
              </a:rPr>
              <a:t> </a:t>
            </a:r>
            <a:r>
              <a:rPr lang="en-IE" sz="2200" b="1" dirty="0">
                <a:solidFill>
                  <a:srgbClr val="002060"/>
                </a:solidFill>
              </a:rPr>
              <a:t>{</a:t>
            </a:r>
            <a:r>
              <a:rPr lang="en-IE" sz="2200" dirty="0">
                <a:solidFill>
                  <a:srgbClr val="002060"/>
                </a:solidFill>
              </a:rPr>
              <a:t> </a:t>
            </a:r>
            <a:r>
              <a:rPr lang="en-IE" sz="2200" dirty="0">
                <a:solidFill>
                  <a:prstClr val="black"/>
                </a:solidFill>
              </a:rPr>
              <a:t>print congratulations;</a:t>
            </a:r>
            <a:r>
              <a:rPr lang="en-IE" sz="2200" b="1" dirty="0">
                <a:solidFill>
                  <a:srgbClr val="002060"/>
                </a:solidFill>
              </a:rPr>
              <a:t> }</a:t>
            </a:r>
          </a:p>
          <a:p>
            <a:pPr lvl="0">
              <a:spcBef>
                <a:spcPct val="20000"/>
              </a:spcBef>
            </a:pPr>
            <a:r>
              <a:rPr lang="en-IE" sz="2200" b="1" u="sng" dirty="0">
                <a:solidFill>
                  <a:prstClr val="black"/>
                </a:solidFill>
              </a:rPr>
              <a:t>if</a:t>
            </a:r>
            <a:r>
              <a:rPr lang="en-IE" sz="2200" dirty="0">
                <a:solidFill>
                  <a:prstClr val="black"/>
                </a:solidFill>
              </a:rPr>
              <a:t> </a:t>
            </a:r>
            <a:r>
              <a:rPr lang="en-IE" sz="2200" dirty="0" err="1">
                <a:solidFill>
                  <a:prstClr val="black"/>
                </a:solidFill>
              </a:rPr>
              <a:t>userNumber</a:t>
            </a:r>
            <a:r>
              <a:rPr lang="en-IE" sz="2200" dirty="0">
                <a:solidFill>
                  <a:prstClr val="black"/>
                </a:solidFill>
              </a:rPr>
              <a:t> &gt; </a:t>
            </a:r>
            <a:r>
              <a:rPr lang="en-IE" sz="2200" dirty="0" err="1">
                <a:solidFill>
                  <a:prstClr val="black"/>
                </a:solidFill>
              </a:rPr>
              <a:t>gameNumber</a:t>
            </a:r>
            <a:r>
              <a:rPr lang="en-IE" sz="2200" dirty="0">
                <a:solidFill>
                  <a:prstClr val="black"/>
                </a:solidFill>
              </a:rPr>
              <a:t>  </a:t>
            </a:r>
            <a:r>
              <a:rPr lang="en-IE" sz="2200" b="1" dirty="0">
                <a:solidFill>
                  <a:srgbClr val="002060"/>
                </a:solidFill>
              </a:rPr>
              <a:t> { </a:t>
            </a:r>
            <a:r>
              <a:rPr lang="en-IE" sz="2200" dirty="0">
                <a:solidFill>
                  <a:prstClr val="black"/>
                </a:solidFill>
              </a:rPr>
              <a:t>print your guess is too high; </a:t>
            </a:r>
            <a:r>
              <a:rPr lang="en-IE" sz="2200" b="1" dirty="0">
                <a:solidFill>
                  <a:srgbClr val="002060"/>
                </a:solidFill>
              </a:rPr>
              <a:t>}</a:t>
            </a:r>
          </a:p>
          <a:p>
            <a:pPr lvl="0">
              <a:spcBef>
                <a:spcPct val="20000"/>
              </a:spcBef>
            </a:pPr>
            <a:r>
              <a:rPr lang="en-IE" sz="2200" b="1" u="sng" dirty="0">
                <a:solidFill>
                  <a:prstClr val="black"/>
                </a:solidFill>
              </a:rPr>
              <a:t>if</a:t>
            </a:r>
            <a:r>
              <a:rPr lang="en-IE" sz="2200" dirty="0">
                <a:solidFill>
                  <a:prstClr val="black"/>
                </a:solidFill>
              </a:rPr>
              <a:t> </a:t>
            </a:r>
            <a:r>
              <a:rPr lang="en-IE" sz="2200" dirty="0" err="1">
                <a:solidFill>
                  <a:prstClr val="black"/>
                </a:solidFill>
              </a:rPr>
              <a:t>userNumber</a:t>
            </a:r>
            <a:r>
              <a:rPr lang="en-IE" sz="2200" dirty="0">
                <a:solidFill>
                  <a:prstClr val="black"/>
                </a:solidFill>
              </a:rPr>
              <a:t> &lt; </a:t>
            </a:r>
            <a:r>
              <a:rPr lang="en-IE" sz="2200" dirty="0" err="1">
                <a:solidFill>
                  <a:prstClr val="black"/>
                </a:solidFill>
              </a:rPr>
              <a:t>gameNumber</a:t>
            </a:r>
            <a:r>
              <a:rPr lang="en-IE" sz="2200" dirty="0">
                <a:solidFill>
                  <a:prstClr val="black"/>
                </a:solidFill>
              </a:rPr>
              <a:t>  </a:t>
            </a:r>
            <a:r>
              <a:rPr lang="en-IE" sz="2200" b="1" dirty="0">
                <a:solidFill>
                  <a:srgbClr val="002060"/>
                </a:solidFill>
              </a:rPr>
              <a:t> { </a:t>
            </a:r>
            <a:r>
              <a:rPr lang="en-IE" sz="2200" dirty="0">
                <a:solidFill>
                  <a:prstClr val="black"/>
                </a:solidFill>
              </a:rPr>
              <a:t>print your guess is too low; </a:t>
            </a:r>
            <a:r>
              <a:rPr lang="en-IE" sz="2200" b="1" dirty="0">
                <a:solidFill>
                  <a:srgbClr val="002060"/>
                </a:solidFill>
              </a:rPr>
              <a:t>}</a:t>
            </a:r>
          </a:p>
          <a:p>
            <a:pPr lvl="0">
              <a:spcBef>
                <a:spcPct val="20000"/>
              </a:spcBef>
            </a:pPr>
            <a:endParaRPr lang="en-IE" sz="2200" b="1" dirty="0">
              <a:solidFill>
                <a:srgbClr val="002060"/>
              </a:solidFill>
            </a:endParaRPr>
          </a:p>
          <a:p>
            <a:pPr lvl="0">
              <a:spcBef>
                <a:spcPct val="20000"/>
              </a:spcBef>
            </a:pPr>
            <a:r>
              <a:rPr lang="en-IE" sz="2200" b="1" u="sng" dirty="0">
                <a:solidFill>
                  <a:prstClr val="black"/>
                </a:solidFill>
              </a:rPr>
              <a:t>if</a:t>
            </a:r>
            <a:r>
              <a:rPr lang="en-IE" sz="2200" dirty="0">
                <a:solidFill>
                  <a:prstClr val="black"/>
                </a:solidFill>
              </a:rPr>
              <a:t> </a:t>
            </a:r>
            <a:r>
              <a:rPr lang="en-IE" sz="2200" dirty="0" err="1">
                <a:solidFill>
                  <a:prstClr val="black"/>
                </a:solidFill>
              </a:rPr>
              <a:t>userNumber</a:t>
            </a:r>
            <a:r>
              <a:rPr lang="en-IE" sz="2200" dirty="0">
                <a:solidFill>
                  <a:prstClr val="black"/>
                </a:solidFill>
              </a:rPr>
              <a:t> != </a:t>
            </a:r>
            <a:r>
              <a:rPr lang="en-IE" sz="2200" dirty="0" err="1">
                <a:solidFill>
                  <a:prstClr val="black"/>
                </a:solidFill>
              </a:rPr>
              <a:t>gameNumber</a:t>
            </a:r>
            <a:r>
              <a:rPr lang="en-IE" sz="2200" dirty="0">
                <a:solidFill>
                  <a:prstClr val="black"/>
                </a:solidFill>
              </a:rPr>
              <a:t> </a:t>
            </a:r>
            <a:r>
              <a:rPr lang="en-IE" sz="2200" b="1" dirty="0">
                <a:solidFill>
                  <a:srgbClr val="FF0000"/>
                </a:solidFill>
              </a:rPr>
              <a:t>{</a:t>
            </a:r>
          </a:p>
          <a:p>
            <a:pPr lvl="0">
              <a:spcBef>
                <a:spcPct val="20000"/>
              </a:spcBef>
            </a:pPr>
            <a:r>
              <a:rPr lang="en-IE" sz="2200" dirty="0">
                <a:solidFill>
                  <a:prstClr val="black"/>
                </a:solidFill>
              </a:rPr>
              <a:t>	</a:t>
            </a:r>
            <a:r>
              <a:rPr lang="en-IE" sz="2200" dirty="0" err="1">
                <a:solidFill>
                  <a:prstClr val="black"/>
                </a:solidFill>
              </a:rPr>
              <a:t>userNumber</a:t>
            </a:r>
            <a:r>
              <a:rPr lang="en-IE" sz="2200" dirty="0">
                <a:solidFill>
                  <a:prstClr val="black"/>
                </a:solidFill>
              </a:rPr>
              <a:t> = user’s second guess;</a:t>
            </a:r>
          </a:p>
          <a:p>
            <a:pPr lvl="0">
              <a:spcBef>
                <a:spcPct val="20000"/>
              </a:spcBef>
            </a:pPr>
            <a:r>
              <a:rPr lang="en-IE" sz="2200" dirty="0">
                <a:solidFill>
                  <a:prstClr val="black"/>
                </a:solidFill>
              </a:rPr>
              <a:t>	</a:t>
            </a:r>
            <a:r>
              <a:rPr lang="en-IE" sz="2200" b="1" u="sng" dirty="0">
                <a:solidFill>
                  <a:prstClr val="black"/>
                </a:solidFill>
              </a:rPr>
              <a:t>if</a:t>
            </a:r>
            <a:r>
              <a:rPr lang="en-IE" sz="2200" dirty="0">
                <a:solidFill>
                  <a:prstClr val="black"/>
                </a:solidFill>
              </a:rPr>
              <a:t> </a:t>
            </a:r>
            <a:r>
              <a:rPr lang="en-IE" sz="2200" dirty="0" err="1">
                <a:solidFill>
                  <a:prstClr val="black"/>
                </a:solidFill>
              </a:rPr>
              <a:t>userNumber</a:t>
            </a:r>
            <a:r>
              <a:rPr lang="en-IE" sz="2200" dirty="0">
                <a:solidFill>
                  <a:prstClr val="black"/>
                </a:solidFill>
              </a:rPr>
              <a:t> == </a:t>
            </a:r>
            <a:r>
              <a:rPr lang="en-IE" sz="2200" dirty="0" err="1">
                <a:solidFill>
                  <a:prstClr val="black"/>
                </a:solidFill>
              </a:rPr>
              <a:t>gameNumber</a:t>
            </a:r>
            <a:r>
              <a:rPr lang="en-IE" sz="2200" b="1" dirty="0">
                <a:solidFill>
                  <a:srgbClr val="00B050"/>
                </a:solidFill>
              </a:rPr>
              <a:t> {</a:t>
            </a:r>
          </a:p>
          <a:p>
            <a:pPr lvl="0">
              <a:spcBef>
                <a:spcPct val="20000"/>
              </a:spcBef>
            </a:pPr>
            <a:r>
              <a:rPr lang="en-IE" sz="2200" dirty="0">
                <a:solidFill>
                  <a:prstClr val="black"/>
                </a:solidFill>
              </a:rPr>
              <a:t>		print congratulations; </a:t>
            </a:r>
            <a:r>
              <a:rPr lang="en-IE" sz="2200" b="1" dirty="0">
                <a:solidFill>
                  <a:srgbClr val="00B050"/>
                </a:solidFill>
              </a:rPr>
              <a:t>}</a:t>
            </a:r>
          </a:p>
          <a:p>
            <a:pPr lvl="0">
              <a:spcBef>
                <a:spcPct val="20000"/>
              </a:spcBef>
            </a:pPr>
            <a:r>
              <a:rPr lang="en-IE" sz="2200" dirty="0">
                <a:solidFill>
                  <a:prstClr val="black"/>
                </a:solidFill>
              </a:rPr>
              <a:t>	</a:t>
            </a:r>
            <a:r>
              <a:rPr lang="en-IE" sz="2200" b="1" u="sng" dirty="0">
                <a:solidFill>
                  <a:prstClr val="black"/>
                </a:solidFill>
              </a:rPr>
              <a:t>if</a:t>
            </a:r>
            <a:r>
              <a:rPr lang="en-IE" sz="2200" b="1" dirty="0">
                <a:solidFill>
                  <a:prstClr val="black"/>
                </a:solidFill>
              </a:rPr>
              <a:t> </a:t>
            </a:r>
            <a:r>
              <a:rPr lang="en-IE" sz="2200" dirty="0" err="1">
                <a:solidFill>
                  <a:prstClr val="black"/>
                </a:solidFill>
              </a:rPr>
              <a:t>userNumber</a:t>
            </a:r>
            <a:r>
              <a:rPr lang="en-IE" sz="2200" dirty="0">
                <a:solidFill>
                  <a:prstClr val="black"/>
                </a:solidFill>
              </a:rPr>
              <a:t> != </a:t>
            </a:r>
            <a:r>
              <a:rPr lang="en-IE" sz="2200" dirty="0" err="1">
                <a:solidFill>
                  <a:prstClr val="black"/>
                </a:solidFill>
              </a:rPr>
              <a:t>gameNumber</a:t>
            </a:r>
            <a:r>
              <a:rPr lang="en-IE" sz="2200" dirty="0">
                <a:solidFill>
                  <a:prstClr val="black"/>
                </a:solidFill>
              </a:rPr>
              <a:t> </a:t>
            </a:r>
            <a:r>
              <a:rPr lang="en-IE" sz="2200" b="1" dirty="0">
                <a:solidFill>
                  <a:srgbClr val="00B050"/>
                </a:solidFill>
              </a:rPr>
              <a:t>{</a:t>
            </a:r>
          </a:p>
          <a:p>
            <a:pPr lvl="0">
              <a:spcBef>
                <a:spcPct val="20000"/>
              </a:spcBef>
            </a:pPr>
            <a:r>
              <a:rPr lang="en-IE" sz="2200" dirty="0">
                <a:solidFill>
                  <a:prstClr val="black"/>
                </a:solidFill>
              </a:rPr>
              <a:t>		print Hard Luck;</a:t>
            </a:r>
            <a:r>
              <a:rPr lang="en-IE" sz="2200" b="1" dirty="0">
                <a:solidFill>
                  <a:srgbClr val="00B050"/>
                </a:solidFill>
              </a:rPr>
              <a:t> }</a:t>
            </a:r>
          </a:p>
          <a:p>
            <a:pPr lvl="0">
              <a:spcBef>
                <a:spcPct val="20000"/>
              </a:spcBef>
            </a:pPr>
            <a:r>
              <a:rPr lang="en-IE" sz="2200" b="1" dirty="0">
                <a:solidFill>
                  <a:srgbClr val="FF0000"/>
                </a:solidFill>
              </a:rPr>
              <a:t>}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4DFB2EF-2E83-470A-A0CA-04438EB094C5}"/>
              </a:ext>
            </a:extLst>
          </p:cNvPr>
          <p:cNvGrpSpPr/>
          <p:nvPr/>
        </p:nvGrpSpPr>
        <p:grpSpPr>
          <a:xfrm>
            <a:off x="5940152" y="3645024"/>
            <a:ext cx="2520281" cy="1224136"/>
            <a:chOff x="5940152" y="3645024"/>
            <a:chExt cx="2520281" cy="122413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253D885-1EE2-4DC0-97EE-38E7A07A3D84}"/>
                </a:ext>
              </a:extLst>
            </p:cNvPr>
            <p:cNvGrpSpPr/>
            <p:nvPr/>
          </p:nvGrpSpPr>
          <p:grpSpPr>
            <a:xfrm>
              <a:off x="5940152" y="3645024"/>
              <a:ext cx="2520281" cy="1143001"/>
              <a:chOff x="4054880" y="5805264"/>
              <a:chExt cx="4333544" cy="651961"/>
            </a:xfrm>
          </p:grpSpPr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BB07A6C3-067B-45F8-A850-5B78B3602CC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054880" y="6021289"/>
                <a:ext cx="805153" cy="235778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A7D7745-4CB0-4D0B-9544-63EC2FD0DD61}"/>
                  </a:ext>
                </a:extLst>
              </p:cNvPr>
              <p:cNvSpPr txBox="1"/>
              <p:nvPr/>
            </p:nvSpPr>
            <p:spPr>
              <a:xfrm>
                <a:off x="5220073" y="5805264"/>
                <a:ext cx="3168351" cy="6519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E" sz="2800" b="1" dirty="0">
                    <a:solidFill>
                      <a:srgbClr val="FF0000"/>
                    </a:solidFill>
                  </a:rPr>
                  <a:t>NESTED if statements</a:t>
                </a:r>
              </a:p>
            </p:txBody>
          </p:sp>
        </p:grp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2C0EB1F-45B5-42FF-A502-323927B222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40152" y="4176153"/>
              <a:ext cx="620658" cy="693007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15704B3-7958-4885-B01F-5128230E2E88}"/>
              </a:ext>
            </a:extLst>
          </p:cNvPr>
          <p:cNvSpPr txBox="1"/>
          <p:nvPr/>
        </p:nvSpPr>
        <p:spPr>
          <a:xfrm>
            <a:off x="188503" y="6179716"/>
            <a:ext cx="87129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0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 2.5 students should be able to use pseudo code to outline the functionality of an algorithm	</a:t>
            </a:r>
            <a:endParaRPr lang="en-IE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48280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1520" y="260648"/>
            <a:ext cx="8229600" cy="1143000"/>
          </a:xfrm>
        </p:spPr>
        <p:txBody>
          <a:bodyPr/>
          <a:lstStyle/>
          <a:p>
            <a:r>
              <a:rPr lang="en-IE" dirty="0"/>
              <a:t>Lesson Review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BB7D4EA-7837-4A8B-9879-99A2E896F3C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914400" y="1196975"/>
            <a:ext cx="8229600" cy="3413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As a result of this lesson I am able to: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42B7138-ABA7-4495-AECD-91BB51B9D3BE}"/>
              </a:ext>
            </a:extLst>
          </p:cNvPr>
          <p:cNvSpPr txBox="1">
            <a:spLocks/>
          </p:cNvSpPr>
          <p:nvPr/>
        </p:nvSpPr>
        <p:spPr>
          <a:xfrm>
            <a:off x="611560" y="2305508"/>
            <a:ext cx="8229600" cy="3412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en-IE" dirty="0"/>
              <a:t>Understand the concept of a conditional </a:t>
            </a:r>
            <a:r>
              <a:rPr lang="en-IE" b="1" dirty="0"/>
              <a:t>if.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Read and Write code to carry out simple tasks.</a:t>
            </a:r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Use relational operators to make comparisons.</a:t>
            </a:r>
          </a:p>
        </p:txBody>
      </p:sp>
    </p:spTree>
    <p:extLst>
      <p:ext uri="{BB962C8B-B14F-4D97-AF65-F5344CB8AC3E}">
        <p14:creationId xmlns:p14="http://schemas.microsoft.com/office/powerpoint/2010/main" val="2646030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59C47FF1BBBD41944C27E755792B60" ma:contentTypeVersion="13" ma:contentTypeDescription="Create a new document." ma:contentTypeScope="" ma:versionID="10712fcb74858acd939241f8f14c3c2a">
  <xsd:schema xmlns:xsd="http://www.w3.org/2001/XMLSchema" xmlns:xs="http://www.w3.org/2001/XMLSchema" xmlns:p="http://schemas.microsoft.com/office/2006/metadata/properties" xmlns:ns1="http://schemas.microsoft.com/sharepoint/v3" xmlns:ns2="2a24f1cd-5e3a-428d-a962-0c0266cdec1f" xmlns:ns3="2522d011-583a-4cec-893b-a3e4ebe7a880" targetNamespace="http://schemas.microsoft.com/office/2006/metadata/properties" ma:root="true" ma:fieldsID="762bbfe59eafa4ea92fb4b763fa075a5" ns1:_="" ns2:_="" ns3:_="">
    <xsd:import namespace="http://schemas.microsoft.com/sharepoint/v3"/>
    <xsd:import namespace="2a24f1cd-5e3a-428d-a962-0c0266cdec1f"/>
    <xsd:import namespace="2522d011-583a-4cec-893b-a3e4ebe7a8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24f1cd-5e3a-428d-a962-0c0266cdec1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712559f9-f71b-4af0-bfaa-ab2f6ccdd4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22d011-583a-4cec-893b-a3e4ebe7a880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28a40212-ea4a-4620-9c44-1250f1e428a8}" ma:internalName="TaxCatchAll" ma:showField="CatchAllData" ma:web="2522d011-583a-4cec-893b-a3e4ebe7a8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a24f1cd-5e3a-428d-a962-0c0266cdec1f">
      <Terms xmlns="http://schemas.microsoft.com/office/infopath/2007/PartnerControls"/>
    </lcf76f155ced4ddcb4097134ff3c332f>
    <TaxCatchAll xmlns="2522d011-583a-4cec-893b-a3e4ebe7a880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38C7074F-0990-45EF-80A6-A6F8849F4EB8}"/>
</file>

<file path=customXml/itemProps2.xml><?xml version="1.0" encoding="utf-8"?>
<ds:datastoreItem xmlns:ds="http://schemas.openxmlformats.org/officeDocument/2006/customXml" ds:itemID="{254C9206-D65A-4BCD-BFBD-1D0D705B40ED}"/>
</file>

<file path=customXml/itemProps3.xml><?xml version="1.0" encoding="utf-8"?>
<ds:datastoreItem xmlns:ds="http://schemas.openxmlformats.org/officeDocument/2006/customXml" ds:itemID="{537BDC64-B6A0-40FB-866D-92266B6F929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7144</TotalTime>
  <Words>1600</Words>
  <Application>Microsoft Office PowerPoint</Application>
  <PresentationFormat>On-screen Show (4:3)</PresentationFormat>
  <Paragraphs>183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Calibri Light</vt:lpstr>
      <vt:lpstr>Comic Sans MS</vt:lpstr>
      <vt:lpstr>Courier New</vt:lpstr>
      <vt:lpstr>Office Theme</vt:lpstr>
      <vt:lpstr>1_Office Theme</vt:lpstr>
      <vt:lpstr>Learning to Program in Python</vt:lpstr>
      <vt:lpstr>Learning Intentions</vt:lpstr>
      <vt:lpstr>Python Control structures</vt:lpstr>
      <vt:lpstr>Hangman</vt:lpstr>
      <vt:lpstr>if Statement</vt:lpstr>
      <vt:lpstr>if Statement</vt:lpstr>
      <vt:lpstr>if Statement</vt:lpstr>
      <vt:lpstr>if flowchart</vt:lpstr>
      <vt:lpstr>Multiple if statements</vt:lpstr>
      <vt:lpstr>output from Multiple if program</vt:lpstr>
      <vt:lpstr>Testing 2 conditions in 1 if</vt:lpstr>
      <vt:lpstr>PowerPoint Presentation</vt:lpstr>
      <vt:lpstr>Comparing User Inputs</vt:lpstr>
      <vt:lpstr>Reminders on User Inputs</vt:lpstr>
      <vt:lpstr>Comparing User Inputs .. sample code</vt:lpstr>
      <vt:lpstr>Create Your Own … Guessing Game</vt:lpstr>
      <vt:lpstr>pseudo code .. for guessing game</vt:lpstr>
      <vt:lpstr>Lesson Review</vt:lpstr>
    </vt:vector>
  </TitlesOfParts>
  <Company>NCCA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CCS;PB</dc:creator>
  <cp:lastModifiedBy>Pauline Smyth</cp:lastModifiedBy>
  <cp:revision>80</cp:revision>
  <dcterms:created xsi:type="dcterms:W3CDTF">2013-05-23T11:58:22Z</dcterms:created>
  <dcterms:modified xsi:type="dcterms:W3CDTF">2021-10-07T09:24:26Z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0x0101008D59C47FF1BBBD41944C27E755792B60</vt:lpwstr>
  </property>
</Properties>
</file>