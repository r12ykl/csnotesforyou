
<file path=[Content_Types].xml><?xml version="1.0" encoding="utf-8"?>
<Types xmlns="http://schemas.openxmlformats.org/package/2006/content-types">
  <Default Extension="jpeg" ContentType="image/jpeg"/>
  <Default Extension="jpg" ContentType="image/jpeg"/>
  <Default Extension="jpg&amp;ehk=qP8SYZNcVvQJKYjeFmtgvA&amp;r=0&amp;pid=OfficeInsert" ContentType="image/jpeg"/>
  <Default Extension="png" ContentType="image/png"/>
  <Default Extension="png&amp;ehk=H" ContentType="image/png"/>
  <Default Extension="png&amp;ehk=OTXc08G4oHYjnA33wvKmnw&amp;r=0&amp;pid=OfficeInsert"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2" r:id="rId5"/>
  </p:sldMasterIdLst>
  <p:notesMasterIdLst>
    <p:notesMasterId r:id="rId69"/>
  </p:notesMasterIdLst>
  <p:sldIdLst>
    <p:sldId id="256" r:id="rId6"/>
    <p:sldId id="345" r:id="rId7"/>
    <p:sldId id="333" r:id="rId8"/>
    <p:sldId id="334" r:id="rId9"/>
    <p:sldId id="331" r:id="rId10"/>
    <p:sldId id="338" r:id="rId11"/>
    <p:sldId id="344" r:id="rId12"/>
    <p:sldId id="335" r:id="rId13"/>
    <p:sldId id="347" r:id="rId14"/>
    <p:sldId id="348" r:id="rId15"/>
    <p:sldId id="346" r:id="rId16"/>
    <p:sldId id="259" r:id="rId17"/>
    <p:sldId id="284" r:id="rId18"/>
    <p:sldId id="291" r:id="rId19"/>
    <p:sldId id="349" r:id="rId20"/>
    <p:sldId id="350" r:id="rId21"/>
    <p:sldId id="351" r:id="rId22"/>
    <p:sldId id="354" r:id="rId23"/>
    <p:sldId id="305" r:id="rId24"/>
    <p:sldId id="352" r:id="rId25"/>
    <p:sldId id="353" r:id="rId26"/>
    <p:sldId id="355" r:id="rId27"/>
    <p:sldId id="361" r:id="rId28"/>
    <p:sldId id="357" r:id="rId29"/>
    <p:sldId id="356" r:id="rId30"/>
    <p:sldId id="358" r:id="rId31"/>
    <p:sldId id="359" r:id="rId32"/>
    <p:sldId id="360" r:id="rId33"/>
    <p:sldId id="362" r:id="rId34"/>
    <p:sldId id="367" r:id="rId35"/>
    <p:sldId id="363" r:id="rId36"/>
    <p:sldId id="364" r:id="rId37"/>
    <p:sldId id="365" r:id="rId38"/>
    <p:sldId id="304" r:id="rId39"/>
    <p:sldId id="310" r:id="rId40"/>
    <p:sldId id="366" r:id="rId41"/>
    <p:sldId id="299" r:id="rId42"/>
    <p:sldId id="368" r:id="rId43"/>
    <p:sldId id="369" r:id="rId44"/>
    <p:sldId id="370" r:id="rId45"/>
    <p:sldId id="371" r:id="rId46"/>
    <p:sldId id="372" r:id="rId47"/>
    <p:sldId id="374" r:id="rId48"/>
    <p:sldId id="373" r:id="rId49"/>
    <p:sldId id="387" r:id="rId50"/>
    <p:sldId id="311" r:id="rId51"/>
    <p:sldId id="375" r:id="rId52"/>
    <p:sldId id="263" r:id="rId53"/>
    <p:sldId id="260" r:id="rId54"/>
    <p:sldId id="261" r:id="rId55"/>
    <p:sldId id="262" r:id="rId56"/>
    <p:sldId id="258" r:id="rId57"/>
    <p:sldId id="376" r:id="rId58"/>
    <p:sldId id="377" r:id="rId59"/>
    <p:sldId id="378" r:id="rId60"/>
    <p:sldId id="379" r:id="rId61"/>
    <p:sldId id="380" r:id="rId62"/>
    <p:sldId id="381" r:id="rId63"/>
    <p:sldId id="382" r:id="rId64"/>
    <p:sldId id="383" r:id="rId65"/>
    <p:sldId id="385" r:id="rId66"/>
    <p:sldId id="386" r:id="rId67"/>
    <p:sldId id="384" r:id="rId6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AC8"/>
    <a:srgbClr val="C907AD"/>
    <a:srgbClr val="F0F0C8"/>
    <a:srgbClr val="FAF0F0"/>
    <a:srgbClr val="FAC8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378CC1-24C5-4835-AB9C-8349A51A0529}" v="5" dt="2023-11-27T21:35:06.9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0" autoAdjust="0"/>
    <p:restoredTop sz="84663" autoAdjust="0"/>
  </p:normalViewPr>
  <p:slideViewPr>
    <p:cSldViewPr>
      <p:cViewPr varScale="1">
        <p:scale>
          <a:sx n="72" d="100"/>
          <a:sy n="72" d="100"/>
        </p:scale>
        <p:origin x="917"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 Type="http://schemas.openxmlformats.org/officeDocument/2006/relationships/slide" Target="slides/slide2.xml"/><Relationship Id="rId71"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ine Smyth" userId="de5ce227-53e3-42c9-b7e0-2fb7785ba6f5" providerId="ADAL" clId="{19378CC1-24C5-4835-AB9C-8349A51A0529}"/>
    <pc:docChg chg="custSel addSld modSld">
      <pc:chgData name="Pauline Smyth" userId="de5ce227-53e3-42c9-b7e0-2fb7785ba6f5" providerId="ADAL" clId="{19378CC1-24C5-4835-AB9C-8349A51A0529}" dt="2023-11-27T21:36:31.607" v="34" actId="20577"/>
      <pc:docMkLst>
        <pc:docMk/>
      </pc:docMkLst>
      <pc:sldChg chg="addSp delSp modSp add mod">
        <pc:chgData name="Pauline Smyth" userId="de5ce227-53e3-42c9-b7e0-2fb7785ba6f5" providerId="ADAL" clId="{19378CC1-24C5-4835-AB9C-8349A51A0529}" dt="2023-11-27T21:36:31.607" v="34" actId="20577"/>
        <pc:sldMkLst>
          <pc:docMk/>
          <pc:sldMk cId="3763576493" sldId="387"/>
        </pc:sldMkLst>
        <pc:spChg chg="mod">
          <ac:chgData name="Pauline Smyth" userId="de5ce227-53e3-42c9-b7e0-2fb7785ba6f5" providerId="ADAL" clId="{19378CC1-24C5-4835-AB9C-8349A51A0529}" dt="2023-11-27T21:36:31.607" v="34" actId="20577"/>
          <ac:spMkLst>
            <pc:docMk/>
            <pc:sldMk cId="3763576493" sldId="387"/>
            <ac:spMk id="2" creationId="{104E7BB8-1C40-8B30-652E-F1C294CBFEAB}"/>
          </ac:spMkLst>
        </pc:spChg>
        <pc:spChg chg="add del">
          <ac:chgData name="Pauline Smyth" userId="de5ce227-53e3-42c9-b7e0-2fb7785ba6f5" providerId="ADAL" clId="{19378CC1-24C5-4835-AB9C-8349A51A0529}" dt="2023-11-27T21:34:52.820" v="4"/>
          <ac:spMkLst>
            <pc:docMk/>
            <pc:sldMk cId="3763576493" sldId="387"/>
            <ac:spMk id="3" creationId="{275C1BB0-7291-3DA2-F902-F56729553D72}"/>
          </ac:spMkLst>
        </pc:spChg>
        <pc:spChg chg="add del mod">
          <ac:chgData name="Pauline Smyth" userId="de5ce227-53e3-42c9-b7e0-2fb7785ba6f5" providerId="ADAL" clId="{19378CC1-24C5-4835-AB9C-8349A51A0529}" dt="2023-11-27T21:36:08.366" v="20" actId="478"/>
          <ac:spMkLst>
            <pc:docMk/>
            <pc:sldMk cId="3763576493" sldId="387"/>
            <ac:spMk id="4" creationId="{94B9DD24-FBC9-180D-D393-5D8D952E5616}"/>
          </ac:spMkLst>
        </pc:spChg>
        <pc:spChg chg="add del mod">
          <ac:chgData name="Pauline Smyth" userId="de5ce227-53e3-42c9-b7e0-2fb7785ba6f5" providerId="ADAL" clId="{19378CC1-24C5-4835-AB9C-8349A51A0529}" dt="2023-11-27T21:35:01.717" v="7"/>
          <ac:spMkLst>
            <pc:docMk/>
            <pc:sldMk cId="3763576493" sldId="387"/>
            <ac:spMk id="5" creationId="{DE3C0ED1-F9A0-58FB-16E5-48574BD46E02}"/>
          </ac:spMkLst>
        </pc:spChg>
        <pc:spChg chg="add del mod">
          <ac:chgData name="Pauline Smyth" userId="de5ce227-53e3-42c9-b7e0-2fb7785ba6f5" providerId="ADAL" clId="{19378CC1-24C5-4835-AB9C-8349A51A0529}" dt="2023-11-27T21:36:11.245" v="21" actId="478"/>
          <ac:spMkLst>
            <pc:docMk/>
            <pc:sldMk cId="3763576493" sldId="387"/>
            <ac:spMk id="7" creationId="{FD4BC968-6724-8F0D-B81B-0A8C2BC71107}"/>
          </ac:spMkLst>
        </pc:spChg>
        <pc:picChg chg="del">
          <ac:chgData name="Pauline Smyth" userId="de5ce227-53e3-42c9-b7e0-2fb7785ba6f5" providerId="ADAL" clId="{19378CC1-24C5-4835-AB9C-8349A51A0529}" dt="2023-11-27T21:34:38.394" v="1" actId="478"/>
          <ac:picMkLst>
            <pc:docMk/>
            <pc:sldMk cId="3763576493" sldId="387"/>
            <ac:picMk id="8" creationId="{027D44AE-DC51-352D-59A1-69D3487FF821}"/>
          </ac:picMkLst>
        </pc:picChg>
        <pc:picChg chg="add mod">
          <ac:chgData name="Pauline Smyth" userId="de5ce227-53e3-42c9-b7e0-2fb7785ba6f5" providerId="ADAL" clId="{19378CC1-24C5-4835-AB9C-8349A51A0529}" dt="2023-11-27T21:36:20.317" v="24" actId="14100"/>
          <ac:picMkLst>
            <pc:docMk/>
            <pc:sldMk cId="3763576493" sldId="387"/>
            <ac:picMk id="10" creationId="{DC93845E-6DCA-A6C2-DB75-9C347A0A41F9}"/>
          </ac:picMkLst>
        </pc:picChg>
      </pc:sldChg>
    </pc:docChg>
  </pc:docChgLst>
  <pc:docChgLst>
    <pc:chgData name="Pauline Smyth" userId="de5ce227-53e3-42c9-b7e0-2fb7785ba6f5" providerId="ADAL" clId="{90DFB713-113B-438D-8A04-283A21DB5C7D}"/>
    <pc:docChg chg="modSld">
      <pc:chgData name="Pauline Smyth" userId="de5ce227-53e3-42c9-b7e0-2fb7785ba6f5" providerId="ADAL" clId="{90DFB713-113B-438D-8A04-283A21DB5C7D}" dt="2023-02-20T10:18:21.003" v="0" actId="1076"/>
      <pc:docMkLst>
        <pc:docMk/>
      </pc:docMkLst>
      <pc:sldChg chg="modSp mod">
        <pc:chgData name="Pauline Smyth" userId="de5ce227-53e3-42c9-b7e0-2fb7785ba6f5" providerId="ADAL" clId="{90DFB713-113B-438D-8A04-283A21DB5C7D}" dt="2023-02-20T10:18:21.003" v="0" actId="1076"/>
        <pc:sldMkLst>
          <pc:docMk/>
          <pc:sldMk cId="508357413" sldId="380"/>
        </pc:sldMkLst>
        <pc:picChg chg="mod">
          <ac:chgData name="Pauline Smyth" userId="de5ce227-53e3-42c9-b7e0-2fb7785ba6f5" providerId="ADAL" clId="{90DFB713-113B-438D-8A04-283A21DB5C7D}" dt="2023-02-20T10:18:21.003" v="0" actId="1076"/>
          <ac:picMkLst>
            <pc:docMk/>
            <pc:sldMk cId="508357413" sldId="380"/>
            <ac:picMk id="4" creationId="{81157CDE-58DE-4863-8D4F-483ECD67CDF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408EF2-A9E7-4AC3-A802-968461B2836C}" type="datetimeFigureOut">
              <a:rPr lang="en-IE" smtClean="0"/>
              <a:pPr/>
              <a:t>27/11/2023</a:t>
            </a:fld>
            <a:endParaRPr lang="en-IE"/>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48CF78B-96D2-4305-8711-1B89159C1975}" type="slidenum">
              <a:rPr lang="en-IE" smtClean="0"/>
              <a:pPr/>
              <a:t>‹#›</a:t>
            </a:fld>
            <a:endParaRPr lang="en-IE"/>
          </a:p>
        </p:txBody>
      </p:sp>
    </p:spTree>
    <p:extLst>
      <p:ext uri="{BB962C8B-B14F-4D97-AF65-F5344CB8AC3E}">
        <p14:creationId xmlns:p14="http://schemas.microsoft.com/office/powerpoint/2010/main" val="2750894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Variables will have been used in the starter program.</a:t>
            </a:r>
          </a:p>
          <a:p>
            <a:r>
              <a:rPr lang="en-IE" dirty="0"/>
              <a:t>This is a full introduction to variables and data types, and a second lesson (this resource) introduces operators.</a:t>
            </a:r>
          </a:p>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The tasks and ideas would require several classes to ensure students have time to engage with the concept.</a:t>
            </a:r>
          </a:p>
        </p:txBody>
      </p:sp>
      <p:sp>
        <p:nvSpPr>
          <p:cNvPr id="4" name="Slide Number Placeholder 3"/>
          <p:cNvSpPr>
            <a:spLocks noGrp="1"/>
          </p:cNvSpPr>
          <p:nvPr>
            <p:ph type="sldNum" sz="quarter" idx="10"/>
          </p:nvPr>
        </p:nvSpPr>
        <p:spPr/>
        <p:txBody>
          <a:bodyPr/>
          <a:lstStyle/>
          <a:p>
            <a:fld id="{B48CF78B-96D2-4305-8711-1B89159C1975}" type="slidenum">
              <a:rPr lang="en-IE" smtClean="0"/>
              <a:pPr/>
              <a:t>1</a:t>
            </a:fld>
            <a:endParaRPr lang="en-IE"/>
          </a:p>
        </p:txBody>
      </p:sp>
    </p:spTree>
    <p:extLst>
      <p:ext uri="{BB962C8B-B14F-4D97-AF65-F5344CB8AC3E}">
        <p14:creationId xmlns:p14="http://schemas.microsoft.com/office/powerpoint/2010/main" val="3035729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This lesson is completely problem based, with students expected to discover the answers to the </a:t>
            </a:r>
            <a:r>
              <a:rPr lang="en-IE" dirty="0" err="1"/>
              <a:t>etasksheets</a:t>
            </a:r>
            <a:r>
              <a:rPr lang="en-IE" dirty="0"/>
              <a:t> themselves .</a:t>
            </a:r>
          </a:p>
          <a:p>
            <a:r>
              <a:rPr lang="en-IE" dirty="0"/>
              <a:t>The numerical task is really the first major computational thinking challenge for the students that is expected to be coded.</a:t>
            </a:r>
          </a:p>
          <a:p>
            <a:r>
              <a:rPr lang="en-IE" dirty="0"/>
              <a:t>A bigger CT challenge, presented via HTML, on the conversion of hours minutes seconds is aligned to this lesson on the website.</a:t>
            </a:r>
          </a:p>
        </p:txBody>
      </p:sp>
      <p:sp>
        <p:nvSpPr>
          <p:cNvPr id="4" name="Slide Number Placeholder 3"/>
          <p:cNvSpPr>
            <a:spLocks noGrp="1"/>
          </p:cNvSpPr>
          <p:nvPr>
            <p:ph type="sldNum" sz="quarter" idx="10"/>
          </p:nvPr>
        </p:nvSpPr>
        <p:spPr/>
        <p:txBody>
          <a:bodyPr/>
          <a:lstStyle/>
          <a:p>
            <a:fld id="{B48CF78B-96D2-4305-8711-1B89159C1975}" type="slidenum">
              <a:rPr lang="en-IE" smtClean="0"/>
              <a:pPr/>
              <a:t>2</a:t>
            </a:fld>
            <a:endParaRPr lang="en-IE"/>
          </a:p>
        </p:txBody>
      </p:sp>
    </p:spTree>
    <p:extLst>
      <p:ext uri="{BB962C8B-B14F-4D97-AF65-F5344CB8AC3E}">
        <p14:creationId xmlns:p14="http://schemas.microsoft.com/office/powerpoint/2010/main" val="2199629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This challenge forms part of the student </a:t>
            </a:r>
            <a:r>
              <a:rPr lang="en-IE" dirty="0" err="1"/>
              <a:t>etasksheet</a:t>
            </a:r>
            <a:r>
              <a:rPr lang="en-IE" dirty="0"/>
              <a:t> 1.2. Students must write the algorithm first. The next slide shows some suggestions on how to code this problem.</a:t>
            </a:r>
          </a:p>
          <a:p>
            <a:r>
              <a:rPr lang="en-IE" dirty="0"/>
              <a:t>Encourage students, in paired programming style, to verify each other’s code and test for bugs and logical errors.</a:t>
            </a:r>
          </a:p>
          <a:p>
            <a:r>
              <a:rPr lang="en-IE" dirty="0"/>
              <a:t>Encourage students to write out their algorithms, and to use pseudo code.</a:t>
            </a:r>
          </a:p>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The Scratch symbol indicates that this task should also be done in Scratch (or similar block-based language). The html resource, containing the Scratch program and guiding the students, is part of the same folder as this Python resource. (see While loops for an extension to </a:t>
            </a:r>
            <a:r>
              <a:rPr lang="en-IE"/>
              <a:t>this challenge). </a:t>
            </a:r>
            <a:r>
              <a:rPr lang="en-IE" dirty="0"/>
              <a:t>Encourage the students to edit the html file to serve as part of an </a:t>
            </a:r>
            <a:r>
              <a:rPr lang="en-IE" dirty="0" err="1"/>
              <a:t>ePortfolio</a:t>
            </a:r>
            <a:r>
              <a:rPr lang="en-IE" dirty="0"/>
              <a:t>. See the file for instructions.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E" dirty="0"/>
          </a:p>
        </p:txBody>
      </p:sp>
      <p:sp>
        <p:nvSpPr>
          <p:cNvPr id="4" name="Slide Number Placeholder 3"/>
          <p:cNvSpPr>
            <a:spLocks noGrp="1"/>
          </p:cNvSpPr>
          <p:nvPr>
            <p:ph type="sldNum" sz="quarter" idx="10"/>
          </p:nvPr>
        </p:nvSpPr>
        <p:spPr/>
        <p:txBody>
          <a:bodyPr/>
          <a:lstStyle/>
          <a:p>
            <a:fld id="{798E70F5-F765-4AEF-B7F1-D2874B49F805}" type="slidenum">
              <a:rPr lang="en-IE" smtClean="0"/>
              <a:pPr/>
              <a:t>3</a:t>
            </a:fld>
            <a:endParaRPr lang="en-IE"/>
          </a:p>
        </p:txBody>
      </p:sp>
    </p:spTree>
    <p:extLst>
      <p:ext uri="{BB962C8B-B14F-4D97-AF65-F5344CB8AC3E}">
        <p14:creationId xmlns:p14="http://schemas.microsoft.com/office/powerpoint/2010/main" val="1521927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Encourage good habits from the start, such as using variables appropriately and appropriately named.</a:t>
            </a:r>
          </a:p>
          <a:p>
            <a:r>
              <a:rPr lang="en-IE" dirty="0"/>
              <a:t>There are a  multitude of style guides online such as http://www.cs.bu.edu/courses/cs108/guides/style.html.</a:t>
            </a:r>
          </a:p>
          <a:p>
            <a:r>
              <a:rPr lang="en-IE" dirty="0"/>
              <a:t>The user interface should be considered up front as part of the solution.</a:t>
            </a:r>
          </a:p>
          <a:p>
            <a:endParaRPr lang="en-IE" dirty="0"/>
          </a:p>
        </p:txBody>
      </p:sp>
      <p:sp>
        <p:nvSpPr>
          <p:cNvPr id="4" name="Slide Number Placeholder 3"/>
          <p:cNvSpPr>
            <a:spLocks noGrp="1"/>
          </p:cNvSpPr>
          <p:nvPr>
            <p:ph type="sldNum" sz="quarter" idx="10"/>
          </p:nvPr>
        </p:nvSpPr>
        <p:spPr/>
        <p:txBody>
          <a:bodyPr/>
          <a:lstStyle/>
          <a:p>
            <a:fld id="{B48CF78B-96D2-4305-8711-1B89159C1975}" type="slidenum">
              <a:rPr lang="en-IE" smtClean="0"/>
              <a:pPr/>
              <a:t>4</a:t>
            </a:fld>
            <a:endParaRPr lang="en-IE"/>
          </a:p>
        </p:txBody>
      </p:sp>
    </p:spTree>
    <p:extLst>
      <p:ext uri="{BB962C8B-B14F-4D97-AF65-F5344CB8AC3E}">
        <p14:creationId xmlns:p14="http://schemas.microsoft.com/office/powerpoint/2010/main" val="2395632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reason we use 10 is because the numbers are decimal.</a:t>
            </a:r>
          </a:p>
          <a:p>
            <a:r>
              <a:rPr lang="en-IE" dirty="0"/>
              <a:t>Remind students that instead of 73 // 10 we can equally use </a:t>
            </a:r>
            <a:r>
              <a:rPr lang="en-IE" dirty="0" err="1"/>
              <a:t>int</a:t>
            </a:r>
            <a:r>
              <a:rPr lang="en-IE" dirty="0"/>
              <a:t>( 73 / 10).</a:t>
            </a:r>
          </a:p>
          <a:p>
            <a:endParaRPr lang="en-IE" dirty="0"/>
          </a:p>
          <a:p>
            <a:r>
              <a:rPr lang="en-IE" dirty="0"/>
              <a:t>When students study LOOPS they will be able to offer the user unlimited amount of turns plus the option to exit the program.</a:t>
            </a:r>
          </a:p>
          <a:p>
            <a:r>
              <a:rPr lang="en-IE" dirty="0"/>
              <a:t>Also later in the course, students could test their program by programming every input from 00 to 99, again using LOOPS.</a:t>
            </a:r>
          </a:p>
          <a:p>
            <a:endParaRPr lang="en-IE" dirty="0"/>
          </a:p>
        </p:txBody>
      </p:sp>
      <p:sp>
        <p:nvSpPr>
          <p:cNvPr id="4" name="Slide Number Placeholder 3"/>
          <p:cNvSpPr>
            <a:spLocks noGrp="1"/>
          </p:cNvSpPr>
          <p:nvPr>
            <p:ph type="sldNum" sz="quarter" idx="10"/>
          </p:nvPr>
        </p:nvSpPr>
        <p:spPr/>
        <p:txBody>
          <a:bodyPr/>
          <a:lstStyle/>
          <a:p>
            <a:fld id="{B48CF78B-96D2-4305-8711-1B89159C1975}" type="slidenum">
              <a:rPr lang="en-IE" smtClean="0"/>
              <a:pPr/>
              <a:t>5</a:t>
            </a:fld>
            <a:endParaRPr lang="en-IE"/>
          </a:p>
        </p:txBody>
      </p:sp>
    </p:spTree>
    <p:extLst>
      <p:ext uri="{BB962C8B-B14F-4D97-AF65-F5344CB8AC3E}">
        <p14:creationId xmlns:p14="http://schemas.microsoft.com/office/powerpoint/2010/main" val="1796714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This challenge forms part of the student </a:t>
            </a:r>
            <a:r>
              <a:rPr lang="en-IE" dirty="0" err="1"/>
              <a:t>tasksheet</a:t>
            </a:r>
            <a:r>
              <a:rPr lang="en-IE" dirty="0"/>
              <a:t> 1.2. Students must write the algorithm first. The next slide shows some suggestions on how to code this problem.</a:t>
            </a:r>
          </a:p>
          <a:p>
            <a:r>
              <a:rPr lang="en-IE" dirty="0"/>
              <a:t>Encourage students, in paired programming style, to verify each other’s code and test for bugs and logical errors.</a:t>
            </a:r>
          </a:p>
          <a:p>
            <a:r>
              <a:rPr lang="en-IE" dirty="0"/>
              <a:t>Encourage students to write out their algorithms, and to use pseudo code where possible.</a:t>
            </a:r>
          </a:p>
          <a:p>
            <a:endParaRPr lang="en-IE" dirty="0"/>
          </a:p>
          <a:p>
            <a:r>
              <a:rPr lang="en-IE" dirty="0"/>
              <a:t>When students study LOOPS they will be able to offer the user unlimited amount of turns plus the option to exit the program.</a:t>
            </a:r>
          </a:p>
          <a:p>
            <a:r>
              <a:rPr lang="en-IE" dirty="0"/>
              <a:t>Also later in the course, students will be asked to test their program by programming every input from 00 to 99, again using LOOPS.</a:t>
            </a:r>
          </a:p>
        </p:txBody>
      </p:sp>
      <p:sp>
        <p:nvSpPr>
          <p:cNvPr id="4" name="Slide Number Placeholder 3"/>
          <p:cNvSpPr>
            <a:spLocks noGrp="1"/>
          </p:cNvSpPr>
          <p:nvPr>
            <p:ph type="sldNum" sz="quarter" idx="10"/>
          </p:nvPr>
        </p:nvSpPr>
        <p:spPr/>
        <p:txBody>
          <a:bodyPr/>
          <a:lstStyle/>
          <a:p>
            <a:fld id="{798E70F5-F765-4AEF-B7F1-D2874B49F805}" type="slidenum">
              <a:rPr lang="en-IE" smtClean="0"/>
              <a:pPr/>
              <a:t>6</a:t>
            </a:fld>
            <a:endParaRPr lang="en-IE"/>
          </a:p>
        </p:txBody>
      </p:sp>
    </p:spTree>
    <p:extLst>
      <p:ext uri="{BB962C8B-B14F-4D97-AF65-F5344CB8AC3E}">
        <p14:creationId xmlns:p14="http://schemas.microsoft.com/office/powerpoint/2010/main" val="2245754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This challenge forms part of the student </a:t>
            </a:r>
            <a:r>
              <a:rPr lang="en-IE" dirty="0" err="1"/>
              <a:t>tasksheet</a:t>
            </a:r>
            <a:r>
              <a:rPr lang="en-IE" dirty="0"/>
              <a:t> 1.2. Students must write the algorithm first. The next slide shows some suggestions on how to code this problem.</a:t>
            </a:r>
          </a:p>
          <a:p>
            <a:r>
              <a:rPr lang="en-IE" dirty="0"/>
              <a:t>Encourage students, in paired programming style, to verify each other’s code and test for bugs and logical errors.</a:t>
            </a:r>
          </a:p>
          <a:p>
            <a:r>
              <a:rPr lang="en-IE" dirty="0"/>
              <a:t>Encourage students to write out their algorithms, and to use pseudo code where possible.</a:t>
            </a:r>
          </a:p>
          <a:p>
            <a:endParaRPr lang="en-IE" dirty="0"/>
          </a:p>
          <a:p>
            <a:r>
              <a:rPr lang="en-IE" dirty="0"/>
              <a:t>When students study LOOPS they will be able to offer the user unlimited amount of turns plus the option to exit the program.</a:t>
            </a:r>
          </a:p>
          <a:p>
            <a:r>
              <a:rPr lang="en-IE" dirty="0"/>
              <a:t>Also later in the course, students will be asked to test their program by programming every input from 00 to 99, again using LOOPS.</a:t>
            </a:r>
          </a:p>
        </p:txBody>
      </p:sp>
      <p:sp>
        <p:nvSpPr>
          <p:cNvPr id="4" name="Slide Number Placeholder 3"/>
          <p:cNvSpPr>
            <a:spLocks noGrp="1"/>
          </p:cNvSpPr>
          <p:nvPr>
            <p:ph type="sldNum" sz="quarter" idx="10"/>
          </p:nvPr>
        </p:nvSpPr>
        <p:spPr/>
        <p:txBody>
          <a:bodyPr/>
          <a:lstStyle/>
          <a:p>
            <a:fld id="{798E70F5-F765-4AEF-B7F1-D2874B49F805}" type="slidenum">
              <a:rPr lang="en-IE" smtClean="0"/>
              <a:pPr/>
              <a:t>7</a:t>
            </a:fld>
            <a:endParaRPr lang="en-IE"/>
          </a:p>
        </p:txBody>
      </p:sp>
    </p:spTree>
    <p:extLst>
      <p:ext uri="{BB962C8B-B14F-4D97-AF65-F5344CB8AC3E}">
        <p14:creationId xmlns:p14="http://schemas.microsoft.com/office/powerpoint/2010/main" val="4187299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Some students may progress to this slightly more difficult challenge. Or it could be set as a class task or home challenge.</a:t>
            </a:r>
          </a:p>
          <a:p>
            <a:r>
              <a:rPr lang="en-IE" dirty="0"/>
              <a:t>Preferably, a task of this nature is the ideal opportunity for a collaborative and shared task approach between small groups of students.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The fist major Computational Thinking challenge, presented via HTML, on the conversion of seconds to hours minutes seconds is aligned to this lesson on the website.</a:t>
            </a:r>
          </a:p>
          <a:p>
            <a:endParaRPr lang="en-IE" dirty="0"/>
          </a:p>
        </p:txBody>
      </p:sp>
      <p:sp>
        <p:nvSpPr>
          <p:cNvPr id="4" name="Slide Number Placeholder 3"/>
          <p:cNvSpPr>
            <a:spLocks noGrp="1"/>
          </p:cNvSpPr>
          <p:nvPr>
            <p:ph type="sldNum" sz="quarter" idx="10"/>
          </p:nvPr>
        </p:nvSpPr>
        <p:spPr/>
        <p:txBody>
          <a:bodyPr/>
          <a:lstStyle/>
          <a:p>
            <a:fld id="{798E70F5-F765-4AEF-B7F1-D2874B49F805}" type="slidenum">
              <a:rPr lang="en-IE" smtClean="0"/>
              <a:pPr/>
              <a:t>8</a:t>
            </a:fld>
            <a:endParaRPr lang="en-IE"/>
          </a:p>
        </p:txBody>
      </p:sp>
    </p:spTree>
    <p:extLst>
      <p:ext uri="{BB962C8B-B14F-4D97-AF65-F5344CB8AC3E}">
        <p14:creationId xmlns:p14="http://schemas.microsoft.com/office/powerpoint/2010/main" val="13166551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Strings are a form of data type.</a:t>
            </a:r>
          </a:p>
          <a:p>
            <a:r>
              <a:rPr lang="en-IE" dirty="0"/>
              <a:t>The main Learning Outcomes (LO) achieved are highlighted throughout the lesson and tasks.</a:t>
            </a:r>
          </a:p>
          <a:p>
            <a:r>
              <a:rPr lang="en-IE" dirty="0"/>
              <a:t>The list is not exhaustive, and consultation with the LCCS spec is encouraged at all times throughout the implementation of the course.</a:t>
            </a:r>
          </a:p>
          <a:p>
            <a:endParaRPr lang="en-IE" dirty="0"/>
          </a:p>
        </p:txBody>
      </p:sp>
      <p:sp>
        <p:nvSpPr>
          <p:cNvPr id="4" name="Slide Number Placeholder 3"/>
          <p:cNvSpPr>
            <a:spLocks noGrp="1"/>
          </p:cNvSpPr>
          <p:nvPr>
            <p:ph type="sldNum" sz="quarter" idx="10"/>
          </p:nvPr>
        </p:nvSpPr>
        <p:spPr/>
        <p:txBody>
          <a:bodyPr/>
          <a:lstStyle/>
          <a:p>
            <a:fld id="{B48CF78B-96D2-4305-8711-1B89159C1975}" type="slidenum">
              <a:rPr lang="en-IE" smtClean="0"/>
              <a:pPr/>
              <a:t>11</a:t>
            </a:fld>
            <a:endParaRPr lang="en-IE"/>
          </a:p>
        </p:txBody>
      </p:sp>
    </p:spTree>
    <p:extLst>
      <p:ext uri="{BB962C8B-B14F-4D97-AF65-F5344CB8AC3E}">
        <p14:creationId xmlns:p14="http://schemas.microsoft.com/office/powerpoint/2010/main" val="3035729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skills learned to analyse and create strings will serve the students well for conditional statements and also for </a:t>
            </a:r>
            <a:r>
              <a:rPr lang="en-IE"/>
              <a:t>learning lists.</a:t>
            </a:r>
          </a:p>
        </p:txBody>
      </p:sp>
      <p:sp>
        <p:nvSpPr>
          <p:cNvPr id="4" name="Slide Number Placeholder 3"/>
          <p:cNvSpPr>
            <a:spLocks noGrp="1"/>
          </p:cNvSpPr>
          <p:nvPr>
            <p:ph type="sldNum" sz="quarter" idx="10"/>
          </p:nvPr>
        </p:nvSpPr>
        <p:spPr/>
        <p:txBody>
          <a:bodyPr/>
          <a:lstStyle/>
          <a:p>
            <a:fld id="{B48CF78B-96D2-4305-8711-1B89159C1975}" type="slidenum">
              <a:rPr lang="en-IE" smtClean="0"/>
              <a:pPr/>
              <a:t>12</a:t>
            </a:fld>
            <a:endParaRPr lang="en-IE"/>
          </a:p>
        </p:txBody>
      </p:sp>
    </p:spTree>
    <p:extLst>
      <p:ext uri="{BB962C8B-B14F-4D97-AF65-F5344CB8AC3E}">
        <p14:creationId xmlns:p14="http://schemas.microsoft.com/office/powerpoint/2010/main" val="1371341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Link to very first use of python in class. Encourage use of double quotes.</a:t>
            </a:r>
          </a:p>
        </p:txBody>
      </p:sp>
      <p:sp>
        <p:nvSpPr>
          <p:cNvPr id="4" name="Slide Number Placeholder 3"/>
          <p:cNvSpPr>
            <a:spLocks noGrp="1"/>
          </p:cNvSpPr>
          <p:nvPr>
            <p:ph type="sldNum" sz="quarter" idx="10"/>
          </p:nvPr>
        </p:nvSpPr>
        <p:spPr/>
        <p:txBody>
          <a:bodyPr/>
          <a:lstStyle/>
          <a:p>
            <a:fld id="{B48CF78B-96D2-4305-8711-1B89159C1975}" type="slidenum">
              <a:rPr lang="en-IE" smtClean="0"/>
              <a:pPr/>
              <a:t>13</a:t>
            </a:fld>
            <a:endParaRPr lang="en-IE"/>
          </a:p>
        </p:txBody>
      </p:sp>
    </p:spTree>
    <p:extLst>
      <p:ext uri="{BB962C8B-B14F-4D97-AF65-F5344CB8AC3E}">
        <p14:creationId xmlns:p14="http://schemas.microsoft.com/office/powerpoint/2010/main" val="9758276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Emphasise the first index is ZERO and strings are a form of data type ….. Very popular type in Python</a:t>
            </a:r>
          </a:p>
        </p:txBody>
      </p:sp>
      <p:sp>
        <p:nvSpPr>
          <p:cNvPr id="4" name="Slide Number Placeholder 3"/>
          <p:cNvSpPr>
            <a:spLocks noGrp="1"/>
          </p:cNvSpPr>
          <p:nvPr>
            <p:ph type="sldNum" sz="quarter" idx="10"/>
          </p:nvPr>
        </p:nvSpPr>
        <p:spPr/>
        <p:txBody>
          <a:bodyPr/>
          <a:lstStyle/>
          <a:p>
            <a:fld id="{B48CF78B-96D2-4305-8711-1B89159C1975}" type="slidenum">
              <a:rPr lang="en-IE" smtClean="0"/>
              <a:pPr/>
              <a:t>14</a:t>
            </a:fld>
            <a:endParaRPr lang="en-IE"/>
          </a:p>
        </p:txBody>
      </p:sp>
    </p:spTree>
    <p:extLst>
      <p:ext uri="{BB962C8B-B14F-4D97-AF65-F5344CB8AC3E}">
        <p14:creationId xmlns:p14="http://schemas.microsoft.com/office/powerpoint/2010/main" val="1082408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skills learned to analyse and create strings will serve the students well for conditional statements and also for </a:t>
            </a:r>
            <a:r>
              <a:rPr lang="en-IE"/>
              <a:t>learning lists.</a:t>
            </a:r>
          </a:p>
        </p:txBody>
      </p:sp>
      <p:sp>
        <p:nvSpPr>
          <p:cNvPr id="4" name="Slide Number Placeholder 3"/>
          <p:cNvSpPr>
            <a:spLocks noGrp="1"/>
          </p:cNvSpPr>
          <p:nvPr>
            <p:ph type="sldNum" sz="quarter" idx="10"/>
          </p:nvPr>
        </p:nvSpPr>
        <p:spPr/>
        <p:txBody>
          <a:bodyPr/>
          <a:lstStyle/>
          <a:p>
            <a:fld id="{B48CF78B-96D2-4305-8711-1B89159C1975}" type="slidenum">
              <a:rPr lang="en-IE" smtClean="0"/>
              <a:pPr/>
              <a:t>18</a:t>
            </a:fld>
            <a:endParaRPr lang="en-IE"/>
          </a:p>
        </p:txBody>
      </p:sp>
    </p:spTree>
    <p:extLst>
      <p:ext uri="{BB962C8B-B14F-4D97-AF65-F5344CB8AC3E}">
        <p14:creationId xmlns:p14="http://schemas.microsoft.com/office/powerpoint/2010/main" val="3436296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Emphasise the first index is ZERO and strings are a form of data type ….. All basic  input and output  in Python is in the form of strings</a:t>
            </a:r>
          </a:p>
        </p:txBody>
      </p:sp>
      <p:sp>
        <p:nvSpPr>
          <p:cNvPr id="4" name="Slide Number Placeholder 3"/>
          <p:cNvSpPr>
            <a:spLocks noGrp="1"/>
          </p:cNvSpPr>
          <p:nvPr>
            <p:ph type="sldNum" sz="quarter" idx="10"/>
          </p:nvPr>
        </p:nvSpPr>
        <p:spPr/>
        <p:txBody>
          <a:bodyPr/>
          <a:lstStyle/>
          <a:p>
            <a:fld id="{B48CF78B-96D2-4305-8711-1B89159C1975}" type="slidenum">
              <a:rPr lang="en-IE" smtClean="0"/>
              <a:pPr/>
              <a:t>19</a:t>
            </a:fld>
            <a:endParaRPr lang="en-IE"/>
          </a:p>
        </p:txBody>
      </p:sp>
    </p:spTree>
    <p:extLst>
      <p:ext uri="{BB962C8B-B14F-4D97-AF65-F5344CB8AC3E}">
        <p14:creationId xmlns:p14="http://schemas.microsoft.com/office/powerpoint/2010/main" val="1489879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skills learned to analyse and create strings will serve the students well for conditional statements and also for </a:t>
            </a:r>
            <a:r>
              <a:rPr lang="en-IE"/>
              <a:t>learning lists.</a:t>
            </a:r>
          </a:p>
        </p:txBody>
      </p:sp>
      <p:sp>
        <p:nvSpPr>
          <p:cNvPr id="4" name="Slide Number Placeholder 3"/>
          <p:cNvSpPr>
            <a:spLocks noGrp="1"/>
          </p:cNvSpPr>
          <p:nvPr>
            <p:ph type="sldNum" sz="quarter" idx="10"/>
          </p:nvPr>
        </p:nvSpPr>
        <p:spPr/>
        <p:txBody>
          <a:bodyPr/>
          <a:lstStyle/>
          <a:p>
            <a:fld id="{B48CF78B-96D2-4305-8711-1B89159C1975}" type="slidenum">
              <a:rPr lang="en-IE" smtClean="0"/>
              <a:pPr/>
              <a:t>30</a:t>
            </a:fld>
            <a:endParaRPr lang="en-IE"/>
          </a:p>
        </p:txBody>
      </p:sp>
    </p:spTree>
    <p:extLst>
      <p:ext uri="{BB962C8B-B14F-4D97-AF65-F5344CB8AC3E}">
        <p14:creationId xmlns:p14="http://schemas.microsoft.com/office/powerpoint/2010/main" val="2995695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Encourage the students to experiment and continue to research the Python Docs -&gt; Tutorial -&gt; Strings</a:t>
            </a:r>
          </a:p>
        </p:txBody>
      </p:sp>
      <p:sp>
        <p:nvSpPr>
          <p:cNvPr id="4" name="Slide Number Placeholder 3"/>
          <p:cNvSpPr>
            <a:spLocks noGrp="1"/>
          </p:cNvSpPr>
          <p:nvPr>
            <p:ph type="sldNum" sz="quarter" idx="10"/>
          </p:nvPr>
        </p:nvSpPr>
        <p:spPr/>
        <p:txBody>
          <a:bodyPr/>
          <a:lstStyle/>
          <a:p>
            <a:fld id="{B48CF78B-96D2-4305-8711-1B89159C1975}" type="slidenum">
              <a:rPr lang="en-IE" smtClean="0"/>
              <a:pPr/>
              <a:t>34</a:t>
            </a:fld>
            <a:endParaRPr lang="en-IE"/>
          </a:p>
        </p:txBody>
      </p:sp>
    </p:spTree>
    <p:extLst>
      <p:ext uri="{BB962C8B-B14F-4D97-AF65-F5344CB8AC3E}">
        <p14:creationId xmlns:p14="http://schemas.microsoft.com/office/powerpoint/2010/main" val="36325850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Encourage the students to experiment and continue to research the Python Docs -&gt; Tutorial -&gt; Strings</a:t>
            </a:r>
          </a:p>
        </p:txBody>
      </p:sp>
      <p:sp>
        <p:nvSpPr>
          <p:cNvPr id="4" name="Slide Number Placeholder 3"/>
          <p:cNvSpPr>
            <a:spLocks noGrp="1"/>
          </p:cNvSpPr>
          <p:nvPr>
            <p:ph type="sldNum" sz="quarter" idx="10"/>
          </p:nvPr>
        </p:nvSpPr>
        <p:spPr/>
        <p:txBody>
          <a:bodyPr/>
          <a:lstStyle/>
          <a:p>
            <a:fld id="{B48CF78B-96D2-4305-8711-1B89159C1975}" type="slidenum">
              <a:rPr lang="en-IE" smtClean="0"/>
              <a:pPr/>
              <a:t>35</a:t>
            </a:fld>
            <a:endParaRPr lang="en-IE"/>
          </a:p>
        </p:txBody>
      </p:sp>
    </p:spTree>
    <p:extLst>
      <p:ext uri="{BB962C8B-B14F-4D97-AF65-F5344CB8AC3E}">
        <p14:creationId xmlns:p14="http://schemas.microsoft.com/office/powerpoint/2010/main" val="5172879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Encourage the students to type in this code, save in a file in their storage space, and edit and experiment</a:t>
            </a:r>
          </a:p>
        </p:txBody>
      </p:sp>
      <p:sp>
        <p:nvSpPr>
          <p:cNvPr id="4" name="Slide Number Placeholder 3"/>
          <p:cNvSpPr>
            <a:spLocks noGrp="1"/>
          </p:cNvSpPr>
          <p:nvPr>
            <p:ph type="sldNum" sz="quarter" idx="10"/>
          </p:nvPr>
        </p:nvSpPr>
        <p:spPr/>
        <p:txBody>
          <a:bodyPr/>
          <a:lstStyle/>
          <a:p>
            <a:fld id="{B48CF78B-96D2-4305-8711-1B89159C1975}" type="slidenum">
              <a:rPr lang="en-IE" smtClean="0"/>
              <a:pPr/>
              <a:t>37</a:t>
            </a:fld>
            <a:endParaRPr lang="en-IE"/>
          </a:p>
        </p:txBody>
      </p:sp>
    </p:spTree>
    <p:extLst>
      <p:ext uri="{BB962C8B-B14F-4D97-AF65-F5344CB8AC3E}">
        <p14:creationId xmlns:p14="http://schemas.microsoft.com/office/powerpoint/2010/main" val="5794607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word descriptions of the operations are important. (Slice, Concatenation, Assignment, etc….)</a:t>
            </a:r>
          </a:p>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Encourage students to predict the outcomes. The PRIMM method will encourage engagement. (Predict Run Investigate Modify Make)</a:t>
            </a:r>
          </a:p>
          <a:p>
            <a:r>
              <a:rPr lang="en-IE" dirty="0"/>
              <a:t>The assignment and </a:t>
            </a:r>
            <a:r>
              <a:rPr lang="en-IE" dirty="0" err="1"/>
              <a:t>concat</a:t>
            </a:r>
            <a:r>
              <a:rPr lang="en-IE" dirty="0"/>
              <a:t> are useful for the solution to the next challenge.</a:t>
            </a:r>
          </a:p>
        </p:txBody>
      </p:sp>
      <p:sp>
        <p:nvSpPr>
          <p:cNvPr id="4" name="Slide Number Placeholder 3"/>
          <p:cNvSpPr>
            <a:spLocks noGrp="1"/>
          </p:cNvSpPr>
          <p:nvPr>
            <p:ph type="sldNum" sz="quarter" idx="10"/>
          </p:nvPr>
        </p:nvSpPr>
        <p:spPr/>
        <p:txBody>
          <a:bodyPr/>
          <a:lstStyle/>
          <a:p>
            <a:fld id="{B48CF78B-96D2-4305-8711-1B89159C1975}" type="slidenum">
              <a:rPr lang="en-IE" smtClean="0"/>
              <a:pPr/>
              <a:t>46</a:t>
            </a:fld>
            <a:endParaRPr lang="en-IE"/>
          </a:p>
        </p:txBody>
      </p:sp>
    </p:spTree>
    <p:extLst>
      <p:ext uri="{BB962C8B-B14F-4D97-AF65-F5344CB8AC3E}">
        <p14:creationId xmlns:p14="http://schemas.microsoft.com/office/powerpoint/2010/main" val="16181496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control characters in ASCII still in common use include:</a:t>
            </a:r>
          </a:p>
          <a:p>
            <a:r>
              <a:rPr lang="en-GB" dirty="0"/>
              <a:t>0 (null, NUL, \0, ^@), originally intended to be an ignored character, but now used by many programming languages to mark the end of a string.</a:t>
            </a:r>
          </a:p>
          <a:p>
            <a:r>
              <a:rPr lang="en-GB" dirty="0"/>
              <a:t>7 (bell, BEL, \a, ^G), which may cause the device receiving it to emit a warning of some kind (usually audible).</a:t>
            </a:r>
          </a:p>
          <a:p>
            <a:r>
              <a:rPr lang="en-GB" dirty="0"/>
              <a:t>8 (backspace, BS, \b, ^H), used either to erase the last character printed or to overprint it.</a:t>
            </a:r>
          </a:p>
          <a:p>
            <a:r>
              <a:rPr lang="en-GB" dirty="0"/>
              <a:t>9 (horizontal tab, HT, \t, ^I), moves the printing position some spaces to the right.</a:t>
            </a:r>
          </a:p>
          <a:p>
            <a:r>
              <a:rPr lang="en-GB" dirty="0"/>
              <a:t>10 (line feed, LF, \n, ^J), used as the end of line marker in most UNIX systems and variants.</a:t>
            </a:r>
          </a:p>
          <a:p>
            <a:r>
              <a:rPr lang="en-GB" dirty="0"/>
              <a:t>12 (form feed, FF, \f, ^L), to cause a printer to eject paper to the top of the next page, or a video terminal to clear the screen.</a:t>
            </a:r>
          </a:p>
          <a:p>
            <a:r>
              <a:rPr lang="en-GB" dirty="0"/>
              <a:t>13 (carriage return, CR, \r, ^M), used as the end of line marker in Mac OS, OS-9, FLEX (and variants). A carriage return/line feed pair is used by CP/M-80 and its derivatives including DOS and Windows, and by Application Layer protocols such as HTTP.</a:t>
            </a:r>
          </a:p>
          <a:p>
            <a:r>
              <a:rPr lang="en-GB" dirty="0"/>
              <a:t>27 (escape, ESC, \e [GCC only], ^[).</a:t>
            </a:r>
          </a:p>
          <a:p>
            <a:r>
              <a:rPr lang="en-GB" dirty="0"/>
              <a:t>127 (delete, DEL, ^?), originally intended to be an ignored character, but now used in some systems to erase a character. </a:t>
            </a:r>
          </a:p>
        </p:txBody>
      </p:sp>
      <p:sp>
        <p:nvSpPr>
          <p:cNvPr id="4" name="Slide Number Placeholder 3"/>
          <p:cNvSpPr>
            <a:spLocks noGrp="1"/>
          </p:cNvSpPr>
          <p:nvPr>
            <p:ph type="sldNum" sz="quarter" idx="10"/>
          </p:nvPr>
        </p:nvSpPr>
        <p:spPr/>
        <p:txBody>
          <a:bodyPr/>
          <a:lstStyle/>
          <a:p>
            <a:fld id="{83410D0C-670B-4833-BA5C-40E2697723B3}" type="slidenum">
              <a:rPr lang="en-GB" smtClean="0"/>
              <a:t>48</a:t>
            </a:fld>
            <a:endParaRPr lang="en-GB"/>
          </a:p>
        </p:txBody>
      </p:sp>
    </p:spTree>
    <p:extLst>
      <p:ext uri="{BB962C8B-B14F-4D97-AF65-F5344CB8AC3E}">
        <p14:creationId xmlns:p14="http://schemas.microsoft.com/office/powerpoint/2010/main" val="2205370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Numbers can be encoded, but are stored as a text character</a:t>
            </a:r>
            <a:r>
              <a:rPr lang="en-GB" baseline="0" dirty="0"/>
              <a:t> (like a string in a database), so can not be used in calculations.</a:t>
            </a:r>
            <a:endParaRPr lang="en-GB" dirty="0"/>
          </a:p>
        </p:txBody>
      </p:sp>
      <p:sp>
        <p:nvSpPr>
          <p:cNvPr id="4" name="Slide Number Placeholder 3"/>
          <p:cNvSpPr>
            <a:spLocks noGrp="1"/>
          </p:cNvSpPr>
          <p:nvPr>
            <p:ph type="sldNum" sz="quarter" idx="10"/>
          </p:nvPr>
        </p:nvSpPr>
        <p:spPr/>
        <p:txBody>
          <a:bodyPr/>
          <a:lstStyle/>
          <a:p>
            <a:fld id="{83410D0C-670B-4833-BA5C-40E2697723B3}" type="slidenum">
              <a:rPr lang="en-GB" smtClean="0"/>
              <a:t>52</a:t>
            </a:fld>
            <a:endParaRPr lang="en-GB"/>
          </a:p>
        </p:txBody>
      </p:sp>
    </p:spTree>
    <p:extLst>
      <p:ext uri="{BB962C8B-B14F-4D97-AF65-F5344CB8AC3E}">
        <p14:creationId xmlns:p14="http://schemas.microsoft.com/office/powerpoint/2010/main" val="2205370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410D0C-670B-4833-BA5C-40E2697723B3}" type="slidenum">
              <a:rPr lang="en-GB" smtClean="0"/>
              <a:t>53</a:t>
            </a:fld>
            <a:endParaRPr lang="en-GB"/>
          </a:p>
        </p:txBody>
      </p:sp>
    </p:spTree>
    <p:extLst>
      <p:ext uri="{BB962C8B-B14F-4D97-AF65-F5344CB8AC3E}">
        <p14:creationId xmlns:p14="http://schemas.microsoft.com/office/powerpoint/2010/main" val="24149932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410D0C-670B-4833-BA5C-40E2697723B3}" type="slidenum">
              <a:rPr lang="en-GB" smtClean="0"/>
              <a:t>54</a:t>
            </a:fld>
            <a:endParaRPr lang="en-GB"/>
          </a:p>
        </p:txBody>
      </p:sp>
    </p:spTree>
    <p:extLst>
      <p:ext uri="{BB962C8B-B14F-4D97-AF65-F5344CB8AC3E}">
        <p14:creationId xmlns:p14="http://schemas.microsoft.com/office/powerpoint/2010/main" val="25835114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410D0C-670B-4833-BA5C-40E2697723B3}" type="slidenum">
              <a:rPr lang="en-GB" smtClean="0"/>
              <a:t>55</a:t>
            </a:fld>
            <a:endParaRPr lang="en-GB"/>
          </a:p>
        </p:txBody>
      </p:sp>
    </p:spTree>
    <p:extLst>
      <p:ext uri="{BB962C8B-B14F-4D97-AF65-F5344CB8AC3E}">
        <p14:creationId xmlns:p14="http://schemas.microsoft.com/office/powerpoint/2010/main" val="33993471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410D0C-670B-4833-BA5C-40E2697723B3}" type="slidenum">
              <a:rPr lang="en-GB" smtClean="0"/>
              <a:t>56</a:t>
            </a:fld>
            <a:endParaRPr lang="en-GB"/>
          </a:p>
        </p:txBody>
      </p:sp>
    </p:spTree>
    <p:extLst>
      <p:ext uri="{BB962C8B-B14F-4D97-AF65-F5344CB8AC3E}">
        <p14:creationId xmlns:p14="http://schemas.microsoft.com/office/powerpoint/2010/main" val="23924943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410D0C-670B-4833-BA5C-40E2697723B3}" type="slidenum">
              <a:rPr lang="en-GB" smtClean="0"/>
              <a:t>57</a:t>
            </a:fld>
            <a:endParaRPr lang="en-GB"/>
          </a:p>
        </p:txBody>
      </p:sp>
    </p:spTree>
    <p:extLst>
      <p:ext uri="{BB962C8B-B14F-4D97-AF65-F5344CB8AC3E}">
        <p14:creationId xmlns:p14="http://schemas.microsoft.com/office/powerpoint/2010/main" val="35607768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410D0C-670B-4833-BA5C-40E2697723B3}" type="slidenum">
              <a:rPr lang="en-GB" smtClean="0"/>
              <a:t>58</a:t>
            </a:fld>
            <a:endParaRPr lang="en-GB"/>
          </a:p>
        </p:txBody>
      </p:sp>
    </p:spTree>
    <p:extLst>
      <p:ext uri="{BB962C8B-B14F-4D97-AF65-F5344CB8AC3E}">
        <p14:creationId xmlns:p14="http://schemas.microsoft.com/office/powerpoint/2010/main" val="41435836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410D0C-670B-4833-BA5C-40E2697723B3}" type="slidenum">
              <a:rPr lang="en-GB" smtClean="0"/>
              <a:t>59</a:t>
            </a:fld>
            <a:endParaRPr lang="en-GB"/>
          </a:p>
        </p:txBody>
      </p:sp>
    </p:spTree>
    <p:extLst>
      <p:ext uri="{BB962C8B-B14F-4D97-AF65-F5344CB8AC3E}">
        <p14:creationId xmlns:p14="http://schemas.microsoft.com/office/powerpoint/2010/main" val="2156854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410D0C-670B-4833-BA5C-40E2697723B3}" type="slidenum">
              <a:rPr lang="en-GB" smtClean="0"/>
              <a:t>60</a:t>
            </a:fld>
            <a:endParaRPr lang="en-GB"/>
          </a:p>
        </p:txBody>
      </p:sp>
    </p:spTree>
    <p:extLst>
      <p:ext uri="{BB962C8B-B14F-4D97-AF65-F5344CB8AC3E}">
        <p14:creationId xmlns:p14="http://schemas.microsoft.com/office/powerpoint/2010/main" val="34669632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410D0C-670B-4833-BA5C-40E2697723B3}" type="slidenum">
              <a:rPr lang="en-GB" smtClean="0"/>
              <a:t>61</a:t>
            </a:fld>
            <a:endParaRPr lang="en-GB"/>
          </a:p>
        </p:txBody>
      </p:sp>
    </p:spTree>
    <p:extLst>
      <p:ext uri="{BB962C8B-B14F-4D97-AF65-F5344CB8AC3E}">
        <p14:creationId xmlns:p14="http://schemas.microsoft.com/office/powerpoint/2010/main" val="34531910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410D0C-670B-4833-BA5C-40E2697723B3}" type="slidenum">
              <a:rPr lang="en-GB" smtClean="0"/>
              <a:t>62</a:t>
            </a:fld>
            <a:endParaRPr lang="en-GB"/>
          </a:p>
        </p:txBody>
      </p:sp>
    </p:spTree>
    <p:extLst>
      <p:ext uri="{BB962C8B-B14F-4D97-AF65-F5344CB8AC3E}">
        <p14:creationId xmlns:p14="http://schemas.microsoft.com/office/powerpoint/2010/main" val="6767863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3410D0C-670B-4833-BA5C-40E2697723B3}" type="slidenum">
              <a:rPr lang="en-GB" smtClean="0"/>
              <a:t>63</a:t>
            </a:fld>
            <a:endParaRPr lang="en-GB"/>
          </a:p>
        </p:txBody>
      </p:sp>
    </p:spTree>
    <p:extLst>
      <p:ext uri="{BB962C8B-B14F-4D97-AF65-F5344CB8AC3E}">
        <p14:creationId xmlns:p14="http://schemas.microsoft.com/office/powerpoint/2010/main" val="36002944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bigideasdeh-43wiki.wikispaces.com/expected+outcomes+of+phase+i+therapy" TargetMode="External"/><Relationship Id="rId2" Type="http://schemas.openxmlformats.org/officeDocument/2006/relationships/image" Target="../media/image2.jpg&amp;ehk=qP8SYZNcVvQJKYjeFmtgvA&amp;r=0&amp;pid=OfficeInsert"/><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focaia.blogspot.com/2014_10_01_archive.html" TargetMode="External"/><Relationship Id="rId2" Type="http://schemas.openxmlformats.org/officeDocument/2006/relationships/image" Target="../media/image3.png&amp;ehk=OTXc08G4oHYjnA33wvKmnw&amp;r=0&amp;pid=OfficeInsert"/><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bigideasdeh-43wiki.wikispaces.com/expected+outcomes+of+phase+i+therapy" TargetMode="External"/><Relationship Id="rId2" Type="http://schemas.openxmlformats.org/officeDocument/2006/relationships/image" Target="../media/image2.jpg&amp;ehk=qP8SYZNcVvQJKYjeFmtgvA&amp;r=0&amp;pid=OfficeInsert"/><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focaia.blogspot.com/2014_10_01_archive.html" TargetMode="External"/><Relationship Id="rId2" Type="http://schemas.openxmlformats.org/officeDocument/2006/relationships/image" Target="../media/image3.png&amp;ehk=OTXc08G4oHYjnA33wvKmnw&amp;r=0&amp;pid=OfficeInsert"/><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Only">
    <p:bg>
      <p:bgPr>
        <a:blipFill>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2749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13F3F-4261-4FB4-B26F-332750FEB3A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37A79B7-4BAA-44BA-AB00-078DFAE9BAD2}"/>
              </a:ext>
            </a:extLst>
          </p:cNvPr>
          <p:cNvPicPr>
            <a:picLocks noChangeAspect="1"/>
          </p:cNvPicPr>
          <p:nvPr userDrawn="1"/>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17811"/>
            <a:ext cx="678390" cy="678390"/>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13F3F-4261-4FB4-B26F-332750FEB3A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13F3F-4261-4FB4-B26F-332750FEB3A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713F3F-4261-4FB4-B26F-332750FEB3A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713F3F-4261-4FB4-B26F-332750FEB3A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713F3F-4261-4FB4-B26F-332750FEB3A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713F3F-4261-4FB4-B26F-332750FEB3AF}" type="slidenum">
              <a:rPr lang="en-US" smtClean="0"/>
              <a:pPr/>
              <a:t>‹#›</a:t>
            </a:fld>
            <a:endParaRPr lang="en-US"/>
          </a:p>
        </p:txBody>
      </p:sp>
      <p:pic>
        <p:nvPicPr>
          <p:cNvPr id="5" name="Picture 4">
            <a:extLst>
              <a:ext uri="{FF2B5EF4-FFF2-40B4-BE49-F238E27FC236}">
                <a16:creationId xmlns:a16="http://schemas.microsoft.com/office/drawing/2014/main" id="{77E64BE4-A3C4-456C-B0FA-3CFF39746F8A}"/>
              </a:ext>
            </a:extLst>
          </p:cNvPr>
          <p:cNvPicPr>
            <a:picLocks noChangeAspect="1"/>
          </p:cNvPicPr>
          <p:nvPr userDrawn="1"/>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rot="1919748">
            <a:off x="7030002" y="631836"/>
            <a:ext cx="1609807" cy="72799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F0F0C8"/>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9783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713F3F-4261-4FB4-B26F-332750FEB3A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713F3F-4261-4FB4-B26F-332750FEB3AF}"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13F3F-4261-4FB4-B26F-332750FEB3AF}"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13F3F-4261-4FB4-B26F-332750FEB3AF}"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13F3F-4261-4FB4-B26F-332750FEB3AF}" type="slidenum">
              <a:rPr lang="en-US" smtClean="0"/>
              <a:pPr/>
              <a:t>‹#›</a:t>
            </a:fld>
            <a:endParaRPr lang="en-US"/>
          </a:p>
        </p:txBody>
      </p:sp>
    </p:spTree>
    <p:extLst>
      <p:ext uri="{BB962C8B-B14F-4D97-AF65-F5344CB8AC3E}">
        <p14:creationId xmlns:p14="http://schemas.microsoft.com/office/powerpoint/2010/main" val="27452130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37A79B7-4BAA-44BA-AB00-078DFAE9BAD2}"/>
              </a:ext>
            </a:extLst>
          </p:cNvPr>
          <p:cNvPicPr>
            <a:picLocks noChangeAspect="1"/>
          </p:cNvPicPr>
          <p:nvPr userDrawn="1"/>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17811"/>
            <a:ext cx="678390" cy="678390"/>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13F3F-4261-4FB4-B26F-332750FEB3AF}" type="slidenum">
              <a:rPr lang="en-US" smtClean="0"/>
              <a:pPr/>
              <a:t>‹#›</a:t>
            </a:fld>
            <a:endParaRPr lang="en-US"/>
          </a:p>
        </p:txBody>
      </p:sp>
    </p:spTree>
    <p:extLst>
      <p:ext uri="{BB962C8B-B14F-4D97-AF65-F5344CB8AC3E}">
        <p14:creationId xmlns:p14="http://schemas.microsoft.com/office/powerpoint/2010/main" val="22866406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13F3F-4261-4FB4-B26F-332750FEB3AF}" type="slidenum">
              <a:rPr lang="en-US" smtClean="0"/>
              <a:pPr/>
              <a:t>‹#›</a:t>
            </a:fld>
            <a:endParaRPr lang="en-US"/>
          </a:p>
        </p:txBody>
      </p:sp>
    </p:spTree>
    <p:extLst>
      <p:ext uri="{BB962C8B-B14F-4D97-AF65-F5344CB8AC3E}">
        <p14:creationId xmlns:p14="http://schemas.microsoft.com/office/powerpoint/2010/main" val="40576918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713F3F-4261-4FB4-B26F-332750FEB3AF}" type="slidenum">
              <a:rPr lang="en-US" smtClean="0"/>
              <a:pPr/>
              <a:t>‹#›</a:t>
            </a:fld>
            <a:endParaRPr lang="en-US"/>
          </a:p>
        </p:txBody>
      </p:sp>
    </p:spTree>
    <p:extLst>
      <p:ext uri="{BB962C8B-B14F-4D97-AF65-F5344CB8AC3E}">
        <p14:creationId xmlns:p14="http://schemas.microsoft.com/office/powerpoint/2010/main" val="582077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713F3F-4261-4FB4-B26F-332750FEB3AF}" type="slidenum">
              <a:rPr lang="en-US" smtClean="0"/>
              <a:pPr/>
              <a:t>‹#›</a:t>
            </a:fld>
            <a:endParaRPr lang="en-US"/>
          </a:p>
        </p:txBody>
      </p:sp>
    </p:spTree>
    <p:extLst>
      <p:ext uri="{BB962C8B-B14F-4D97-AF65-F5344CB8AC3E}">
        <p14:creationId xmlns:p14="http://schemas.microsoft.com/office/powerpoint/2010/main" val="30561927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713F3F-4261-4FB4-B26F-332750FEB3AF}" type="slidenum">
              <a:rPr lang="en-US" smtClean="0"/>
              <a:pPr/>
              <a:t>‹#›</a:t>
            </a:fld>
            <a:endParaRPr lang="en-US"/>
          </a:p>
        </p:txBody>
      </p:sp>
    </p:spTree>
    <p:extLst>
      <p:ext uri="{BB962C8B-B14F-4D97-AF65-F5344CB8AC3E}">
        <p14:creationId xmlns:p14="http://schemas.microsoft.com/office/powerpoint/2010/main" val="27157207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713F3F-4261-4FB4-B26F-332750FEB3AF}" type="slidenum">
              <a:rPr lang="en-US" smtClean="0"/>
              <a:pPr/>
              <a:t>‹#›</a:t>
            </a:fld>
            <a:endParaRPr lang="en-US"/>
          </a:p>
        </p:txBody>
      </p:sp>
      <p:pic>
        <p:nvPicPr>
          <p:cNvPr id="5" name="Picture 4">
            <a:extLst>
              <a:ext uri="{FF2B5EF4-FFF2-40B4-BE49-F238E27FC236}">
                <a16:creationId xmlns:a16="http://schemas.microsoft.com/office/drawing/2014/main" id="{77E64BE4-A3C4-456C-B0FA-3CFF39746F8A}"/>
              </a:ext>
            </a:extLst>
          </p:cNvPr>
          <p:cNvPicPr>
            <a:picLocks noChangeAspect="1"/>
          </p:cNvPicPr>
          <p:nvPr userDrawn="1"/>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rot="1919748">
            <a:off x="7030002" y="631836"/>
            <a:ext cx="1609807" cy="727990"/>
          </a:xfrm>
          <a:prstGeom prst="rect">
            <a:avLst/>
          </a:prstGeom>
        </p:spPr>
      </p:pic>
    </p:spTree>
    <p:extLst>
      <p:ext uri="{BB962C8B-B14F-4D97-AF65-F5344CB8AC3E}">
        <p14:creationId xmlns:p14="http://schemas.microsoft.com/office/powerpoint/2010/main" val="6545984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38555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713F3F-4261-4FB4-B26F-332750FEB3AF}" type="slidenum">
              <a:rPr lang="en-US" smtClean="0"/>
              <a:pPr/>
              <a:t>‹#›</a:t>
            </a:fld>
            <a:endParaRPr lang="en-US"/>
          </a:p>
        </p:txBody>
      </p:sp>
    </p:spTree>
    <p:extLst>
      <p:ext uri="{BB962C8B-B14F-4D97-AF65-F5344CB8AC3E}">
        <p14:creationId xmlns:p14="http://schemas.microsoft.com/office/powerpoint/2010/main" val="24698920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713F3F-4261-4FB4-B26F-332750FEB3AF}" type="slidenum">
              <a:rPr lang="en-US" smtClean="0"/>
              <a:pPr/>
              <a:t>‹#›</a:t>
            </a:fld>
            <a:endParaRPr lang="en-US"/>
          </a:p>
        </p:txBody>
      </p:sp>
    </p:spTree>
    <p:extLst>
      <p:ext uri="{BB962C8B-B14F-4D97-AF65-F5344CB8AC3E}">
        <p14:creationId xmlns:p14="http://schemas.microsoft.com/office/powerpoint/2010/main" val="384475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7E6161-D4EF-4684-A1D9-2DE6B480031D}" type="datetimeFigureOut">
              <a:rPr lang="en-US" smtClean="0"/>
              <a:pPr/>
              <a:t>11/27/2023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13F3F-4261-4FB4-B26F-332750FEB3AF}" type="slidenum">
              <a:rPr lang="en-US" smtClean="0"/>
              <a:pPr/>
              <a:t>‹#›</a:t>
            </a:fld>
            <a:endParaRPr lang="en-US"/>
          </a:p>
        </p:txBody>
      </p:sp>
    </p:spTree>
    <p:extLst>
      <p:ext uri="{BB962C8B-B14F-4D97-AF65-F5344CB8AC3E}">
        <p14:creationId xmlns:p14="http://schemas.microsoft.com/office/powerpoint/2010/main" val="10841808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13F3F-4261-4FB4-B26F-332750FEB3AF}" type="slidenum">
              <a:rPr lang="en-US" smtClean="0"/>
              <a:pPr/>
              <a:t>‹#›</a:t>
            </a:fld>
            <a:endParaRPr lang="en-US"/>
          </a:p>
        </p:txBody>
      </p:sp>
    </p:spTree>
    <p:extLst>
      <p:ext uri="{BB962C8B-B14F-4D97-AF65-F5344CB8AC3E}">
        <p14:creationId xmlns:p14="http://schemas.microsoft.com/office/powerpoint/2010/main" val="171534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Only">
    <p:bg>
      <p:bgPr>
        <a:blipFill>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2042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7E6161-D4EF-4684-A1D9-2DE6B480031D}" type="datetimeFigureOut">
              <a:rPr lang="en-US" smtClean="0"/>
              <a:pPr/>
              <a:t>11/27/2023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713F3F-4261-4FB4-B26F-332750FEB3A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61" r:id="rId9"/>
    <p:sldLayoutId id="2147483656" r:id="rId10"/>
    <p:sldLayoutId id="2147483657" r:id="rId11"/>
    <p:sldLayoutId id="2147483658" r:id="rId12"/>
    <p:sldLayoutId id="2147483659"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AFAC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7E6161-D4EF-4684-A1D9-2DE6B480031D}" type="datetimeFigureOut">
              <a:rPr lang="en-US" smtClean="0"/>
              <a:pPr/>
              <a:t>11/27/2023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713F3F-4261-4FB4-B26F-332750FEB3AF}" type="slidenum">
              <a:rPr lang="en-US" smtClean="0"/>
              <a:pPr/>
              <a:t>‹#›</a:t>
            </a:fld>
            <a:endParaRPr lang="en-US"/>
          </a:p>
        </p:txBody>
      </p:sp>
    </p:spTree>
    <p:extLst>
      <p:ext uri="{BB962C8B-B14F-4D97-AF65-F5344CB8AC3E}">
        <p14:creationId xmlns:p14="http://schemas.microsoft.com/office/powerpoint/2010/main" val="235856254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amp;ehk=H"/><Relationship Id="rId2" Type="http://schemas.openxmlformats.org/officeDocument/2006/relationships/notesSlide" Target="../notesSlides/notesSlide2.xml"/><Relationship Id="rId1" Type="http://schemas.openxmlformats.org/officeDocument/2006/relationships/slideLayout" Target="../slideLayouts/slideLayout21.xml"/><Relationship Id="rId4" Type="http://schemas.openxmlformats.org/officeDocument/2006/relationships/hyperlink" Target="http://population-based-intervention.wikispaces.com/Home-school+partnership"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png&amp;ehk=OTXc08G4oHYjnA33wvKmnw&amp;r=0&amp;pid=OfficeInsert"/><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hyperlink" Target="http://focaia.blogspot.com/2014_10_01_archive.html"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5.xml"/><Relationship Id="rId5" Type="http://schemas.openxmlformats.org/officeDocument/2006/relationships/image" Target="../media/image47.png"/><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4.xml"/><Relationship Id="rId1" Type="http://schemas.openxmlformats.org/officeDocument/2006/relationships/slideLayout" Target="../slideLayouts/slideLayout15.xml"/><Relationship Id="rId4" Type="http://schemas.openxmlformats.org/officeDocument/2006/relationships/hyperlink" Target="https://www.youtube.com/watch?v=5aJKKgSEUnY" TargetMode="Externa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467544" y="1970368"/>
            <a:ext cx="5036096" cy="1470025"/>
          </a:xfrm>
        </p:spPr>
        <p:txBody>
          <a:bodyPr/>
          <a:lstStyle/>
          <a:p>
            <a:r>
              <a:rPr lang="en-US" dirty="0"/>
              <a:t>Learning to Program</a:t>
            </a:r>
            <a:br>
              <a:rPr lang="en-US" dirty="0"/>
            </a:br>
            <a:r>
              <a:rPr lang="en-US" dirty="0"/>
              <a:t>in Python</a:t>
            </a:r>
          </a:p>
        </p:txBody>
      </p:sp>
      <p:sp>
        <p:nvSpPr>
          <p:cNvPr id="3" name="Subtitle 2"/>
          <p:cNvSpPr>
            <a:spLocks noGrp="1"/>
          </p:cNvSpPr>
          <p:nvPr>
            <p:ph type="subTitle" idx="4294967295"/>
          </p:nvPr>
        </p:nvSpPr>
        <p:spPr>
          <a:xfrm>
            <a:off x="4574299" y="3789040"/>
            <a:ext cx="3960440" cy="2160240"/>
          </a:xfrm>
        </p:spPr>
        <p:txBody>
          <a:bodyPr>
            <a:normAutofit/>
          </a:bodyPr>
          <a:lstStyle/>
          <a:p>
            <a:pPr marL="0" indent="0" algn="ctr">
              <a:buNone/>
            </a:pPr>
            <a:r>
              <a:rPr lang="en-US" sz="3600" b="1" dirty="0">
                <a:latin typeface="+mj-lt"/>
              </a:rPr>
              <a:t>Concept 1 </a:t>
            </a:r>
          </a:p>
          <a:p>
            <a:pPr marL="0" indent="0" algn="ctr">
              <a:buNone/>
            </a:pPr>
            <a:r>
              <a:rPr lang="en-US" sz="3600" b="1" dirty="0">
                <a:latin typeface="+mj-lt"/>
              </a:rPr>
              <a:t>Variables</a:t>
            </a:r>
          </a:p>
          <a:p>
            <a:pPr marL="0" indent="0" algn="ctr">
              <a:buNone/>
            </a:pPr>
            <a:r>
              <a:rPr lang="en-US" sz="3000" dirty="0"/>
              <a:t>  (and operators)</a:t>
            </a:r>
            <a:r>
              <a:rPr lang="en-US" sz="4000"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0CE6F0-0442-42C9-BC33-D29C4137F5FC}"/>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rot="20430709">
            <a:off x="181186" y="666702"/>
            <a:ext cx="1788011" cy="748770"/>
          </a:xfrm>
          <a:prstGeom prst="rect">
            <a:avLst/>
          </a:prstGeom>
        </p:spPr>
      </p:pic>
      <p:sp>
        <p:nvSpPr>
          <p:cNvPr id="2" name="Title 1"/>
          <p:cNvSpPr>
            <a:spLocks noGrp="1"/>
          </p:cNvSpPr>
          <p:nvPr>
            <p:ph type="title" idx="4294967295"/>
          </p:nvPr>
        </p:nvSpPr>
        <p:spPr>
          <a:xfrm>
            <a:off x="0" y="549275"/>
            <a:ext cx="8229600" cy="1143000"/>
          </a:xfrm>
        </p:spPr>
        <p:txBody>
          <a:bodyPr/>
          <a:lstStyle/>
          <a:p>
            <a:r>
              <a:rPr lang="en-IE" dirty="0"/>
              <a:t>Learning Intentions</a:t>
            </a:r>
          </a:p>
        </p:txBody>
      </p:sp>
      <p:sp>
        <p:nvSpPr>
          <p:cNvPr id="4" name="Content Placeholder 2">
            <a:extLst>
              <a:ext uri="{FF2B5EF4-FFF2-40B4-BE49-F238E27FC236}">
                <a16:creationId xmlns:a16="http://schemas.microsoft.com/office/drawing/2014/main" id="{BF4CAFD0-BAEE-4FDA-B99D-3BE23959E0F0}"/>
              </a:ext>
            </a:extLst>
          </p:cNvPr>
          <p:cNvSpPr txBox="1">
            <a:spLocks/>
          </p:cNvSpPr>
          <p:nvPr/>
        </p:nvSpPr>
        <p:spPr>
          <a:xfrm>
            <a:off x="395536" y="1844825"/>
            <a:ext cx="8640960" cy="331236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E" dirty="0"/>
              <a:t>From this lesson the students will be able to:</a:t>
            </a:r>
          </a:p>
          <a:p>
            <a:pPr lvl="1"/>
            <a:r>
              <a:rPr lang="en-IE" sz="4000" dirty="0"/>
              <a:t>Solve a numerical task and program their solution.</a:t>
            </a:r>
          </a:p>
        </p:txBody>
      </p:sp>
    </p:spTree>
    <p:extLst>
      <p:ext uri="{BB962C8B-B14F-4D97-AF65-F5344CB8AC3E}">
        <p14:creationId xmlns:p14="http://schemas.microsoft.com/office/powerpoint/2010/main" val="3258953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lipart&#10;&#10;Description generated with very high confidence">
            <a:extLst>
              <a:ext uri="{FF2B5EF4-FFF2-40B4-BE49-F238E27FC236}">
                <a16:creationId xmlns:a16="http://schemas.microsoft.com/office/drawing/2014/main" id="{0D187936-57C7-45B7-88FD-FFF7DC127A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26139" y="88261"/>
            <a:ext cx="981075" cy="1057275"/>
          </a:xfrm>
          <a:prstGeom prst="rect">
            <a:avLst/>
          </a:prstGeom>
        </p:spPr>
      </p:pic>
      <p:sp>
        <p:nvSpPr>
          <p:cNvPr id="2" name="Title 1"/>
          <p:cNvSpPr>
            <a:spLocks noGrp="1"/>
          </p:cNvSpPr>
          <p:nvPr>
            <p:ph type="title" idx="4294967295"/>
          </p:nvPr>
        </p:nvSpPr>
        <p:spPr>
          <a:xfrm>
            <a:off x="0" y="249238"/>
            <a:ext cx="8229600" cy="1143000"/>
          </a:xfrm>
        </p:spPr>
        <p:txBody>
          <a:bodyPr>
            <a:normAutofit/>
          </a:bodyPr>
          <a:lstStyle/>
          <a:p>
            <a:r>
              <a:rPr lang="en-US" dirty="0"/>
              <a:t>Create Your Own … Number Buster</a:t>
            </a:r>
          </a:p>
        </p:txBody>
      </p:sp>
      <p:sp>
        <p:nvSpPr>
          <p:cNvPr id="3" name="Content Placeholder 2"/>
          <p:cNvSpPr>
            <a:spLocks noGrp="1"/>
          </p:cNvSpPr>
          <p:nvPr>
            <p:ph idx="4294967295"/>
          </p:nvPr>
        </p:nvSpPr>
        <p:spPr>
          <a:xfrm>
            <a:off x="457200" y="1593521"/>
            <a:ext cx="8229600" cy="1866900"/>
          </a:xfrm>
          <a:ln>
            <a:solidFill>
              <a:schemeClr val="accent1"/>
            </a:solidFill>
          </a:ln>
        </p:spPr>
        <p:txBody>
          <a:bodyPr>
            <a:normAutofit fontScale="92500" lnSpcReduction="20000"/>
          </a:bodyPr>
          <a:lstStyle/>
          <a:p>
            <a:pPr marL="0" indent="0" algn="ctr">
              <a:buNone/>
            </a:pPr>
            <a:r>
              <a:rPr lang="en-US" sz="2800" dirty="0"/>
              <a:t>Your task is to write a program that will extract each digit of a 2 digit number.</a:t>
            </a:r>
          </a:p>
          <a:p>
            <a:pPr marL="0" indent="0" algn="ctr">
              <a:buNone/>
            </a:pPr>
            <a:r>
              <a:rPr lang="en-US" sz="2800" dirty="0"/>
              <a:t>The user will enter a 2 digit number such as 45 or 71.</a:t>
            </a:r>
          </a:p>
          <a:p>
            <a:pPr marL="0" indent="0" algn="ctr">
              <a:buNone/>
            </a:pPr>
            <a:r>
              <a:rPr lang="en-US" sz="2800" dirty="0"/>
              <a:t>Using operators you have learned, output the first digit and the second digit of the number.</a:t>
            </a:r>
          </a:p>
          <a:p>
            <a:pPr marL="0" indent="0" algn="ctr">
              <a:buNone/>
            </a:pPr>
            <a:endParaRPr lang="en-US" sz="2800" dirty="0"/>
          </a:p>
          <a:p>
            <a:endParaRPr lang="en-US" dirty="0"/>
          </a:p>
        </p:txBody>
      </p:sp>
      <p:sp>
        <p:nvSpPr>
          <p:cNvPr id="7" name="Content Placeholder 2">
            <a:extLst>
              <a:ext uri="{FF2B5EF4-FFF2-40B4-BE49-F238E27FC236}">
                <a16:creationId xmlns:a16="http://schemas.microsoft.com/office/drawing/2014/main" id="{36AD6991-F5DD-44AE-ABDB-B4F48E933AC7}"/>
              </a:ext>
            </a:extLst>
          </p:cNvPr>
          <p:cNvSpPr txBox="1">
            <a:spLocks/>
          </p:cNvSpPr>
          <p:nvPr/>
        </p:nvSpPr>
        <p:spPr>
          <a:xfrm>
            <a:off x="510170" y="3460421"/>
            <a:ext cx="8229600" cy="237626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400" b="1" u="sng" dirty="0">
                <a:solidFill>
                  <a:srgbClr val="FF0000"/>
                </a:solidFill>
              </a:rPr>
              <a:t>User Interface</a:t>
            </a:r>
          </a:p>
          <a:p>
            <a:r>
              <a:rPr lang="en-US" sz="2400" dirty="0"/>
              <a:t>Your program will prompt the user for the 2 digit number.</a:t>
            </a:r>
          </a:p>
          <a:p>
            <a:r>
              <a:rPr lang="en-US" sz="2400" dirty="0"/>
              <a:t>Your program will clearly output the first digit and second digit of the number.</a:t>
            </a:r>
          </a:p>
          <a:p>
            <a:r>
              <a:rPr lang="en-US" sz="2400" dirty="0"/>
              <a:t>When completed, test your program </a:t>
            </a:r>
            <a:r>
              <a:rPr lang="en-IE" sz="2400" dirty="0"/>
              <a:t>with 90, 44, 19, 91, 10.</a:t>
            </a:r>
            <a:endParaRPr lang="en-US" sz="2400" dirty="0"/>
          </a:p>
          <a:p>
            <a:endParaRPr lang="en-US" dirty="0"/>
          </a:p>
        </p:txBody>
      </p:sp>
      <p:sp>
        <p:nvSpPr>
          <p:cNvPr id="8" name="TextBox 7">
            <a:extLst>
              <a:ext uri="{FF2B5EF4-FFF2-40B4-BE49-F238E27FC236}">
                <a16:creationId xmlns:a16="http://schemas.microsoft.com/office/drawing/2014/main" id="{81C24C55-0099-43A9-BD63-754149820FF9}"/>
              </a:ext>
            </a:extLst>
          </p:cNvPr>
          <p:cNvSpPr txBox="1"/>
          <p:nvPr/>
        </p:nvSpPr>
        <p:spPr>
          <a:xfrm>
            <a:off x="142726" y="6021288"/>
            <a:ext cx="8964488" cy="707886"/>
          </a:xfrm>
          <a:prstGeom prst="rect">
            <a:avLst/>
          </a:prstGeom>
          <a:noFill/>
        </p:spPr>
        <p:txBody>
          <a:bodyPr wrap="square" rtlCol="0">
            <a:spAutoFit/>
          </a:bodyPr>
          <a:lstStyle/>
          <a:p>
            <a:r>
              <a:rPr lang="en-IE" sz="2000" dirty="0">
                <a:solidFill>
                  <a:srgbClr val="0070C0"/>
                </a:solidFill>
                <a:effectLst>
                  <a:outerShdw blurRad="38100" dist="38100" dir="2700000" algn="tl">
                    <a:srgbClr val="000000">
                      <a:alpha val="43137"/>
                    </a:srgbClr>
                  </a:outerShdw>
                </a:effectLst>
              </a:rPr>
              <a:t>LO 1.3 students should be able to solve problems by deconstructing them into smaller units using a systematic approach in an iterative fashion</a:t>
            </a:r>
          </a:p>
        </p:txBody>
      </p:sp>
    </p:spTree>
    <p:extLst>
      <p:ext uri="{BB962C8B-B14F-4D97-AF65-F5344CB8AC3E}">
        <p14:creationId xmlns:p14="http://schemas.microsoft.com/office/powerpoint/2010/main" val="1101974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83062-0084-4398-9A1B-1F9353455386}"/>
              </a:ext>
            </a:extLst>
          </p:cNvPr>
          <p:cNvSpPr>
            <a:spLocks noGrp="1"/>
          </p:cNvSpPr>
          <p:nvPr>
            <p:ph type="title" idx="4294967295"/>
          </p:nvPr>
        </p:nvSpPr>
        <p:spPr>
          <a:xfrm>
            <a:off x="0" y="371475"/>
            <a:ext cx="8229600" cy="1143000"/>
          </a:xfrm>
        </p:spPr>
        <p:txBody>
          <a:bodyPr>
            <a:normAutofit fontScale="90000"/>
          </a:bodyPr>
          <a:lstStyle/>
          <a:p>
            <a:r>
              <a:rPr lang="en-IE" dirty="0"/>
              <a:t>Some suggestions for your program</a:t>
            </a:r>
          </a:p>
        </p:txBody>
      </p:sp>
      <p:sp>
        <p:nvSpPr>
          <p:cNvPr id="11" name="TextBox 10">
            <a:extLst>
              <a:ext uri="{FF2B5EF4-FFF2-40B4-BE49-F238E27FC236}">
                <a16:creationId xmlns:a16="http://schemas.microsoft.com/office/drawing/2014/main" id="{211E7C50-BD0F-4175-8526-D2300A822BC6}"/>
              </a:ext>
            </a:extLst>
          </p:cNvPr>
          <p:cNvSpPr txBox="1"/>
          <p:nvPr/>
        </p:nvSpPr>
        <p:spPr>
          <a:xfrm>
            <a:off x="611560" y="1496320"/>
            <a:ext cx="7920880" cy="892552"/>
          </a:xfrm>
          <a:prstGeom prst="rect">
            <a:avLst/>
          </a:prstGeom>
          <a:noFill/>
        </p:spPr>
        <p:txBody>
          <a:bodyPr wrap="square" rtlCol="0">
            <a:spAutoFit/>
          </a:bodyPr>
          <a:lstStyle/>
          <a:p>
            <a:r>
              <a:rPr lang="en-IE" sz="2400" u="sng" dirty="0">
                <a:cs typeface="Courier New" panose="02070309020205020404" pitchFamily="49" charset="0"/>
              </a:rPr>
              <a:t>1. Some names to consider for the variables … </a:t>
            </a:r>
          </a:p>
          <a:p>
            <a:r>
              <a:rPr lang="en-IE" sz="2800" dirty="0">
                <a:latin typeface="Courier New" panose="02070309020205020404" pitchFamily="49" charset="0"/>
                <a:cs typeface="Courier New" panose="02070309020205020404" pitchFamily="49" charset="0"/>
              </a:rPr>
              <a:t> </a:t>
            </a:r>
            <a:r>
              <a:rPr lang="en-IE" sz="2400" dirty="0" err="1">
                <a:latin typeface="Courier New" panose="02070309020205020404" pitchFamily="49" charset="0"/>
                <a:cs typeface="Courier New" panose="02070309020205020404" pitchFamily="49" charset="0"/>
              </a:rPr>
              <a:t>userNumber</a:t>
            </a:r>
            <a:r>
              <a:rPr lang="en-IE" sz="2400" dirty="0">
                <a:latin typeface="Courier New" panose="02070309020205020404" pitchFamily="49" charset="0"/>
                <a:cs typeface="Courier New" panose="02070309020205020404" pitchFamily="49" charset="0"/>
              </a:rPr>
              <a:t>, </a:t>
            </a:r>
            <a:r>
              <a:rPr lang="en-IE" sz="2400" dirty="0" err="1">
                <a:latin typeface="Courier New" panose="02070309020205020404" pitchFamily="49" charset="0"/>
                <a:cs typeface="Courier New" panose="02070309020205020404" pitchFamily="49" charset="0"/>
              </a:rPr>
              <a:t>firstDigit</a:t>
            </a:r>
            <a:r>
              <a:rPr lang="en-IE" sz="2400" dirty="0">
                <a:latin typeface="Courier New" panose="02070309020205020404" pitchFamily="49" charset="0"/>
                <a:cs typeface="Courier New" panose="02070309020205020404" pitchFamily="49" charset="0"/>
              </a:rPr>
              <a:t>, </a:t>
            </a:r>
            <a:r>
              <a:rPr lang="en-IE" sz="2400" dirty="0" err="1">
                <a:latin typeface="Courier New" panose="02070309020205020404" pitchFamily="49" charset="0"/>
                <a:cs typeface="Courier New" panose="02070309020205020404" pitchFamily="49" charset="0"/>
              </a:rPr>
              <a:t>secondDigit</a:t>
            </a:r>
            <a:r>
              <a:rPr lang="en-IE" sz="2400" dirty="0">
                <a:latin typeface="Courier New" panose="02070309020205020404" pitchFamily="49" charset="0"/>
                <a:cs typeface="Courier New" panose="02070309020205020404" pitchFamily="49" charset="0"/>
              </a:rPr>
              <a:t>.</a:t>
            </a:r>
            <a:endParaRPr lang="en-IE" sz="2400" dirty="0"/>
          </a:p>
        </p:txBody>
      </p:sp>
      <p:sp>
        <p:nvSpPr>
          <p:cNvPr id="8" name="TextBox 7">
            <a:extLst>
              <a:ext uri="{FF2B5EF4-FFF2-40B4-BE49-F238E27FC236}">
                <a16:creationId xmlns:a16="http://schemas.microsoft.com/office/drawing/2014/main" id="{0BD7FC4D-3624-435C-BEA3-3BA08E9CAF5C}"/>
              </a:ext>
            </a:extLst>
          </p:cNvPr>
          <p:cNvSpPr txBox="1"/>
          <p:nvPr/>
        </p:nvSpPr>
        <p:spPr>
          <a:xfrm>
            <a:off x="626804" y="2602324"/>
            <a:ext cx="7168158" cy="461665"/>
          </a:xfrm>
          <a:prstGeom prst="rect">
            <a:avLst/>
          </a:prstGeom>
          <a:noFill/>
        </p:spPr>
        <p:txBody>
          <a:bodyPr wrap="square" rtlCol="0">
            <a:spAutoFit/>
          </a:bodyPr>
          <a:lstStyle/>
          <a:p>
            <a:r>
              <a:rPr lang="en-IE" sz="2400" u="sng" dirty="0"/>
              <a:t>2. Remember this code from the first program?</a:t>
            </a:r>
          </a:p>
        </p:txBody>
      </p:sp>
      <p:pic>
        <p:nvPicPr>
          <p:cNvPr id="10" name="Picture 9" descr="A close up of a logo&#10;&#10;Description generated with high confidence">
            <a:extLst>
              <a:ext uri="{FF2B5EF4-FFF2-40B4-BE49-F238E27FC236}">
                <a16:creationId xmlns:a16="http://schemas.microsoft.com/office/drawing/2014/main" id="{931548F7-F7EA-4B69-B3D5-A990786CF0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8" y="3148036"/>
            <a:ext cx="5032040" cy="863904"/>
          </a:xfrm>
          <a:prstGeom prst="rect">
            <a:avLst/>
          </a:prstGeom>
        </p:spPr>
      </p:pic>
      <p:sp>
        <p:nvSpPr>
          <p:cNvPr id="13" name="TextBox 12">
            <a:extLst>
              <a:ext uri="{FF2B5EF4-FFF2-40B4-BE49-F238E27FC236}">
                <a16:creationId xmlns:a16="http://schemas.microsoft.com/office/drawing/2014/main" id="{2EE038EB-C191-4C7F-8638-BE549575D2D8}"/>
              </a:ext>
            </a:extLst>
          </p:cNvPr>
          <p:cNvSpPr txBox="1"/>
          <p:nvPr/>
        </p:nvSpPr>
        <p:spPr>
          <a:xfrm>
            <a:off x="1433056" y="4456224"/>
            <a:ext cx="7168158" cy="461665"/>
          </a:xfrm>
          <a:prstGeom prst="rect">
            <a:avLst/>
          </a:prstGeom>
          <a:noFill/>
        </p:spPr>
        <p:txBody>
          <a:bodyPr wrap="square" rtlCol="0">
            <a:spAutoFit/>
          </a:bodyPr>
          <a:lstStyle/>
          <a:p>
            <a:r>
              <a:rPr lang="en-IE" sz="2400" dirty="0"/>
              <a:t>The variable </a:t>
            </a:r>
            <a:r>
              <a:rPr lang="en-IE" sz="2400" dirty="0" err="1"/>
              <a:t>userNumber</a:t>
            </a:r>
            <a:r>
              <a:rPr lang="en-IE" sz="2400" dirty="0"/>
              <a:t> must be cast as an </a:t>
            </a:r>
            <a:r>
              <a:rPr lang="en-IE" sz="2400" b="1" dirty="0" err="1"/>
              <a:t>INT</a:t>
            </a:r>
            <a:r>
              <a:rPr lang="en-IE" sz="2400" dirty="0" err="1"/>
              <a:t>eger</a:t>
            </a:r>
            <a:r>
              <a:rPr lang="en-IE" sz="2400" dirty="0"/>
              <a:t>.</a:t>
            </a:r>
          </a:p>
        </p:txBody>
      </p:sp>
      <p:sp>
        <p:nvSpPr>
          <p:cNvPr id="14" name="TextBox 13">
            <a:extLst>
              <a:ext uri="{FF2B5EF4-FFF2-40B4-BE49-F238E27FC236}">
                <a16:creationId xmlns:a16="http://schemas.microsoft.com/office/drawing/2014/main" id="{F36F6A31-3876-434E-89AC-7A17F9C84ADF}"/>
              </a:ext>
            </a:extLst>
          </p:cNvPr>
          <p:cNvSpPr txBox="1"/>
          <p:nvPr/>
        </p:nvSpPr>
        <p:spPr>
          <a:xfrm>
            <a:off x="1398733" y="4011940"/>
            <a:ext cx="7236804" cy="461665"/>
          </a:xfrm>
          <a:prstGeom prst="rect">
            <a:avLst/>
          </a:prstGeom>
          <a:noFill/>
        </p:spPr>
        <p:txBody>
          <a:bodyPr wrap="square" rtlCol="0">
            <a:spAutoFit/>
          </a:bodyPr>
          <a:lstStyle/>
          <a:p>
            <a:r>
              <a:rPr lang="en-IE" sz="2400" dirty="0"/>
              <a:t>In Python, input from the user is in the form a </a:t>
            </a:r>
            <a:r>
              <a:rPr lang="en-IE" sz="2400" b="1" dirty="0"/>
              <a:t>STRING.</a:t>
            </a:r>
          </a:p>
        </p:txBody>
      </p:sp>
      <p:sp>
        <p:nvSpPr>
          <p:cNvPr id="15" name="TextBox 14">
            <a:extLst>
              <a:ext uri="{FF2B5EF4-FFF2-40B4-BE49-F238E27FC236}">
                <a16:creationId xmlns:a16="http://schemas.microsoft.com/office/drawing/2014/main" id="{3FAFAD28-0FE8-4E99-BE76-DD2881EA8B07}"/>
              </a:ext>
            </a:extLst>
          </p:cNvPr>
          <p:cNvSpPr txBox="1"/>
          <p:nvPr/>
        </p:nvSpPr>
        <p:spPr>
          <a:xfrm>
            <a:off x="683568" y="4975713"/>
            <a:ext cx="7168158" cy="461665"/>
          </a:xfrm>
          <a:prstGeom prst="rect">
            <a:avLst/>
          </a:prstGeom>
          <a:noFill/>
        </p:spPr>
        <p:txBody>
          <a:bodyPr wrap="square" rtlCol="0">
            <a:spAutoFit/>
          </a:bodyPr>
          <a:lstStyle/>
          <a:p>
            <a:r>
              <a:rPr lang="en-IE" sz="2400" u="sng" dirty="0"/>
              <a:t>3. A suggestion for outputting the solution </a:t>
            </a:r>
            <a:r>
              <a:rPr lang="en-IE" sz="2400" dirty="0"/>
              <a:t>:</a:t>
            </a:r>
          </a:p>
        </p:txBody>
      </p:sp>
      <p:sp>
        <p:nvSpPr>
          <p:cNvPr id="16" name="TextBox 15">
            <a:extLst>
              <a:ext uri="{FF2B5EF4-FFF2-40B4-BE49-F238E27FC236}">
                <a16:creationId xmlns:a16="http://schemas.microsoft.com/office/drawing/2014/main" id="{B134D8B1-B26C-402C-B9D0-2EE5137D61A7}"/>
              </a:ext>
            </a:extLst>
          </p:cNvPr>
          <p:cNvSpPr txBox="1"/>
          <p:nvPr/>
        </p:nvSpPr>
        <p:spPr>
          <a:xfrm>
            <a:off x="683568" y="5517307"/>
            <a:ext cx="8136904" cy="461665"/>
          </a:xfrm>
          <a:prstGeom prst="rect">
            <a:avLst/>
          </a:prstGeom>
          <a:noFill/>
        </p:spPr>
        <p:txBody>
          <a:bodyPr wrap="square" rtlCol="0">
            <a:spAutoFit/>
          </a:bodyPr>
          <a:lstStyle/>
          <a:p>
            <a:r>
              <a:rPr lang="en-IE" sz="2400" dirty="0">
                <a:latin typeface="Courier New" panose="02070309020205020404" pitchFamily="49" charset="0"/>
                <a:cs typeface="Courier New" panose="02070309020205020404" pitchFamily="49" charset="0"/>
              </a:rPr>
              <a:t>print(“The first digit is : “, </a:t>
            </a:r>
            <a:r>
              <a:rPr lang="en-IE" sz="2400" dirty="0" err="1">
                <a:latin typeface="Courier New" panose="02070309020205020404" pitchFamily="49" charset="0"/>
                <a:cs typeface="Courier New" panose="02070309020205020404" pitchFamily="49" charset="0"/>
              </a:rPr>
              <a:t>firstDigit</a:t>
            </a:r>
            <a:r>
              <a:rPr lang="en-IE" sz="2400" dirty="0">
                <a:latin typeface="Courier New" panose="02070309020205020404" pitchFamily="49" charset="0"/>
                <a:cs typeface="Courier New" panose="02070309020205020404" pitchFamily="49" charset="0"/>
              </a:rPr>
              <a:t>)</a:t>
            </a:r>
            <a:endParaRPr lang="en-IE" sz="2400" dirty="0"/>
          </a:p>
        </p:txBody>
      </p:sp>
    </p:spTree>
    <p:extLst>
      <p:ext uri="{BB962C8B-B14F-4D97-AF65-F5344CB8AC3E}">
        <p14:creationId xmlns:p14="http://schemas.microsoft.com/office/powerpoint/2010/main" val="1787397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83062-0084-4398-9A1B-1F9353455386}"/>
              </a:ext>
            </a:extLst>
          </p:cNvPr>
          <p:cNvSpPr>
            <a:spLocks noGrp="1"/>
          </p:cNvSpPr>
          <p:nvPr>
            <p:ph type="title" idx="4294967295"/>
          </p:nvPr>
        </p:nvSpPr>
        <p:spPr>
          <a:xfrm>
            <a:off x="251520" y="263876"/>
            <a:ext cx="8229600" cy="1143000"/>
          </a:xfrm>
        </p:spPr>
        <p:txBody>
          <a:bodyPr>
            <a:normAutofit fontScale="90000"/>
          </a:bodyPr>
          <a:lstStyle/>
          <a:p>
            <a:r>
              <a:rPr lang="en-IE" dirty="0"/>
              <a:t>Tips on separating digits in a number</a:t>
            </a:r>
          </a:p>
        </p:txBody>
      </p:sp>
      <p:sp>
        <p:nvSpPr>
          <p:cNvPr id="11" name="TextBox 10">
            <a:extLst>
              <a:ext uri="{FF2B5EF4-FFF2-40B4-BE49-F238E27FC236}">
                <a16:creationId xmlns:a16="http://schemas.microsoft.com/office/drawing/2014/main" id="{211E7C50-BD0F-4175-8526-D2300A822BC6}"/>
              </a:ext>
            </a:extLst>
          </p:cNvPr>
          <p:cNvSpPr txBox="1"/>
          <p:nvPr/>
        </p:nvSpPr>
        <p:spPr>
          <a:xfrm>
            <a:off x="1187624" y="1700808"/>
            <a:ext cx="6768752" cy="523220"/>
          </a:xfrm>
          <a:prstGeom prst="rect">
            <a:avLst/>
          </a:prstGeom>
          <a:noFill/>
        </p:spPr>
        <p:txBody>
          <a:bodyPr wrap="square" rtlCol="0">
            <a:spAutoFit/>
          </a:bodyPr>
          <a:lstStyle/>
          <a:p>
            <a:r>
              <a:rPr lang="en-IE" sz="2800" dirty="0"/>
              <a:t>Let’s say our number is called </a:t>
            </a:r>
            <a:r>
              <a:rPr lang="en-IE" sz="2800" dirty="0" err="1">
                <a:latin typeface="Courier New" panose="02070309020205020404" pitchFamily="49" charset="0"/>
                <a:cs typeface="Courier New" panose="02070309020205020404" pitchFamily="49" charset="0"/>
              </a:rPr>
              <a:t>userNumber</a:t>
            </a:r>
            <a:r>
              <a:rPr lang="en-IE" sz="2800" dirty="0"/>
              <a:t>.</a:t>
            </a:r>
          </a:p>
        </p:txBody>
      </p:sp>
      <p:sp>
        <p:nvSpPr>
          <p:cNvPr id="7" name="TextBox 6">
            <a:extLst>
              <a:ext uri="{FF2B5EF4-FFF2-40B4-BE49-F238E27FC236}">
                <a16:creationId xmlns:a16="http://schemas.microsoft.com/office/drawing/2014/main" id="{C0BB45BA-4BD2-45A7-BAD1-2C5328269105}"/>
              </a:ext>
            </a:extLst>
          </p:cNvPr>
          <p:cNvSpPr txBox="1"/>
          <p:nvPr/>
        </p:nvSpPr>
        <p:spPr>
          <a:xfrm>
            <a:off x="1187624" y="2410638"/>
            <a:ext cx="4608512" cy="523220"/>
          </a:xfrm>
          <a:prstGeom prst="rect">
            <a:avLst/>
          </a:prstGeom>
          <a:noFill/>
        </p:spPr>
        <p:txBody>
          <a:bodyPr wrap="square" rtlCol="0">
            <a:spAutoFit/>
          </a:bodyPr>
          <a:lstStyle/>
          <a:p>
            <a:r>
              <a:rPr lang="en-IE" sz="2800" dirty="0"/>
              <a:t>Let </a:t>
            </a:r>
            <a:r>
              <a:rPr lang="en-IE" sz="2800" dirty="0" err="1">
                <a:latin typeface="Courier New" panose="02070309020205020404" pitchFamily="49" charset="0"/>
                <a:cs typeface="Courier New" panose="02070309020205020404" pitchFamily="49" charset="0"/>
              </a:rPr>
              <a:t>userNumber</a:t>
            </a:r>
            <a:r>
              <a:rPr lang="en-IE" sz="2800" dirty="0">
                <a:latin typeface="Courier New" panose="02070309020205020404" pitchFamily="49" charset="0"/>
                <a:cs typeface="Courier New" panose="02070309020205020404" pitchFamily="49" charset="0"/>
              </a:rPr>
              <a:t> </a:t>
            </a:r>
            <a:r>
              <a:rPr lang="en-IE" sz="2800" dirty="0">
                <a:cs typeface="Courier New" panose="02070309020205020404" pitchFamily="49" charset="0"/>
              </a:rPr>
              <a:t>equal 73</a:t>
            </a:r>
            <a:endParaRPr lang="en-IE" sz="2800" dirty="0"/>
          </a:p>
        </p:txBody>
      </p:sp>
      <p:sp>
        <p:nvSpPr>
          <p:cNvPr id="9" name="TextBox 8">
            <a:extLst>
              <a:ext uri="{FF2B5EF4-FFF2-40B4-BE49-F238E27FC236}">
                <a16:creationId xmlns:a16="http://schemas.microsoft.com/office/drawing/2014/main" id="{F540E390-F783-4407-B7A5-F5AD00A847B6}"/>
              </a:ext>
            </a:extLst>
          </p:cNvPr>
          <p:cNvSpPr txBox="1"/>
          <p:nvPr/>
        </p:nvSpPr>
        <p:spPr>
          <a:xfrm>
            <a:off x="1209328" y="3120468"/>
            <a:ext cx="6819056" cy="1384995"/>
          </a:xfrm>
          <a:prstGeom prst="rect">
            <a:avLst/>
          </a:prstGeom>
          <a:noFill/>
          <a:ln w="28575">
            <a:solidFill>
              <a:schemeClr val="tx1"/>
            </a:solidFill>
          </a:ln>
        </p:spPr>
        <p:txBody>
          <a:bodyPr wrap="square" rtlCol="0">
            <a:spAutoFit/>
          </a:bodyPr>
          <a:lstStyle/>
          <a:p>
            <a:r>
              <a:rPr lang="en-IE" sz="2800" dirty="0"/>
              <a:t>If we MOD </a:t>
            </a:r>
            <a:r>
              <a:rPr lang="en-IE" sz="2800" dirty="0" err="1">
                <a:latin typeface="Courier New" panose="02070309020205020404" pitchFamily="49" charset="0"/>
                <a:cs typeface="Courier New" panose="02070309020205020404" pitchFamily="49" charset="0"/>
              </a:rPr>
              <a:t>userNumber</a:t>
            </a:r>
            <a:r>
              <a:rPr lang="en-IE" sz="2800" dirty="0">
                <a:latin typeface="Courier New" panose="02070309020205020404" pitchFamily="49" charset="0"/>
                <a:cs typeface="Courier New" panose="02070309020205020404" pitchFamily="49" charset="0"/>
              </a:rPr>
              <a:t> </a:t>
            </a:r>
            <a:r>
              <a:rPr lang="en-IE" sz="2800" dirty="0">
                <a:cs typeface="Courier New" panose="02070309020205020404" pitchFamily="49" charset="0"/>
              </a:rPr>
              <a:t>by 10, we get the remainder. </a:t>
            </a:r>
          </a:p>
          <a:p>
            <a:r>
              <a:rPr lang="en-IE" sz="2800" dirty="0">
                <a:cs typeface="Courier New" panose="02070309020205020404" pitchFamily="49" charset="0"/>
              </a:rPr>
              <a:t>Try </a:t>
            </a:r>
            <a:r>
              <a:rPr lang="en-IE" sz="2800" dirty="0">
                <a:latin typeface="Courier New" panose="02070309020205020404" pitchFamily="49" charset="0"/>
                <a:cs typeface="Courier New" panose="02070309020205020404" pitchFamily="49" charset="0"/>
              </a:rPr>
              <a:t>73 % 10</a:t>
            </a:r>
            <a:r>
              <a:rPr lang="en-IE" sz="2800" dirty="0">
                <a:cs typeface="Courier New" panose="02070309020205020404" pitchFamily="49" charset="0"/>
              </a:rPr>
              <a:t>.</a:t>
            </a:r>
            <a:endParaRPr lang="en-IE" sz="2800" dirty="0"/>
          </a:p>
        </p:txBody>
      </p:sp>
      <p:sp>
        <p:nvSpPr>
          <p:cNvPr id="12" name="TextBox 11">
            <a:extLst>
              <a:ext uri="{FF2B5EF4-FFF2-40B4-BE49-F238E27FC236}">
                <a16:creationId xmlns:a16="http://schemas.microsoft.com/office/drawing/2014/main" id="{56C26303-A25E-4536-B5B9-5870BD911531}"/>
              </a:ext>
            </a:extLst>
          </p:cNvPr>
          <p:cNvSpPr txBox="1"/>
          <p:nvPr/>
        </p:nvSpPr>
        <p:spPr>
          <a:xfrm>
            <a:off x="1209328" y="4509120"/>
            <a:ext cx="6819056" cy="1384995"/>
          </a:xfrm>
          <a:prstGeom prst="rect">
            <a:avLst/>
          </a:prstGeom>
          <a:noFill/>
          <a:ln w="28575">
            <a:solidFill>
              <a:schemeClr val="tx1"/>
            </a:solidFill>
          </a:ln>
        </p:spPr>
        <p:txBody>
          <a:bodyPr wrap="square" rtlCol="0">
            <a:spAutoFit/>
          </a:bodyPr>
          <a:lstStyle/>
          <a:p>
            <a:r>
              <a:rPr lang="en-IE" sz="2800" dirty="0"/>
              <a:t>If we FLOOR DIVIDE </a:t>
            </a:r>
            <a:r>
              <a:rPr lang="en-IE" sz="2800" dirty="0" err="1">
                <a:latin typeface="Courier New" panose="02070309020205020404" pitchFamily="49" charset="0"/>
                <a:cs typeface="Courier New" panose="02070309020205020404" pitchFamily="49" charset="0"/>
              </a:rPr>
              <a:t>userNumber</a:t>
            </a:r>
            <a:r>
              <a:rPr lang="en-IE" sz="2800" dirty="0">
                <a:latin typeface="Courier New" panose="02070309020205020404" pitchFamily="49" charset="0"/>
                <a:cs typeface="Courier New" panose="02070309020205020404" pitchFamily="49" charset="0"/>
              </a:rPr>
              <a:t> </a:t>
            </a:r>
            <a:r>
              <a:rPr lang="en-IE" sz="2800" dirty="0">
                <a:cs typeface="Courier New" panose="02070309020205020404" pitchFamily="49" charset="0"/>
              </a:rPr>
              <a:t>by 10, we get a whole number. </a:t>
            </a:r>
          </a:p>
          <a:p>
            <a:r>
              <a:rPr lang="en-IE" sz="2800" dirty="0">
                <a:cs typeface="Courier New" panose="02070309020205020404" pitchFamily="49" charset="0"/>
              </a:rPr>
              <a:t>Try </a:t>
            </a:r>
            <a:r>
              <a:rPr lang="en-IE" sz="2800" dirty="0">
                <a:latin typeface="Courier New" panose="02070309020205020404" pitchFamily="49" charset="0"/>
                <a:cs typeface="Courier New" panose="02070309020205020404" pitchFamily="49" charset="0"/>
              </a:rPr>
              <a:t>73 // 10</a:t>
            </a:r>
            <a:r>
              <a:rPr lang="en-IE" sz="2800" dirty="0">
                <a:cs typeface="Courier New" panose="02070309020205020404" pitchFamily="49" charset="0"/>
              </a:rPr>
              <a:t>.</a:t>
            </a:r>
            <a:endParaRPr lang="en-IE" sz="2800" dirty="0"/>
          </a:p>
        </p:txBody>
      </p:sp>
      <p:sp>
        <p:nvSpPr>
          <p:cNvPr id="8" name="TextBox 7">
            <a:extLst>
              <a:ext uri="{FF2B5EF4-FFF2-40B4-BE49-F238E27FC236}">
                <a16:creationId xmlns:a16="http://schemas.microsoft.com/office/drawing/2014/main" id="{6488B77D-8470-4A4B-85AE-EA1E5D472753}"/>
              </a:ext>
            </a:extLst>
          </p:cNvPr>
          <p:cNvSpPr txBox="1"/>
          <p:nvPr/>
        </p:nvSpPr>
        <p:spPr>
          <a:xfrm>
            <a:off x="246827" y="6394069"/>
            <a:ext cx="7781557" cy="400110"/>
          </a:xfrm>
          <a:prstGeom prst="rect">
            <a:avLst/>
          </a:prstGeom>
          <a:noFill/>
        </p:spPr>
        <p:txBody>
          <a:bodyPr wrap="square" rtlCol="0">
            <a:spAutoFit/>
          </a:bodyPr>
          <a:lstStyle/>
          <a:p>
            <a:r>
              <a:rPr lang="en-IE" sz="2000" dirty="0">
                <a:solidFill>
                  <a:srgbClr val="0070C0"/>
                </a:solidFill>
                <a:effectLst>
                  <a:outerShdw blurRad="38100" dist="38100" dir="2700000" algn="tl">
                    <a:srgbClr val="000000">
                      <a:alpha val="43137"/>
                    </a:srgbClr>
                  </a:outerShdw>
                </a:effectLst>
              </a:rPr>
              <a:t>LO 1.4 students should be able to solve problems using skills of logic</a:t>
            </a:r>
          </a:p>
        </p:txBody>
      </p:sp>
    </p:spTree>
    <p:extLst>
      <p:ext uri="{BB962C8B-B14F-4D97-AF65-F5344CB8AC3E}">
        <p14:creationId xmlns:p14="http://schemas.microsoft.com/office/powerpoint/2010/main" val="934244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7" grpId="0"/>
      <p:bldP spid="9"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49238"/>
            <a:ext cx="8229600" cy="1143000"/>
          </a:xfrm>
        </p:spPr>
        <p:txBody>
          <a:bodyPr>
            <a:normAutofit/>
          </a:bodyPr>
          <a:lstStyle/>
          <a:p>
            <a:r>
              <a:rPr lang="en-US" dirty="0"/>
              <a:t>To Recap … Number Buster</a:t>
            </a:r>
          </a:p>
        </p:txBody>
      </p:sp>
      <p:sp>
        <p:nvSpPr>
          <p:cNvPr id="8" name="TextBox 7">
            <a:extLst>
              <a:ext uri="{FF2B5EF4-FFF2-40B4-BE49-F238E27FC236}">
                <a16:creationId xmlns:a16="http://schemas.microsoft.com/office/drawing/2014/main" id="{071BE66C-19BF-4BD9-A7E6-CBF314006A34}"/>
              </a:ext>
            </a:extLst>
          </p:cNvPr>
          <p:cNvSpPr txBox="1"/>
          <p:nvPr/>
        </p:nvSpPr>
        <p:spPr>
          <a:xfrm>
            <a:off x="53752" y="6256935"/>
            <a:ext cx="9036496" cy="400110"/>
          </a:xfrm>
          <a:prstGeom prst="rect">
            <a:avLst/>
          </a:prstGeom>
          <a:noFill/>
        </p:spPr>
        <p:txBody>
          <a:bodyPr wrap="square" rtlCol="0">
            <a:spAutoFit/>
          </a:bodyPr>
          <a:lstStyle/>
          <a:p>
            <a:r>
              <a:rPr lang="en-IE" sz="2000" dirty="0">
                <a:solidFill>
                  <a:srgbClr val="0070C0"/>
                </a:solidFill>
                <a:effectLst>
                  <a:outerShdw blurRad="38100" dist="38100" dir="2700000" algn="tl">
                    <a:srgbClr val="000000">
                      <a:alpha val="43137"/>
                    </a:srgbClr>
                  </a:outerShdw>
                </a:effectLst>
              </a:rPr>
              <a:t>LO 1.7 students should be able to develop algorithms to implement chosen solutions</a:t>
            </a:r>
          </a:p>
        </p:txBody>
      </p:sp>
      <p:pic>
        <p:nvPicPr>
          <p:cNvPr id="5" name="Picture 4" descr="A picture containing clipart&#10;&#10;Description generated with very high confidence">
            <a:extLst>
              <a:ext uri="{FF2B5EF4-FFF2-40B4-BE49-F238E27FC236}">
                <a16:creationId xmlns:a16="http://schemas.microsoft.com/office/drawing/2014/main" id="{F8254347-CA11-489F-AD26-5C059DACC3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5534" y="71603"/>
            <a:ext cx="981075" cy="1057275"/>
          </a:xfrm>
          <a:prstGeom prst="rect">
            <a:avLst/>
          </a:prstGeom>
        </p:spPr>
      </p:pic>
      <p:pic>
        <p:nvPicPr>
          <p:cNvPr id="6" name="Picture 5">
            <a:extLst>
              <a:ext uri="{FF2B5EF4-FFF2-40B4-BE49-F238E27FC236}">
                <a16:creationId xmlns:a16="http://schemas.microsoft.com/office/drawing/2014/main" id="{E47E49CC-3F3F-4025-9691-12E25B6145EF}"/>
              </a:ext>
            </a:extLst>
          </p:cNvPr>
          <p:cNvPicPr>
            <a:picLocks noChangeAspect="1"/>
          </p:cNvPicPr>
          <p:nvPr/>
        </p:nvPicPr>
        <p:blipFill>
          <a:blip r:embed="rId4"/>
          <a:stretch>
            <a:fillRect/>
          </a:stretch>
        </p:blipFill>
        <p:spPr>
          <a:xfrm>
            <a:off x="227264" y="1391092"/>
            <a:ext cx="8689471" cy="2839134"/>
          </a:xfrm>
          <a:prstGeom prst="rect">
            <a:avLst/>
          </a:prstGeom>
        </p:spPr>
      </p:pic>
    </p:spTree>
    <p:extLst>
      <p:ext uri="{BB962C8B-B14F-4D97-AF65-F5344CB8AC3E}">
        <p14:creationId xmlns:p14="http://schemas.microsoft.com/office/powerpoint/2010/main" val="1671485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49238"/>
            <a:ext cx="8229600" cy="1143000"/>
          </a:xfrm>
        </p:spPr>
        <p:txBody>
          <a:bodyPr>
            <a:normAutofit/>
          </a:bodyPr>
          <a:lstStyle/>
          <a:p>
            <a:r>
              <a:rPr lang="en-US" dirty="0"/>
              <a:t>To Recap … Number Buster</a:t>
            </a:r>
          </a:p>
        </p:txBody>
      </p:sp>
      <p:sp>
        <p:nvSpPr>
          <p:cNvPr id="8" name="TextBox 7">
            <a:extLst>
              <a:ext uri="{FF2B5EF4-FFF2-40B4-BE49-F238E27FC236}">
                <a16:creationId xmlns:a16="http://schemas.microsoft.com/office/drawing/2014/main" id="{071BE66C-19BF-4BD9-A7E6-CBF314006A34}"/>
              </a:ext>
            </a:extLst>
          </p:cNvPr>
          <p:cNvSpPr txBox="1"/>
          <p:nvPr/>
        </p:nvSpPr>
        <p:spPr>
          <a:xfrm>
            <a:off x="53752" y="6256935"/>
            <a:ext cx="9036496" cy="400110"/>
          </a:xfrm>
          <a:prstGeom prst="rect">
            <a:avLst/>
          </a:prstGeom>
          <a:noFill/>
        </p:spPr>
        <p:txBody>
          <a:bodyPr wrap="square" rtlCol="0">
            <a:spAutoFit/>
          </a:bodyPr>
          <a:lstStyle/>
          <a:p>
            <a:r>
              <a:rPr lang="en-IE" sz="2000" dirty="0">
                <a:solidFill>
                  <a:srgbClr val="0070C0"/>
                </a:solidFill>
                <a:effectLst>
                  <a:outerShdw blurRad="38100" dist="38100" dir="2700000" algn="tl">
                    <a:srgbClr val="000000">
                      <a:alpha val="43137"/>
                    </a:srgbClr>
                  </a:outerShdw>
                </a:effectLst>
              </a:rPr>
              <a:t>LO 1.7 students should be able to develop algorithms to implement chosen solutions</a:t>
            </a:r>
          </a:p>
        </p:txBody>
      </p:sp>
      <p:pic>
        <p:nvPicPr>
          <p:cNvPr id="5" name="Picture 4" descr="A picture containing clipart&#10;&#10;Description generated with very high confidence">
            <a:extLst>
              <a:ext uri="{FF2B5EF4-FFF2-40B4-BE49-F238E27FC236}">
                <a16:creationId xmlns:a16="http://schemas.microsoft.com/office/drawing/2014/main" id="{F8254347-CA11-489F-AD26-5C059DACC3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5534" y="71603"/>
            <a:ext cx="981075" cy="1057275"/>
          </a:xfrm>
          <a:prstGeom prst="rect">
            <a:avLst/>
          </a:prstGeom>
        </p:spPr>
      </p:pic>
      <p:pic>
        <p:nvPicPr>
          <p:cNvPr id="4" name="Picture 3">
            <a:extLst>
              <a:ext uri="{FF2B5EF4-FFF2-40B4-BE49-F238E27FC236}">
                <a16:creationId xmlns:a16="http://schemas.microsoft.com/office/drawing/2014/main" id="{3D08CE14-0D80-45FB-8568-8323208EA8F3}"/>
              </a:ext>
            </a:extLst>
          </p:cNvPr>
          <p:cNvPicPr>
            <a:picLocks noChangeAspect="1"/>
          </p:cNvPicPr>
          <p:nvPr/>
        </p:nvPicPr>
        <p:blipFill>
          <a:blip r:embed="rId4"/>
          <a:stretch>
            <a:fillRect/>
          </a:stretch>
        </p:blipFill>
        <p:spPr>
          <a:xfrm>
            <a:off x="135412" y="1306513"/>
            <a:ext cx="8801572" cy="4210719"/>
          </a:xfrm>
          <a:prstGeom prst="rect">
            <a:avLst/>
          </a:prstGeom>
        </p:spPr>
      </p:pic>
    </p:spTree>
    <p:extLst>
      <p:ext uri="{BB962C8B-B14F-4D97-AF65-F5344CB8AC3E}">
        <p14:creationId xmlns:p14="http://schemas.microsoft.com/office/powerpoint/2010/main" val="2128906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C0E3761-2FEE-4351-8DE1-850178A3E7BB}"/>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rot="1919748">
            <a:off x="6385316" y="816472"/>
            <a:ext cx="1941251" cy="877876"/>
          </a:xfrm>
          <a:prstGeom prst="rect">
            <a:avLst/>
          </a:prstGeom>
        </p:spPr>
      </p:pic>
      <p:sp>
        <p:nvSpPr>
          <p:cNvPr id="2" name="Title 1"/>
          <p:cNvSpPr>
            <a:spLocks noGrp="1"/>
          </p:cNvSpPr>
          <p:nvPr>
            <p:ph type="title" idx="4294967295"/>
          </p:nvPr>
        </p:nvSpPr>
        <p:spPr>
          <a:xfrm>
            <a:off x="35860" y="576015"/>
            <a:ext cx="8229600" cy="1143000"/>
          </a:xfrm>
        </p:spPr>
        <p:txBody>
          <a:bodyPr>
            <a:normAutofit fontScale="90000"/>
          </a:bodyPr>
          <a:lstStyle/>
          <a:p>
            <a:r>
              <a:rPr lang="en-US" dirty="0"/>
              <a:t>Create Your Own … </a:t>
            </a:r>
            <a:br>
              <a:rPr lang="en-US" dirty="0"/>
            </a:br>
            <a:r>
              <a:rPr lang="en-US" dirty="0"/>
              <a:t>3 digit Number Buster</a:t>
            </a:r>
          </a:p>
        </p:txBody>
      </p:sp>
      <p:sp>
        <p:nvSpPr>
          <p:cNvPr id="3" name="Content Placeholder 2"/>
          <p:cNvSpPr>
            <a:spLocks noGrp="1"/>
          </p:cNvSpPr>
          <p:nvPr>
            <p:ph idx="4294967295"/>
          </p:nvPr>
        </p:nvSpPr>
        <p:spPr>
          <a:xfrm>
            <a:off x="179512" y="2141961"/>
            <a:ext cx="8784976" cy="3456384"/>
          </a:xfrm>
          <a:ln>
            <a:solidFill>
              <a:schemeClr val="accent1"/>
            </a:solidFill>
          </a:ln>
        </p:spPr>
        <p:txBody>
          <a:bodyPr>
            <a:normAutofit/>
          </a:bodyPr>
          <a:lstStyle/>
          <a:p>
            <a:pPr marL="0" indent="0" algn="ctr">
              <a:buNone/>
            </a:pPr>
            <a:r>
              <a:rPr lang="en-US" b="1" dirty="0"/>
              <a:t>Can you enhance your program to extract each digit from a 3 digit number?</a:t>
            </a:r>
          </a:p>
          <a:p>
            <a:pPr marL="514350" indent="-514350" algn="ctr">
              <a:buFont typeface="+mj-lt"/>
              <a:buAutoNum type="arabicPeriod"/>
            </a:pPr>
            <a:r>
              <a:rPr lang="en-US" sz="2800" dirty="0"/>
              <a:t>The user will enter a 3 digit number such as 545 or 708.</a:t>
            </a:r>
          </a:p>
          <a:p>
            <a:pPr marL="514350" indent="-514350" algn="ctr">
              <a:buFont typeface="+mj-lt"/>
              <a:buAutoNum type="arabicPeriod"/>
            </a:pPr>
            <a:r>
              <a:rPr lang="en-US" sz="2800" dirty="0"/>
              <a:t>Using operators you have learned, output the first digit, the second digit and third digit of the number.</a:t>
            </a:r>
          </a:p>
          <a:p>
            <a:pPr marL="514350" indent="-514350" algn="ctr">
              <a:buFont typeface="+mj-lt"/>
              <a:buAutoNum type="arabicPeriod"/>
            </a:pPr>
            <a:r>
              <a:rPr lang="en-US" sz="2800" dirty="0"/>
              <a:t>Generate a random 3 digit number to test your code.</a:t>
            </a:r>
          </a:p>
          <a:p>
            <a:pPr marL="0" indent="0" algn="ctr">
              <a:buNone/>
            </a:pPr>
            <a:endParaRPr lang="en-US" sz="2800" dirty="0"/>
          </a:p>
          <a:p>
            <a:pPr marL="0" indent="0" algn="ctr">
              <a:buNone/>
            </a:pPr>
            <a:endParaRPr lang="en-US" sz="2800" dirty="0"/>
          </a:p>
          <a:p>
            <a:endParaRPr lang="en-US" dirty="0"/>
          </a:p>
        </p:txBody>
      </p:sp>
      <p:sp>
        <p:nvSpPr>
          <p:cNvPr id="5" name="TextBox 4">
            <a:extLst>
              <a:ext uri="{FF2B5EF4-FFF2-40B4-BE49-F238E27FC236}">
                <a16:creationId xmlns:a16="http://schemas.microsoft.com/office/drawing/2014/main" id="{CE33CF0C-DD66-4BC8-AACC-C370C27DE41D}"/>
              </a:ext>
            </a:extLst>
          </p:cNvPr>
          <p:cNvSpPr txBox="1"/>
          <p:nvPr/>
        </p:nvSpPr>
        <p:spPr>
          <a:xfrm>
            <a:off x="80848" y="6056771"/>
            <a:ext cx="8883640" cy="707886"/>
          </a:xfrm>
          <a:prstGeom prst="rect">
            <a:avLst/>
          </a:prstGeom>
          <a:noFill/>
        </p:spPr>
        <p:txBody>
          <a:bodyPr wrap="square" rtlCol="0">
            <a:spAutoFit/>
          </a:bodyPr>
          <a:lstStyle/>
          <a:p>
            <a:r>
              <a:rPr lang="en-IE" sz="2000" dirty="0">
                <a:solidFill>
                  <a:srgbClr val="0070C0"/>
                </a:solidFill>
                <a:effectLst>
                  <a:outerShdw blurRad="38100" dist="38100" dir="2700000" algn="tl">
                    <a:srgbClr val="000000">
                      <a:alpha val="43137"/>
                    </a:srgbClr>
                  </a:outerShdw>
                </a:effectLst>
              </a:rPr>
              <a:t>LO 1.20 students should be able to  collaborate and assign roles and responsibilities within a team to tackle a computing task</a:t>
            </a:r>
          </a:p>
        </p:txBody>
      </p:sp>
    </p:spTree>
    <p:extLst>
      <p:ext uri="{BB962C8B-B14F-4D97-AF65-F5344CB8AC3E}">
        <p14:creationId xmlns:p14="http://schemas.microsoft.com/office/powerpoint/2010/main" val="1936050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1B3E3-E42D-41F1-8625-510288F9B298}"/>
              </a:ext>
            </a:extLst>
          </p:cNvPr>
          <p:cNvSpPr>
            <a:spLocks noGrp="1"/>
          </p:cNvSpPr>
          <p:nvPr>
            <p:ph type="title"/>
          </p:nvPr>
        </p:nvSpPr>
        <p:spPr>
          <a:xfrm>
            <a:off x="457200" y="91531"/>
            <a:ext cx="8229600" cy="1143000"/>
          </a:xfrm>
        </p:spPr>
        <p:txBody>
          <a:bodyPr/>
          <a:lstStyle/>
          <a:p>
            <a:r>
              <a:rPr lang="en-IE" dirty="0"/>
              <a:t>Running Total</a:t>
            </a:r>
          </a:p>
        </p:txBody>
      </p:sp>
      <p:pic>
        <p:nvPicPr>
          <p:cNvPr id="5" name="Content Placeholder 4">
            <a:extLst>
              <a:ext uri="{FF2B5EF4-FFF2-40B4-BE49-F238E27FC236}">
                <a16:creationId xmlns:a16="http://schemas.microsoft.com/office/drawing/2014/main" id="{6C0D7718-AFF3-48E3-9951-1FCC64339F99}"/>
              </a:ext>
            </a:extLst>
          </p:cNvPr>
          <p:cNvPicPr>
            <a:picLocks noGrp="1" noChangeAspect="1"/>
          </p:cNvPicPr>
          <p:nvPr>
            <p:ph idx="1"/>
          </p:nvPr>
        </p:nvPicPr>
        <p:blipFill>
          <a:blip r:embed="rId2"/>
          <a:stretch>
            <a:fillRect/>
          </a:stretch>
        </p:blipFill>
        <p:spPr>
          <a:xfrm>
            <a:off x="457200" y="1293862"/>
            <a:ext cx="8109529" cy="5472607"/>
          </a:xfrm>
        </p:spPr>
      </p:pic>
    </p:spTree>
    <p:extLst>
      <p:ext uri="{BB962C8B-B14F-4D97-AF65-F5344CB8AC3E}">
        <p14:creationId xmlns:p14="http://schemas.microsoft.com/office/powerpoint/2010/main" val="3630134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1B3E3-E42D-41F1-8625-510288F9B298}"/>
              </a:ext>
            </a:extLst>
          </p:cNvPr>
          <p:cNvSpPr>
            <a:spLocks noGrp="1"/>
          </p:cNvSpPr>
          <p:nvPr>
            <p:ph type="title"/>
          </p:nvPr>
        </p:nvSpPr>
        <p:spPr>
          <a:xfrm>
            <a:off x="457200" y="91531"/>
            <a:ext cx="8229600" cy="1143000"/>
          </a:xfrm>
        </p:spPr>
        <p:txBody>
          <a:bodyPr/>
          <a:lstStyle/>
          <a:p>
            <a:r>
              <a:rPr lang="en-IE" dirty="0"/>
              <a:t>Running Total</a:t>
            </a:r>
          </a:p>
        </p:txBody>
      </p:sp>
      <p:pic>
        <p:nvPicPr>
          <p:cNvPr id="7" name="Content Placeholder 6">
            <a:extLst>
              <a:ext uri="{FF2B5EF4-FFF2-40B4-BE49-F238E27FC236}">
                <a16:creationId xmlns:a16="http://schemas.microsoft.com/office/drawing/2014/main" id="{73B40DA4-B375-4733-B410-A745EEA3EB22}"/>
              </a:ext>
            </a:extLst>
          </p:cNvPr>
          <p:cNvPicPr>
            <a:picLocks noGrp="1" noChangeAspect="1"/>
          </p:cNvPicPr>
          <p:nvPr>
            <p:ph idx="1"/>
          </p:nvPr>
        </p:nvPicPr>
        <p:blipFill>
          <a:blip r:embed="rId2"/>
          <a:stretch>
            <a:fillRect/>
          </a:stretch>
        </p:blipFill>
        <p:spPr>
          <a:xfrm>
            <a:off x="161510" y="1340768"/>
            <a:ext cx="8820980" cy="1222709"/>
          </a:xfrm>
        </p:spPr>
      </p:pic>
      <p:pic>
        <p:nvPicPr>
          <p:cNvPr id="9" name="Picture 8">
            <a:extLst>
              <a:ext uri="{FF2B5EF4-FFF2-40B4-BE49-F238E27FC236}">
                <a16:creationId xmlns:a16="http://schemas.microsoft.com/office/drawing/2014/main" id="{A3C7AC59-4BFF-4991-A4F6-63EE2D380FB1}"/>
              </a:ext>
            </a:extLst>
          </p:cNvPr>
          <p:cNvPicPr>
            <a:picLocks noChangeAspect="1"/>
          </p:cNvPicPr>
          <p:nvPr/>
        </p:nvPicPr>
        <p:blipFill>
          <a:blip r:embed="rId3"/>
          <a:stretch>
            <a:fillRect/>
          </a:stretch>
        </p:blipFill>
        <p:spPr>
          <a:xfrm>
            <a:off x="129522" y="2669714"/>
            <a:ext cx="8820980" cy="3522439"/>
          </a:xfrm>
          <a:prstGeom prst="rect">
            <a:avLst/>
          </a:prstGeom>
        </p:spPr>
      </p:pic>
    </p:spTree>
    <p:extLst>
      <p:ext uri="{BB962C8B-B14F-4D97-AF65-F5344CB8AC3E}">
        <p14:creationId xmlns:p14="http://schemas.microsoft.com/office/powerpoint/2010/main" val="573885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467544" y="1887538"/>
            <a:ext cx="5976664" cy="1470025"/>
          </a:xfrm>
        </p:spPr>
        <p:txBody>
          <a:bodyPr/>
          <a:lstStyle/>
          <a:p>
            <a:r>
              <a:rPr lang="en-US" dirty="0"/>
              <a:t>Learning to Program</a:t>
            </a:r>
            <a:br>
              <a:rPr lang="en-US" dirty="0"/>
            </a:br>
            <a:r>
              <a:rPr lang="en-US" dirty="0"/>
              <a:t>in Python</a:t>
            </a:r>
          </a:p>
        </p:txBody>
      </p:sp>
      <p:sp>
        <p:nvSpPr>
          <p:cNvPr id="3" name="Subtitle 2"/>
          <p:cNvSpPr>
            <a:spLocks noGrp="1"/>
          </p:cNvSpPr>
          <p:nvPr>
            <p:ph type="subTitle" idx="4294967295"/>
          </p:nvPr>
        </p:nvSpPr>
        <p:spPr>
          <a:xfrm>
            <a:off x="3707904" y="4293096"/>
            <a:ext cx="4860837" cy="1008062"/>
          </a:xfrm>
        </p:spPr>
        <p:txBody>
          <a:bodyPr>
            <a:noAutofit/>
          </a:bodyPr>
          <a:lstStyle/>
          <a:p>
            <a:pPr marL="0" indent="0" algn="ctr">
              <a:buNone/>
            </a:pPr>
            <a:r>
              <a:rPr lang="en-US" b="1">
                <a:latin typeface="+mj-lt"/>
              </a:rPr>
              <a:t>Concept  </a:t>
            </a:r>
            <a:r>
              <a:rPr lang="en-US" b="1" dirty="0">
                <a:latin typeface="+mj-lt"/>
              </a:rPr>
              <a:t>3</a:t>
            </a:r>
          </a:p>
          <a:p>
            <a:pPr marL="0" indent="0" algn="ctr">
              <a:buNone/>
            </a:pPr>
            <a:r>
              <a:rPr lang="en-US" b="1" dirty="0">
                <a:latin typeface="+mj-lt"/>
              </a:rPr>
              <a:t>STRINGS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49275"/>
            <a:ext cx="8229600" cy="1143000"/>
          </a:xfrm>
        </p:spPr>
        <p:txBody>
          <a:bodyPr/>
          <a:lstStyle/>
          <a:p>
            <a:r>
              <a:rPr lang="en-IE" dirty="0"/>
              <a:t>Learning Intentions</a:t>
            </a:r>
          </a:p>
        </p:txBody>
      </p:sp>
      <p:sp>
        <p:nvSpPr>
          <p:cNvPr id="4" name="Content Placeholder 2">
            <a:extLst>
              <a:ext uri="{FF2B5EF4-FFF2-40B4-BE49-F238E27FC236}">
                <a16:creationId xmlns:a16="http://schemas.microsoft.com/office/drawing/2014/main" id="{BF4CAFD0-BAEE-4FDA-B99D-3BE23959E0F0}"/>
              </a:ext>
            </a:extLst>
          </p:cNvPr>
          <p:cNvSpPr txBox="1">
            <a:spLocks/>
          </p:cNvSpPr>
          <p:nvPr/>
        </p:nvSpPr>
        <p:spPr>
          <a:xfrm>
            <a:off x="683568" y="1844825"/>
            <a:ext cx="8229600" cy="30243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E" dirty="0"/>
              <a:t>From this lesson the students will be able to:</a:t>
            </a:r>
          </a:p>
          <a:p>
            <a:pPr lvl="1"/>
            <a:r>
              <a:rPr lang="en-IE" dirty="0"/>
              <a:t>Understand the concept of a string</a:t>
            </a:r>
          </a:p>
          <a:p>
            <a:pPr lvl="1"/>
            <a:r>
              <a:rPr lang="en-IE" dirty="0"/>
              <a:t>Retrieve and Replace characters in strings</a:t>
            </a:r>
          </a:p>
          <a:p>
            <a:pPr lvl="1"/>
            <a:r>
              <a:rPr lang="en-IE" dirty="0"/>
              <a:t>Slice a string into sub-strings</a:t>
            </a:r>
          </a:p>
          <a:p>
            <a:pPr lvl="1"/>
            <a:r>
              <a:rPr lang="en-IE" dirty="0"/>
              <a:t>Write strings to a file</a:t>
            </a:r>
          </a:p>
          <a:p>
            <a:pPr lvl="1"/>
            <a:endParaRPr lang="en-IE" dirty="0"/>
          </a:p>
        </p:txBody>
      </p:sp>
      <p:sp>
        <p:nvSpPr>
          <p:cNvPr id="5" name="TextBox 4">
            <a:extLst>
              <a:ext uri="{FF2B5EF4-FFF2-40B4-BE49-F238E27FC236}">
                <a16:creationId xmlns:a16="http://schemas.microsoft.com/office/drawing/2014/main" id="{DDAEB138-0EDE-4B47-BDD8-830AE5D61FAD}"/>
              </a:ext>
            </a:extLst>
          </p:cNvPr>
          <p:cNvSpPr txBox="1"/>
          <p:nvPr/>
        </p:nvSpPr>
        <p:spPr>
          <a:xfrm>
            <a:off x="179512" y="6021288"/>
            <a:ext cx="8856984" cy="707886"/>
          </a:xfrm>
          <a:prstGeom prst="rect">
            <a:avLst/>
          </a:prstGeom>
          <a:noFill/>
        </p:spPr>
        <p:txBody>
          <a:bodyPr wrap="square" rtlCol="0">
            <a:spAutoFit/>
          </a:bodyPr>
          <a:lstStyle/>
          <a:p>
            <a:r>
              <a:rPr lang="en-IE" sz="2000" dirty="0">
                <a:solidFill>
                  <a:srgbClr val="00B050"/>
                </a:solidFill>
                <a:effectLst>
                  <a:outerShdw blurRad="38100" dist="38100" dir="2700000" algn="tl">
                    <a:srgbClr val="000000">
                      <a:alpha val="43137"/>
                    </a:srgbClr>
                  </a:outerShdw>
                </a:effectLst>
              </a:rPr>
              <a:t>LO 2.16 students should be able to use data types that are common to procedural high-level languages</a:t>
            </a:r>
            <a:endParaRPr lang="en-IE" sz="20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43977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83062-0084-4398-9A1B-1F9353455386}"/>
              </a:ext>
            </a:extLst>
          </p:cNvPr>
          <p:cNvSpPr>
            <a:spLocks noGrp="1"/>
          </p:cNvSpPr>
          <p:nvPr>
            <p:ph type="title" idx="4294967295"/>
          </p:nvPr>
        </p:nvSpPr>
        <p:spPr>
          <a:xfrm>
            <a:off x="0" y="274638"/>
            <a:ext cx="8229600" cy="1143000"/>
          </a:xfrm>
        </p:spPr>
        <p:txBody>
          <a:bodyPr/>
          <a:lstStyle/>
          <a:p>
            <a:r>
              <a:rPr lang="en-IE" dirty="0"/>
              <a:t>STRINGS</a:t>
            </a:r>
          </a:p>
        </p:txBody>
      </p:sp>
      <p:sp>
        <p:nvSpPr>
          <p:cNvPr id="7" name="TextBox 6">
            <a:extLst>
              <a:ext uri="{FF2B5EF4-FFF2-40B4-BE49-F238E27FC236}">
                <a16:creationId xmlns:a16="http://schemas.microsoft.com/office/drawing/2014/main" id="{C7126F4D-BED6-4271-9920-10B97176545A}"/>
              </a:ext>
            </a:extLst>
          </p:cNvPr>
          <p:cNvSpPr txBox="1"/>
          <p:nvPr/>
        </p:nvSpPr>
        <p:spPr>
          <a:xfrm>
            <a:off x="611560" y="1047735"/>
            <a:ext cx="8229600" cy="2308324"/>
          </a:xfrm>
          <a:prstGeom prst="rect">
            <a:avLst/>
          </a:prstGeom>
          <a:noFill/>
        </p:spPr>
        <p:txBody>
          <a:bodyPr wrap="square" rtlCol="0">
            <a:spAutoFit/>
          </a:bodyPr>
          <a:lstStyle/>
          <a:p>
            <a:r>
              <a:rPr lang="en-IE" sz="3600" dirty="0"/>
              <a:t>Our very first line of code we wrote in the IDE was:</a:t>
            </a:r>
          </a:p>
          <a:p>
            <a:endParaRPr lang="en-IE" sz="3600" dirty="0"/>
          </a:p>
          <a:p>
            <a:endParaRPr lang="en-IE" sz="3600" dirty="0"/>
          </a:p>
        </p:txBody>
      </p:sp>
      <p:pic>
        <p:nvPicPr>
          <p:cNvPr id="4" name="Picture 3">
            <a:extLst>
              <a:ext uri="{FF2B5EF4-FFF2-40B4-BE49-F238E27FC236}">
                <a16:creationId xmlns:a16="http://schemas.microsoft.com/office/drawing/2014/main" id="{8E65DE03-4DBF-40EA-BBF2-FA615320F1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92" y="2363692"/>
            <a:ext cx="6587555" cy="1765464"/>
          </a:xfrm>
          <a:prstGeom prst="rect">
            <a:avLst/>
          </a:prstGeom>
        </p:spPr>
      </p:pic>
      <p:sp>
        <p:nvSpPr>
          <p:cNvPr id="9" name="TextBox 8">
            <a:extLst>
              <a:ext uri="{FF2B5EF4-FFF2-40B4-BE49-F238E27FC236}">
                <a16:creationId xmlns:a16="http://schemas.microsoft.com/office/drawing/2014/main" id="{32DCAA42-A408-49D5-AE7E-6DB2FACFF5DB}"/>
              </a:ext>
            </a:extLst>
          </p:cNvPr>
          <p:cNvSpPr txBox="1"/>
          <p:nvPr/>
        </p:nvSpPr>
        <p:spPr>
          <a:xfrm>
            <a:off x="683568" y="4129156"/>
            <a:ext cx="8229600" cy="3416320"/>
          </a:xfrm>
          <a:prstGeom prst="rect">
            <a:avLst/>
          </a:prstGeom>
          <a:noFill/>
        </p:spPr>
        <p:txBody>
          <a:bodyPr wrap="square" rtlCol="0">
            <a:spAutoFit/>
          </a:bodyPr>
          <a:lstStyle/>
          <a:p>
            <a:r>
              <a:rPr lang="en-IE" sz="3600" dirty="0">
                <a:latin typeface="Courier New" panose="02070309020205020404" pitchFamily="49" charset="0"/>
                <a:cs typeface="Courier New" panose="02070309020205020404" pitchFamily="49" charset="0"/>
              </a:rPr>
              <a:t>“hello world” </a:t>
            </a:r>
            <a:r>
              <a:rPr lang="en-IE" sz="3600" dirty="0"/>
              <a:t>is an example of a string.</a:t>
            </a:r>
          </a:p>
          <a:p>
            <a:r>
              <a:rPr lang="en-IE" sz="3600" dirty="0"/>
              <a:t>You can enclose it in single quotes also.</a:t>
            </a:r>
          </a:p>
          <a:p>
            <a:r>
              <a:rPr lang="en-IE" sz="3600" dirty="0">
                <a:latin typeface="Courier New" panose="02070309020205020404" pitchFamily="49" charset="0"/>
                <a:cs typeface="Courier New" panose="02070309020205020404" pitchFamily="49" charset="0"/>
              </a:rPr>
              <a:t>(‘hello world’)</a:t>
            </a:r>
          </a:p>
          <a:p>
            <a:endParaRPr lang="en-IE" sz="3600" dirty="0"/>
          </a:p>
          <a:p>
            <a:endParaRPr lang="en-IE" sz="3600" dirty="0"/>
          </a:p>
        </p:txBody>
      </p:sp>
    </p:spTree>
    <p:extLst>
      <p:ext uri="{BB962C8B-B14F-4D97-AF65-F5344CB8AC3E}">
        <p14:creationId xmlns:p14="http://schemas.microsoft.com/office/powerpoint/2010/main" val="2045904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83062-0084-4398-9A1B-1F9353455386}"/>
              </a:ext>
            </a:extLst>
          </p:cNvPr>
          <p:cNvSpPr>
            <a:spLocks noGrp="1"/>
          </p:cNvSpPr>
          <p:nvPr>
            <p:ph type="title" idx="4294967295"/>
          </p:nvPr>
        </p:nvSpPr>
        <p:spPr>
          <a:xfrm>
            <a:off x="0" y="196850"/>
            <a:ext cx="7859713" cy="863600"/>
          </a:xfrm>
        </p:spPr>
        <p:txBody>
          <a:bodyPr/>
          <a:lstStyle/>
          <a:p>
            <a:r>
              <a:rPr lang="en-IE" dirty="0"/>
              <a:t>STRINGS</a:t>
            </a:r>
          </a:p>
        </p:txBody>
      </p:sp>
      <p:sp>
        <p:nvSpPr>
          <p:cNvPr id="6" name="Rectangle 5">
            <a:extLst>
              <a:ext uri="{FF2B5EF4-FFF2-40B4-BE49-F238E27FC236}">
                <a16:creationId xmlns:a16="http://schemas.microsoft.com/office/drawing/2014/main" id="{06E53A2D-8BD6-4601-894E-C6610EAC14DB}"/>
              </a:ext>
            </a:extLst>
          </p:cNvPr>
          <p:cNvSpPr/>
          <p:nvPr/>
        </p:nvSpPr>
        <p:spPr>
          <a:xfrm>
            <a:off x="457200" y="1052736"/>
            <a:ext cx="8445624" cy="5509200"/>
          </a:xfrm>
          <a:prstGeom prst="rect">
            <a:avLst/>
          </a:prstGeom>
        </p:spPr>
        <p:txBody>
          <a:bodyPr wrap="square">
            <a:spAutoFit/>
          </a:bodyPr>
          <a:lstStyle/>
          <a:p>
            <a:pPr marL="457200" indent="-457200">
              <a:buFont typeface="Arial" panose="020B0604020202020204" pitchFamily="34" charset="0"/>
              <a:buChar char="•"/>
            </a:pPr>
            <a:r>
              <a:rPr lang="en-US" sz="4400" dirty="0"/>
              <a:t>A </a:t>
            </a:r>
            <a:r>
              <a:rPr lang="en-US" sz="4400" b="1" dirty="0"/>
              <a:t>string</a:t>
            </a:r>
            <a:r>
              <a:rPr lang="en-US" sz="4400" dirty="0"/>
              <a:t> is a data type.</a:t>
            </a:r>
          </a:p>
          <a:p>
            <a:pPr marL="457200" indent="-457200">
              <a:buFont typeface="Arial" panose="020B0604020202020204" pitchFamily="34" charset="0"/>
              <a:buChar char="•"/>
            </a:pPr>
            <a:endParaRPr lang="en-US" sz="4400" dirty="0"/>
          </a:p>
          <a:p>
            <a:pPr marL="457200" indent="-457200">
              <a:buFont typeface="Arial" panose="020B0604020202020204" pitchFamily="34" charset="0"/>
              <a:buChar char="•"/>
            </a:pPr>
            <a:r>
              <a:rPr lang="en-US" sz="4400" dirty="0"/>
              <a:t>Each individual member of a string is a character such as “A” or “1” or “!” or “ “.</a:t>
            </a:r>
          </a:p>
          <a:p>
            <a:endParaRPr lang="en-US" sz="4400" dirty="0"/>
          </a:p>
          <a:p>
            <a:pPr algn="ctr"/>
            <a:r>
              <a:rPr lang="en-US" sz="4400" dirty="0"/>
              <a:t>(These characters are in fact strings of length 1)</a:t>
            </a:r>
          </a:p>
        </p:txBody>
      </p:sp>
    </p:spTree>
    <p:extLst>
      <p:ext uri="{BB962C8B-B14F-4D97-AF65-F5344CB8AC3E}">
        <p14:creationId xmlns:p14="http://schemas.microsoft.com/office/powerpoint/2010/main" val="2010530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a:xfrm>
            <a:off x="457200" y="-171400"/>
            <a:ext cx="8229600" cy="1143000"/>
          </a:xfrm>
        </p:spPr>
        <p:txBody>
          <a:bodyPr/>
          <a:lstStyle/>
          <a:p>
            <a:r>
              <a:rPr lang="en-IE" dirty="0"/>
              <a:t>Strings</a:t>
            </a:r>
          </a:p>
        </p:txBody>
      </p:sp>
      <p:pic>
        <p:nvPicPr>
          <p:cNvPr id="5" name="Content Placeholder 4">
            <a:extLst>
              <a:ext uri="{FF2B5EF4-FFF2-40B4-BE49-F238E27FC236}">
                <a16:creationId xmlns:a16="http://schemas.microsoft.com/office/drawing/2014/main" id="{781809BE-41D7-4828-8B43-E0EC9C209104}"/>
              </a:ext>
            </a:extLst>
          </p:cNvPr>
          <p:cNvPicPr>
            <a:picLocks noGrp="1" noChangeAspect="1"/>
          </p:cNvPicPr>
          <p:nvPr>
            <p:ph idx="1"/>
          </p:nvPr>
        </p:nvPicPr>
        <p:blipFill>
          <a:blip r:embed="rId2"/>
          <a:stretch>
            <a:fillRect/>
          </a:stretch>
        </p:blipFill>
        <p:spPr>
          <a:xfrm>
            <a:off x="198930" y="971600"/>
            <a:ext cx="8746140" cy="3312368"/>
          </a:xfrm>
        </p:spPr>
      </p:pic>
      <p:pic>
        <p:nvPicPr>
          <p:cNvPr id="6" name="Picture 5">
            <a:extLst>
              <a:ext uri="{FF2B5EF4-FFF2-40B4-BE49-F238E27FC236}">
                <a16:creationId xmlns:a16="http://schemas.microsoft.com/office/drawing/2014/main" id="{A822E3E3-0E24-44ED-8A10-75AA824B33C7}"/>
              </a:ext>
            </a:extLst>
          </p:cNvPr>
          <p:cNvPicPr>
            <a:picLocks noChangeAspect="1"/>
          </p:cNvPicPr>
          <p:nvPr/>
        </p:nvPicPr>
        <p:blipFill>
          <a:blip r:embed="rId3"/>
          <a:stretch>
            <a:fillRect/>
          </a:stretch>
        </p:blipFill>
        <p:spPr>
          <a:xfrm>
            <a:off x="210370" y="4509120"/>
            <a:ext cx="5050904" cy="2095588"/>
          </a:xfrm>
          <a:prstGeom prst="rect">
            <a:avLst/>
          </a:prstGeom>
        </p:spPr>
      </p:pic>
    </p:spTree>
    <p:extLst>
      <p:ext uri="{BB962C8B-B14F-4D97-AF65-F5344CB8AC3E}">
        <p14:creationId xmlns:p14="http://schemas.microsoft.com/office/powerpoint/2010/main" val="3900870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p:txBody>
          <a:bodyPr/>
          <a:lstStyle/>
          <a:p>
            <a:r>
              <a:rPr lang="en-IE" dirty="0"/>
              <a:t>Strings</a:t>
            </a:r>
          </a:p>
        </p:txBody>
      </p:sp>
      <p:pic>
        <p:nvPicPr>
          <p:cNvPr id="9" name="Picture 8">
            <a:extLst>
              <a:ext uri="{FF2B5EF4-FFF2-40B4-BE49-F238E27FC236}">
                <a16:creationId xmlns:a16="http://schemas.microsoft.com/office/drawing/2014/main" id="{E5F159F9-6661-4E92-8F61-A5360CA76794}"/>
              </a:ext>
            </a:extLst>
          </p:cNvPr>
          <p:cNvPicPr>
            <a:picLocks noChangeAspect="1"/>
          </p:cNvPicPr>
          <p:nvPr/>
        </p:nvPicPr>
        <p:blipFill>
          <a:blip r:embed="rId2"/>
          <a:stretch>
            <a:fillRect/>
          </a:stretch>
        </p:blipFill>
        <p:spPr>
          <a:xfrm>
            <a:off x="100012" y="1417638"/>
            <a:ext cx="8943975" cy="1285875"/>
          </a:xfrm>
          <a:prstGeom prst="rect">
            <a:avLst/>
          </a:prstGeom>
        </p:spPr>
      </p:pic>
      <p:pic>
        <p:nvPicPr>
          <p:cNvPr id="11" name="Picture 10">
            <a:extLst>
              <a:ext uri="{FF2B5EF4-FFF2-40B4-BE49-F238E27FC236}">
                <a16:creationId xmlns:a16="http://schemas.microsoft.com/office/drawing/2014/main" id="{A3F558F7-C2CC-4DE3-B1AF-0104C6FE0316}"/>
              </a:ext>
            </a:extLst>
          </p:cNvPr>
          <p:cNvPicPr>
            <a:picLocks noChangeAspect="1"/>
          </p:cNvPicPr>
          <p:nvPr/>
        </p:nvPicPr>
        <p:blipFill>
          <a:blip r:embed="rId3"/>
          <a:stretch>
            <a:fillRect/>
          </a:stretch>
        </p:blipFill>
        <p:spPr>
          <a:xfrm>
            <a:off x="100012" y="2898775"/>
            <a:ext cx="8864476" cy="1932126"/>
          </a:xfrm>
          <a:prstGeom prst="rect">
            <a:avLst/>
          </a:prstGeom>
        </p:spPr>
      </p:pic>
    </p:spTree>
    <p:extLst>
      <p:ext uri="{BB962C8B-B14F-4D97-AF65-F5344CB8AC3E}">
        <p14:creationId xmlns:p14="http://schemas.microsoft.com/office/powerpoint/2010/main" val="2485297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p:txBody>
          <a:bodyPr/>
          <a:lstStyle/>
          <a:p>
            <a:r>
              <a:rPr lang="en-IE" dirty="0"/>
              <a:t>When to use a strings</a:t>
            </a:r>
          </a:p>
        </p:txBody>
      </p:sp>
      <p:pic>
        <p:nvPicPr>
          <p:cNvPr id="4" name="Picture 3">
            <a:extLst>
              <a:ext uri="{FF2B5EF4-FFF2-40B4-BE49-F238E27FC236}">
                <a16:creationId xmlns:a16="http://schemas.microsoft.com/office/drawing/2014/main" id="{A76648AE-C643-4F95-8F97-7862F2C9A523}"/>
              </a:ext>
            </a:extLst>
          </p:cNvPr>
          <p:cNvPicPr>
            <a:picLocks noChangeAspect="1"/>
          </p:cNvPicPr>
          <p:nvPr/>
        </p:nvPicPr>
        <p:blipFill>
          <a:blip r:embed="rId2"/>
          <a:stretch>
            <a:fillRect/>
          </a:stretch>
        </p:blipFill>
        <p:spPr>
          <a:xfrm>
            <a:off x="107504" y="1453074"/>
            <a:ext cx="8906842" cy="1615886"/>
          </a:xfrm>
          <a:prstGeom prst="rect">
            <a:avLst/>
          </a:prstGeom>
        </p:spPr>
      </p:pic>
      <p:pic>
        <p:nvPicPr>
          <p:cNvPr id="6" name="Picture 5">
            <a:extLst>
              <a:ext uri="{FF2B5EF4-FFF2-40B4-BE49-F238E27FC236}">
                <a16:creationId xmlns:a16="http://schemas.microsoft.com/office/drawing/2014/main" id="{228953C8-ADA4-4784-A8B6-25EA24F24B98}"/>
              </a:ext>
            </a:extLst>
          </p:cNvPr>
          <p:cNvPicPr>
            <a:picLocks noChangeAspect="1"/>
          </p:cNvPicPr>
          <p:nvPr/>
        </p:nvPicPr>
        <p:blipFill>
          <a:blip r:embed="rId3"/>
          <a:stretch>
            <a:fillRect/>
          </a:stretch>
        </p:blipFill>
        <p:spPr>
          <a:xfrm>
            <a:off x="108690" y="3398138"/>
            <a:ext cx="8711782" cy="1326328"/>
          </a:xfrm>
          <a:prstGeom prst="rect">
            <a:avLst/>
          </a:prstGeom>
        </p:spPr>
      </p:pic>
    </p:spTree>
    <p:extLst>
      <p:ext uri="{BB962C8B-B14F-4D97-AF65-F5344CB8AC3E}">
        <p14:creationId xmlns:p14="http://schemas.microsoft.com/office/powerpoint/2010/main" val="3820144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49275"/>
            <a:ext cx="8229600" cy="1143000"/>
          </a:xfrm>
        </p:spPr>
        <p:txBody>
          <a:bodyPr/>
          <a:lstStyle/>
          <a:p>
            <a:r>
              <a:rPr lang="en-IE" dirty="0"/>
              <a:t>Learning Intentions</a:t>
            </a:r>
          </a:p>
        </p:txBody>
      </p:sp>
      <p:sp>
        <p:nvSpPr>
          <p:cNvPr id="4" name="Content Placeholder 2">
            <a:extLst>
              <a:ext uri="{FF2B5EF4-FFF2-40B4-BE49-F238E27FC236}">
                <a16:creationId xmlns:a16="http://schemas.microsoft.com/office/drawing/2014/main" id="{BF4CAFD0-BAEE-4FDA-B99D-3BE23959E0F0}"/>
              </a:ext>
            </a:extLst>
          </p:cNvPr>
          <p:cNvSpPr txBox="1">
            <a:spLocks/>
          </p:cNvSpPr>
          <p:nvPr/>
        </p:nvSpPr>
        <p:spPr>
          <a:xfrm>
            <a:off x="683568" y="1844825"/>
            <a:ext cx="8229600" cy="30243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E" dirty="0"/>
              <a:t>From this lesson the students will be able to:</a:t>
            </a:r>
          </a:p>
          <a:p>
            <a:pPr lvl="1"/>
            <a:r>
              <a:rPr lang="en-IE" dirty="0"/>
              <a:t>Understand the concept of a string</a:t>
            </a:r>
          </a:p>
          <a:p>
            <a:pPr lvl="1"/>
            <a:r>
              <a:rPr lang="en-IE" dirty="0"/>
              <a:t>Retrieve and Replace characters in strings</a:t>
            </a:r>
          </a:p>
          <a:p>
            <a:pPr lvl="1"/>
            <a:r>
              <a:rPr lang="en-IE" dirty="0"/>
              <a:t>Slice a string into sub-strings</a:t>
            </a:r>
          </a:p>
          <a:p>
            <a:pPr lvl="1"/>
            <a:r>
              <a:rPr lang="en-IE" dirty="0"/>
              <a:t>Write strings to a file</a:t>
            </a:r>
          </a:p>
          <a:p>
            <a:pPr lvl="1"/>
            <a:endParaRPr lang="en-IE" dirty="0"/>
          </a:p>
        </p:txBody>
      </p:sp>
      <p:sp>
        <p:nvSpPr>
          <p:cNvPr id="5" name="TextBox 4">
            <a:extLst>
              <a:ext uri="{FF2B5EF4-FFF2-40B4-BE49-F238E27FC236}">
                <a16:creationId xmlns:a16="http://schemas.microsoft.com/office/drawing/2014/main" id="{DDAEB138-0EDE-4B47-BDD8-830AE5D61FAD}"/>
              </a:ext>
            </a:extLst>
          </p:cNvPr>
          <p:cNvSpPr txBox="1"/>
          <p:nvPr/>
        </p:nvSpPr>
        <p:spPr>
          <a:xfrm>
            <a:off x="179512" y="6021288"/>
            <a:ext cx="8856984" cy="707886"/>
          </a:xfrm>
          <a:prstGeom prst="rect">
            <a:avLst/>
          </a:prstGeom>
          <a:noFill/>
        </p:spPr>
        <p:txBody>
          <a:bodyPr wrap="square" rtlCol="0">
            <a:spAutoFit/>
          </a:bodyPr>
          <a:lstStyle/>
          <a:p>
            <a:r>
              <a:rPr lang="en-IE" sz="2000" dirty="0">
                <a:solidFill>
                  <a:srgbClr val="00B050"/>
                </a:solidFill>
                <a:effectLst>
                  <a:outerShdw blurRad="38100" dist="38100" dir="2700000" algn="tl">
                    <a:srgbClr val="000000">
                      <a:alpha val="43137"/>
                    </a:srgbClr>
                  </a:outerShdw>
                </a:effectLst>
              </a:rPr>
              <a:t>LO 2.16 students should be able to use data types that are common to procedural high-level languages</a:t>
            </a:r>
            <a:endParaRPr lang="en-IE" sz="20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747995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83062-0084-4398-9A1B-1F9353455386}"/>
              </a:ext>
            </a:extLst>
          </p:cNvPr>
          <p:cNvSpPr>
            <a:spLocks noGrp="1"/>
          </p:cNvSpPr>
          <p:nvPr>
            <p:ph type="title" idx="4294967295"/>
          </p:nvPr>
        </p:nvSpPr>
        <p:spPr>
          <a:xfrm>
            <a:off x="0" y="188913"/>
            <a:ext cx="8229600" cy="1143000"/>
          </a:xfrm>
        </p:spPr>
        <p:txBody>
          <a:bodyPr/>
          <a:lstStyle/>
          <a:p>
            <a:r>
              <a:rPr lang="en-IE" dirty="0"/>
              <a:t>STRINGS</a:t>
            </a:r>
          </a:p>
        </p:txBody>
      </p:sp>
      <p:sp>
        <p:nvSpPr>
          <p:cNvPr id="6" name="Rectangle 5">
            <a:extLst>
              <a:ext uri="{FF2B5EF4-FFF2-40B4-BE49-F238E27FC236}">
                <a16:creationId xmlns:a16="http://schemas.microsoft.com/office/drawing/2014/main" id="{06E53A2D-8BD6-4601-894E-C6610EAC14DB}"/>
              </a:ext>
            </a:extLst>
          </p:cNvPr>
          <p:cNvSpPr/>
          <p:nvPr/>
        </p:nvSpPr>
        <p:spPr>
          <a:xfrm>
            <a:off x="457200" y="1124744"/>
            <a:ext cx="8445624" cy="2862322"/>
          </a:xfrm>
          <a:prstGeom prst="rect">
            <a:avLst/>
          </a:prstGeom>
        </p:spPr>
        <p:txBody>
          <a:bodyPr wrap="square">
            <a:spAutoFit/>
          </a:bodyPr>
          <a:lstStyle/>
          <a:p>
            <a:pPr marL="457200" indent="-457200">
              <a:buFont typeface="Arial" panose="020B0604020202020204" pitchFamily="34" charset="0"/>
              <a:buChar char="•"/>
            </a:pPr>
            <a:r>
              <a:rPr lang="en-US" sz="3600" dirty="0"/>
              <a:t>The characters can be accessed by their index or place in the string.</a:t>
            </a:r>
          </a:p>
          <a:p>
            <a:pPr marL="457200" indent="-457200">
              <a:buFont typeface="Arial" panose="020B0604020202020204" pitchFamily="34" charset="0"/>
              <a:buChar char="•"/>
            </a:pPr>
            <a:endParaRPr lang="en-US" sz="3600" dirty="0"/>
          </a:p>
          <a:p>
            <a:pPr marL="457200" indent="-457200">
              <a:buFont typeface="Arial" panose="020B0604020202020204" pitchFamily="34" charset="0"/>
              <a:buChar char="•"/>
            </a:pPr>
            <a:r>
              <a:rPr lang="en-US" sz="3600" dirty="0"/>
              <a:t>The first index is ZERO</a:t>
            </a:r>
          </a:p>
          <a:p>
            <a:pPr marL="457200" indent="-457200">
              <a:buFont typeface="Arial" panose="020B0604020202020204" pitchFamily="34" charset="0"/>
              <a:buChar char="•"/>
            </a:pPr>
            <a:endParaRPr lang="en-US" sz="3600" dirty="0"/>
          </a:p>
        </p:txBody>
      </p:sp>
    </p:spTree>
    <p:extLst>
      <p:ext uri="{BB962C8B-B14F-4D97-AF65-F5344CB8AC3E}">
        <p14:creationId xmlns:p14="http://schemas.microsoft.com/office/powerpoint/2010/main" val="2418622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p:txBody>
          <a:bodyPr/>
          <a:lstStyle/>
          <a:p>
            <a:r>
              <a:rPr lang="en-IE" dirty="0"/>
              <a:t>String Indexing</a:t>
            </a:r>
          </a:p>
        </p:txBody>
      </p:sp>
      <p:pic>
        <p:nvPicPr>
          <p:cNvPr id="5" name="Picture 4">
            <a:extLst>
              <a:ext uri="{FF2B5EF4-FFF2-40B4-BE49-F238E27FC236}">
                <a16:creationId xmlns:a16="http://schemas.microsoft.com/office/drawing/2014/main" id="{A0EB0DF0-F1F7-4894-8B9A-A0E9662AE9B8}"/>
              </a:ext>
            </a:extLst>
          </p:cNvPr>
          <p:cNvPicPr>
            <a:picLocks noChangeAspect="1"/>
          </p:cNvPicPr>
          <p:nvPr/>
        </p:nvPicPr>
        <p:blipFill>
          <a:blip r:embed="rId2"/>
          <a:stretch>
            <a:fillRect/>
          </a:stretch>
        </p:blipFill>
        <p:spPr>
          <a:xfrm>
            <a:off x="683568" y="1340768"/>
            <a:ext cx="2943225" cy="952500"/>
          </a:xfrm>
          <a:prstGeom prst="rect">
            <a:avLst/>
          </a:prstGeom>
        </p:spPr>
      </p:pic>
      <p:pic>
        <p:nvPicPr>
          <p:cNvPr id="8" name="Picture 7">
            <a:extLst>
              <a:ext uri="{FF2B5EF4-FFF2-40B4-BE49-F238E27FC236}">
                <a16:creationId xmlns:a16="http://schemas.microsoft.com/office/drawing/2014/main" id="{9BE1E776-CA7E-433F-9F3B-F74205136508}"/>
              </a:ext>
            </a:extLst>
          </p:cNvPr>
          <p:cNvPicPr>
            <a:picLocks noChangeAspect="1"/>
          </p:cNvPicPr>
          <p:nvPr/>
        </p:nvPicPr>
        <p:blipFill>
          <a:blip r:embed="rId3"/>
          <a:stretch>
            <a:fillRect/>
          </a:stretch>
        </p:blipFill>
        <p:spPr>
          <a:xfrm>
            <a:off x="581040" y="3919258"/>
            <a:ext cx="7848872" cy="1597974"/>
          </a:xfrm>
          <a:prstGeom prst="rect">
            <a:avLst/>
          </a:prstGeom>
        </p:spPr>
      </p:pic>
      <p:sp>
        <p:nvSpPr>
          <p:cNvPr id="6" name="Title 1">
            <a:extLst>
              <a:ext uri="{FF2B5EF4-FFF2-40B4-BE49-F238E27FC236}">
                <a16:creationId xmlns:a16="http://schemas.microsoft.com/office/drawing/2014/main" id="{4AC98005-9EF2-43DB-A9B5-A1F74E7F1A89}"/>
              </a:ext>
            </a:extLst>
          </p:cNvPr>
          <p:cNvSpPr txBox="1">
            <a:spLocks/>
          </p:cNvSpPr>
          <p:nvPr/>
        </p:nvSpPr>
        <p:spPr>
          <a:xfrm>
            <a:off x="312802" y="2938742"/>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E" sz="3200" dirty="0"/>
              <a:t>The index position of every character in string s</a:t>
            </a:r>
          </a:p>
        </p:txBody>
      </p:sp>
    </p:spTree>
    <p:extLst>
      <p:ext uri="{BB962C8B-B14F-4D97-AF65-F5344CB8AC3E}">
        <p14:creationId xmlns:p14="http://schemas.microsoft.com/office/powerpoint/2010/main" val="17483800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a:xfrm>
            <a:off x="457200" y="32048"/>
            <a:ext cx="8229600" cy="1143000"/>
          </a:xfrm>
        </p:spPr>
        <p:txBody>
          <a:bodyPr/>
          <a:lstStyle/>
          <a:p>
            <a:r>
              <a:rPr lang="en-IE" dirty="0"/>
              <a:t>String Indexing</a:t>
            </a:r>
          </a:p>
        </p:txBody>
      </p:sp>
      <p:pic>
        <p:nvPicPr>
          <p:cNvPr id="5" name="Picture 4">
            <a:extLst>
              <a:ext uri="{FF2B5EF4-FFF2-40B4-BE49-F238E27FC236}">
                <a16:creationId xmlns:a16="http://schemas.microsoft.com/office/drawing/2014/main" id="{A0EB0DF0-F1F7-4894-8B9A-A0E9662AE9B8}"/>
              </a:ext>
            </a:extLst>
          </p:cNvPr>
          <p:cNvPicPr>
            <a:picLocks noChangeAspect="1"/>
          </p:cNvPicPr>
          <p:nvPr/>
        </p:nvPicPr>
        <p:blipFill>
          <a:blip r:embed="rId2"/>
          <a:stretch>
            <a:fillRect/>
          </a:stretch>
        </p:blipFill>
        <p:spPr>
          <a:xfrm>
            <a:off x="3203848" y="941080"/>
            <a:ext cx="2943225" cy="952500"/>
          </a:xfrm>
          <a:prstGeom prst="rect">
            <a:avLst/>
          </a:prstGeom>
        </p:spPr>
      </p:pic>
      <p:pic>
        <p:nvPicPr>
          <p:cNvPr id="6" name="Picture 5">
            <a:extLst>
              <a:ext uri="{FF2B5EF4-FFF2-40B4-BE49-F238E27FC236}">
                <a16:creationId xmlns:a16="http://schemas.microsoft.com/office/drawing/2014/main" id="{6E6CD1C4-6537-4D7C-A28E-B9ED7A854D3C}"/>
              </a:ext>
            </a:extLst>
          </p:cNvPr>
          <p:cNvPicPr>
            <a:picLocks noChangeAspect="1"/>
          </p:cNvPicPr>
          <p:nvPr/>
        </p:nvPicPr>
        <p:blipFill>
          <a:blip r:embed="rId3"/>
          <a:stretch>
            <a:fillRect/>
          </a:stretch>
        </p:blipFill>
        <p:spPr>
          <a:xfrm>
            <a:off x="3195886" y="2348880"/>
            <a:ext cx="2458616" cy="4242869"/>
          </a:xfrm>
          <a:prstGeom prst="rect">
            <a:avLst/>
          </a:prstGeom>
        </p:spPr>
      </p:pic>
    </p:spTree>
    <p:extLst>
      <p:ext uri="{BB962C8B-B14F-4D97-AF65-F5344CB8AC3E}">
        <p14:creationId xmlns:p14="http://schemas.microsoft.com/office/powerpoint/2010/main" val="1706755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a:xfrm>
            <a:off x="457200" y="32048"/>
            <a:ext cx="8229600" cy="1143000"/>
          </a:xfrm>
        </p:spPr>
        <p:txBody>
          <a:bodyPr/>
          <a:lstStyle/>
          <a:p>
            <a:r>
              <a:rPr lang="en-IE" dirty="0"/>
              <a:t>String Indexing</a:t>
            </a:r>
          </a:p>
        </p:txBody>
      </p:sp>
      <p:pic>
        <p:nvPicPr>
          <p:cNvPr id="4" name="Picture 3">
            <a:extLst>
              <a:ext uri="{FF2B5EF4-FFF2-40B4-BE49-F238E27FC236}">
                <a16:creationId xmlns:a16="http://schemas.microsoft.com/office/drawing/2014/main" id="{09CD4A83-C7C7-4E43-BB1C-A76FFEC3C05B}"/>
              </a:ext>
            </a:extLst>
          </p:cNvPr>
          <p:cNvPicPr>
            <a:picLocks noChangeAspect="1"/>
          </p:cNvPicPr>
          <p:nvPr/>
        </p:nvPicPr>
        <p:blipFill>
          <a:blip r:embed="rId2"/>
          <a:stretch>
            <a:fillRect/>
          </a:stretch>
        </p:blipFill>
        <p:spPr>
          <a:xfrm>
            <a:off x="147637" y="1180758"/>
            <a:ext cx="8848725" cy="2667000"/>
          </a:xfrm>
          <a:prstGeom prst="rect">
            <a:avLst/>
          </a:prstGeom>
        </p:spPr>
      </p:pic>
      <p:pic>
        <p:nvPicPr>
          <p:cNvPr id="10" name="Picture 9">
            <a:extLst>
              <a:ext uri="{FF2B5EF4-FFF2-40B4-BE49-F238E27FC236}">
                <a16:creationId xmlns:a16="http://schemas.microsoft.com/office/drawing/2014/main" id="{A306A26B-1C61-4EC3-8B85-D0F2FE66DF67}"/>
              </a:ext>
            </a:extLst>
          </p:cNvPr>
          <p:cNvPicPr>
            <a:picLocks noChangeAspect="1"/>
          </p:cNvPicPr>
          <p:nvPr/>
        </p:nvPicPr>
        <p:blipFill>
          <a:blip r:embed="rId3"/>
          <a:stretch>
            <a:fillRect/>
          </a:stretch>
        </p:blipFill>
        <p:spPr>
          <a:xfrm>
            <a:off x="323528" y="4653136"/>
            <a:ext cx="4152900" cy="1895475"/>
          </a:xfrm>
          <a:prstGeom prst="rect">
            <a:avLst/>
          </a:prstGeom>
        </p:spPr>
      </p:pic>
      <p:sp>
        <p:nvSpPr>
          <p:cNvPr id="11" name="Title 1">
            <a:extLst>
              <a:ext uri="{FF2B5EF4-FFF2-40B4-BE49-F238E27FC236}">
                <a16:creationId xmlns:a16="http://schemas.microsoft.com/office/drawing/2014/main" id="{0BCF2C42-DD3F-4E51-A252-F68CA9C80C72}"/>
              </a:ext>
            </a:extLst>
          </p:cNvPr>
          <p:cNvSpPr txBox="1">
            <a:spLocks/>
          </p:cNvSpPr>
          <p:nvPr/>
        </p:nvSpPr>
        <p:spPr>
          <a:xfrm>
            <a:off x="-1116632" y="3757444"/>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E" sz="3600" dirty="0"/>
              <a:t>The Output from the Program</a:t>
            </a:r>
          </a:p>
        </p:txBody>
      </p:sp>
    </p:spTree>
    <p:extLst>
      <p:ext uri="{BB962C8B-B14F-4D97-AF65-F5344CB8AC3E}">
        <p14:creationId xmlns:p14="http://schemas.microsoft.com/office/powerpoint/2010/main" val="2977789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a:xfrm>
            <a:off x="457200" y="32048"/>
            <a:ext cx="8229600" cy="1143000"/>
          </a:xfrm>
        </p:spPr>
        <p:txBody>
          <a:bodyPr/>
          <a:lstStyle/>
          <a:p>
            <a:r>
              <a:rPr lang="en-IE" dirty="0"/>
              <a:t>Negative Indexing</a:t>
            </a:r>
          </a:p>
        </p:txBody>
      </p:sp>
      <mc:AlternateContent xmlns:mc="http://schemas.openxmlformats.org/markup-compatibility/2006" xmlns:a14="http://schemas.microsoft.com/office/drawing/2010/main">
        <mc:Choice Requires="a14">
          <p:sp>
            <p:nvSpPr>
              <p:cNvPr id="11" name="Title 1">
                <a:extLst>
                  <a:ext uri="{FF2B5EF4-FFF2-40B4-BE49-F238E27FC236}">
                    <a16:creationId xmlns:a16="http://schemas.microsoft.com/office/drawing/2014/main" id="{0BCF2C42-DD3F-4E51-A252-F68CA9C80C72}"/>
                  </a:ext>
                </a:extLst>
              </p:cNvPr>
              <p:cNvSpPr txBox="1">
                <a:spLocks/>
              </p:cNvSpPr>
              <p:nvPr/>
            </p:nvSpPr>
            <p:spPr>
              <a:xfrm>
                <a:off x="397848" y="3629768"/>
                <a:ext cx="8229600" cy="289557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285750" indent="-285750" algn="l">
                  <a:lnSpc>
                    <a:spcPct val="110000"/>
                  </a:lnSpc>
                  <a:spcAft>
                    <a:spcPts val="1000"/>
                  </a:spcAft>
                  <a:buFont typeface="Arial" panose="020B0604020202020204" pitchFamily="34" charset="0"/>
                  <a:buChar char="•"/>
                </a:pPr>
                <a:r>
                  <a:rPr lang="en-IE" sz="2400" dirty="0">
                    <a:effectLst/>
                    <a:latin typeface="Arial" panose="020B0604020202020204" pitchFamily="34" charset="0"/>
                    <a:ea typeface="Calibri" panose="020F0502020204030204" pitchFamily="34" charset="0"/>
                    <a:cs typeface="Times New Roman" panose="02020603050405020304" pitchFamily="18" charset="0"/>
                  </a:rPr>
                  <a:t>The diagram shows the positive and negative indices of the string </a:t>
                </a:r>
                <a:r>
                  <a:rPr lang="en-IE" sz="2400" i="1" dirty="0">
                    <a:effectLst/>
                    <a:latin typeface="Arial" panose="020B0604020202020204" pitchFamily="34" charset="0"/>
                    <a:ea typeface="Calibri" panose="020F0502020204030204" pitchFamily="34" charset="0"/>
                    <a:cs typeface="Times New Roman" panose="02020603050405020304" pitchFamily="18" charset="0"/>
                  </a:rPr>
                  <a:t>Hello</a:t>
                </a:r>
                <a:r>
                  <a:rPr lang="en-IE" sz="2400" dirty="0">
                    <a:effectLst/>
                    <a:latin typeface="Arial" panose="020B0604020202020204" pitchFamily="34" charset="0"/>
                    <a:ea typeface="Calibri" panose="020F0502020204030204" pitchFamily="34" charset="0"/>
                    <a:cs typeface="Times New Roman" panose="02020603050405020304" pitchFamily="18" charset="0"/>
                  </a:rPr>
                  <a:t>. </a:t>
                </a:r>
                <a:endParaRPr lang="en-IE" sz="2400" dirty="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10000"/>
                  </a:lnSpc>
                  <a:spcAft>
                    <a:spcPts val="1000"/>
                  </a:spcAft>
                </a:pPr>
                <a:r>
                  <a:rPr lang="en-IE" sz="2400" dirty="0">
                    <a:effectLst/>
                    <a:latin typeface="Arial" panose="020B0604020202020204" pitchFamily="34" charset="0"/>
                    <a:ea typeface="Calibri" panose="020F0502020204030204" pitchFamily="34" charset="0"/>
                    <a:cs typeface="Times New Roman" panose="02020603050405020304" pitchFamily="18" charset="0"/>
                  </a:rPr>
                  <a:t> </a:t>
                </a:r>
                <a:endParaRPr lang="en-IE" sz="24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l">
                  <a:lnSpc>
                    <a:spcPct val="110000"/>
                  </a:lnSpc>
                  <a:buFont typeface="Arial" panose="020B0604020202020204" pitchFamily="34" charset="0"/>
                  <a:buChar char="•"/>
                </a:pPr>
                <a:r>
                  <a:rPr lang="en-IE" sz="2400" dirty="0">
                    <a:effectLst/>
                    <a:latin typeface="Arial" panose="020B0604020202020204" pitchFamily="34" charset="0"/>
                    <a:ea typeface="Calibri" panose="020F0502020204030204" pitchFamily="34" charset="0"/>
                  </a:rPr>
                  <a:t>The last (rightmost) character of the string can be accessed using index </a:t>
                </a:r>
                <a14:m>
                  <m:oMath xmlns:m="http://schemas.openxmlformats.org/officeDocument/2006/math">
                    <m:r>
                      <a:rPr lang="en-IE" sz="2400" i="1">
                        <a:effectLst/>
                        <a:latin typeface="Cambria Math" panose="02040503050406030204" pitchFamily="18" charset="0"/>
                        <a:ea typeface="Calibri" panose="020F0502020204030204" pitchFamily="34" charset="0"/>
                        <a:cs typeface="Arial" panose="020B0604020202020204" pitchFamily="34" charset="0"/>
                      </a:rPr>
                      <m:t>−1</m:t>
                    </m:r>
                  </m:oMath>
                </a14:m>
                <a:r>
                  <a:rPr lang="en-IE" sz="2400" dirty="0">
                    <a:effectLst/>
                    <a:latin typeface="Arial" panose="020B0604020202020204" pitchFamily="34" charset="0"/>
                    <a:ea typeface="Calibri" panose="020F0502020204030204" pitchFamily="34" charset="0"/>
                  </a:rPr>
                  <a:t>. Working from right to left the index of each character is one less than its predecessor</a:t>
                </a:r>
                <a:endParaRPr lang="en-IE" dirty="0"/>
              </a:p>
            </p:txBody>
          </p:sp>
        </mc:Choice>
        <mc:Fallback xmlns="">
          <p:sp>
            <p:nvSpPr>
              <p:cNvPr id="11" name="Title 1">
                <a:extLst>
                  <a:ext uri="{FF2B5EF4-FFF2-40B4-BE49-F238E27FC236}">
                    <a16:creationId xmlns:a16="http://schemas.microsoft.com/office/drawing/2014/main" id="{0BCF2C42-DD3F-4E51-A252-F68CA9C80C72}"/>
                  </a:ext>
                </a:extLst>
              </p:cNvPr>
              <p:cNvSpPr txBox="1">
                <a:spLocks noRot="1" noChangeAspect="1" noMove="1" noResize="1" noEditPoints="1" noAdjustHandles="1" noChangeArrowheads="1" noChangeShapeType="1" noTextEdit="1"/>
              </p:cNvSpPr>
              <p:nvPr/>
            </p:nvSpPr>
            <p:spPr>
              <a:xfrm>
                <a:off x="397848" y="3629768"/>
                <a:ext cx="8229600" cy="2895576"/>
              </a:xfrm>
              <a:prstGeom prst="rect">
                <a:avLst/>
              </a:prstGeom>
              <a:blipFill>
                <a:blip r:embed="rId2"/>
                <a:stretch>
                  <a:fillRect l="-963" b="-1895"/>
                </a:stretch>
              </a:blipFill>
            </p:spPr>
            <p:txBody>
              <a:bodyPr/>
              <a:lstStyle/>
              <a:p>
                <a:r>
                  <a:rPr lang="en-IE">
                    <a:noFill/>
                  </a:rPr>
                  <a:t> </a:t>
                </a:r>
              </a:p>
            </p:txBody>
          </p:sp>
        </mc:Fallback>
      </mc:AlternateContent>
      <p:pic>
        <p:nvPicPr>
          <p:cNvPr id="5" name="Picture 4">
            <a:extLst>
              <a:ext uri="{FF2B5EF4-FFF2-40B4-BE49-F238E27FC236}">
                <a16:creationId xmlns:a16="http://schemas.microsoft.com/office/drawing/2014/main" id="{F991EA8E-8944-46FB-90B2-5C3DE44B76CD}"/>
              </a:ext>
            </a:extLst>
          </p:cNvPr>
          <p:cNvPicPr>
            <a:picLocks noChangeAspect="1"/>
          </p:cNvPicPr>
          <p:nvPr/>
        </p:nvPicPr>
        <p:blipFill>
          <a:blip r:embed="rId3"/>
          <a:stretch>
            <a:fillRect/>
          </a:stretch>
        </p:blipFill>
        <p:spPr>
          <a:xfrm>
            <a:off x="457200" y="1052736"/>
            <a:ext cx="3826768" cy="2564466"/>
          </a:xfrm>
          <a:prstGeom prst="rect">
            <a:avLst/>
          </a:prstGeom>
        </p:spPr>
      </p:pic>
    </p:spTree>
    <p:extLst>
      <p:ext uri="{BB962C8B-B14F-4D97-AF65-F5344CB8AC3E}">
        <p14:creationId xmlns:p14="http://schemas.microsoft.com/office/powerpoint/2010/main" val="1196542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a:xfrm>
            <a:off x="457200" y="32048"/>
            <a:ext cx="8229600" cy="1143000"/>
          </a:xfrm>
        </p:spPr>
        <p:txBody>
          <a:bodyPr/>
          <a:lstStyle/>
          <a:p>
            <a:r>
              <a:rPr lang="en-IE" dirty="0"/>
              <a:t>Common Pitfalls with strings</a:t>
            </a:r>
          </a:p>
        </p:txBody>
      </p:sp>
      <p:pic>
        <p:nvPicPr>
          <p:cNvPr id="4" name="Picture 3">
            <a:extLst>
              <a:ext uri="{FF2B5EF4-FFF2-40B4-BE49-F238E27FC236}">
                <a16:creationId xmlns:a16="http://schemas.microsoft.com/office/drawing/2014/main" id="{373A04E3-1730-407A-8B32-F0C727AE614C}"/>
              </a:ext>
            </a:extLst>
          </p:cNvPr>
          <p:cNvPicPr>
            <a:picLocks noChangeAspect="1"/>
          </p:cNvPicPr>
          <p:nvPr/>
        </p:nvPicPr>
        <p:blipFill>
          <a:blip r:embed="rId2"/>
          <a:stretch>
            <a:fillRect/>
          </a:stretch>
        </p:blipFill>
        <p:spPr>
          <a:xfrm>
            <a:off x="107504" y="1235636"/>
            <a:ext cx="3615830" cy="1368152"/>
          </a:xfrm>
          <a:prstGeom prst="rect">
            <a:avLst/>
          </a:prstGeom>
        </p:spPr>
      </p:pic>
      <p:sp>
        <p:nvSpPr>
          <p:cNvPr id="8" name="Title 1">
            <a:extLst>
              <a:ext uri="{FF2B5EF4-FFF2-40B4-BE49-F238E27FC236}">
                <a16:creationId xmlns:a16="http://schemas.microsoft.com/office/drawing/2014/main" id="{58437D8D-E262-4383-8389-61CCB51F40ED}"/>
              </a:ext>
            </a:extLst>
          </p:cNvPr>
          <p:cNvSpPr txBox="1">
            <a:spLocks/>
          </p:cNvSpPr>
          <p:nvPr/>
        </p:nvSpPr>
        <p:spPr>
          <a:xfrm>
            <a:off x="4031432" y="1235636"/>
            <a:ext cx="5112568" cy="144016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571500" indent="-571500" algn="l">
              <a:buFont typeface="Arial" panose="020B0604020202020204" pitchFamily="34" charset="0"/>
              <a:buChar char="•"/>
            </a:pPr>
            <a:r>
              <a:rPr lang="en-IE" sz="2800" dirty="0"/>
              <a:t>Once a string is initialised (given a value) it can not be changed</a:t>
            </a:r>
          </a:p>
        </p:txBody>
      </p:sp>
      <p:pic>
        <p:nvPicPr>
          <p:cNvPr id="7" name="Picture 6">
            <a:extLst>
              <a:ext uri="{FF2B5EF4-FFF2-40B4-BE49-F238E27FC236}">
                <a16:creationId xmlns:a16="http://schemas.microsoft.com/office/drawing/2014/main" id="{A2CD334E-50D1-47C0-9C09-BB610B60C67D}"/>
              </a:ext>
            </a:extLst>
          </p:cNvPr>
          <p:cNvPicPr>
            <a:picLocks noChangeAspect="1"/>
          </p:cNvPicPr>
          <p:nvPr/>
        </p:nvPicPr>
        <p:blipFill>
          <a:blip r:embed="rId3"/>
          <a:stretch>
            <a:fillRect/>
          </a:stretch>
        </p:blipFill>
        <p:spPr>
          <a:xfrm>
            <a:off x="140678" y="3861048"/>
            <a:ext cx="4180209" cy="1344166"/>
          </a:xfrm>
          <a:prstGeom prst="rect">
            <a:avLst/>
          </a:prstGeom>
        </p:spPr>
      </p:pic>
      <p:sp>
        <p:nvSpPr>
          <p:cNvPr id="12" name="Title 1">
            <a:extLst>
              <a:ext uri="{FF2B5EF4-FFF2-40B4-BE49-F238E27FC236}">
                <a16:creationId xmlns:a16="http://schemas.microsoft.com/office/drawing/2014/main" id="{C73E7DC3-661E-4AAB-9679-3BD2D8E47F90}"/>
              </a:ext>
            </a:extLst>
          </p:cNvPr>
          <p:cNvSpPr txBox="1">
            <a:spLocks/>
          </p:cNvSpPr>
          <p:nvPr/>
        </p:nvSpPr>
        <p:spPr>
          <a:xfrm>
            <a:off x="4320887" y="3741048"/>
            <a:ext cx="5112568" cy="144016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571500" indent="-571500" algn="l">
              <a:buFont typeface="Arial" panose="020B0604020202020204" pitchFamily="34" charset="0"/>
              <a:buChar char="•"/>
            </a:pPr>
            <a:r>
              <a:rPr lang="en-IE" sz="2800" dirty="0"/>
              <a:t>The index value is too big</a:t>
            </a:r>
          </a:p>
        </p:txBody>
      </p:sp>
    </p:spTree>
    <p:extLst>
      <p:ext uri="{BB962C8B-B14F-4D97-AF65-F5344CB8AC3E}">
        <p14:creationId xmlns:p14="http://schemas.microsoft.com/office/powerpoint/2010/main" val="4266797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a:xfrm>
            <a:off x="457200" y="32048"/>
            <a:ext cx="8229600" cy="1143000"/>
          </a:xfrm>
        </p:spPr>
        <p:txBody>
          <a:bodyPr/>
          <a:lstStyle/>
          <a:p>
            <a:r>
              <a:rPr lang="en-IE" dirty="0"/>
              <a:t>String Slicing (substrings)</a:t>
            </a:r>
          </a:p>
        </p:txBody>
      </p:sp>
      <p:sp>
        <p:nvSpPr>
          <p:cNvPr id="11" name="Title 1">
            <a:extLst>
              <a:ext uri="{FF2B5EF4-FFF2-40B4-BE49-F238E27FC236}">
                <a16:creationId xmlns:a16="http://schemas.microsoft.com/office/drawing/2014/main" id="{0BCF2C42-DD3F-4E51-A252-F68CA9C80C72}"/>
              </a:ext>
            </a:extLst>
          </p:cNvPr>
          <p:cNvSpPr txBox="1">
            <a:spLocks/>
          </p:cNvSpPr>
          <p:nvPr/>
        </p:nvSpPr>
        <p:spPr>
          <a:xfrm>
            <a:off x="-1188640" y="34290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E" sz="3600" dirty="0"/>
              <a:t>The Output from the Program</a:t>
            </a:r>
          </a:p>
        </p:txBody>
      </p:sp>
      <p:pic>
        <p:nvPicPr>
          <p:cNvPr id="5" name="Picture 4">
            <a:extLst>
              <a:ext uri="{FF2B5EF4-FFF2-40B4-BE49-F238E27FC236}">
                <a16:creationId xmlns:a16="http://schemas.microsoft.com/office/drawing/2014/main" id="{28FC4326-A102-4C39-8F81-F389935FFE9C}"/>
              </a:ext>
            </a:extLst>
          </p:cNvPr>
          <p:cNvPicPr>
            <a:picLocks noChangeAspect="1"/>
          </p:cNvPicPr>
          <p:nvPr/>
        </p:nvPicPr>
        <p:blipFill>
          <a:blip r:embed="rId2"/>
          <a:stretch>
            <a:fillRect/>
          </a:stretch>
        </p:blipFill>
        <p:spPr>
          <a:xfrm>
            <a:off x="-29696" y="1028982"/>
            <a:ext cx="9144000" cy="2071574"/>
          </a:xfrm>
          <a:prstGeom prst="rect">
            <a:avLst/>
          </a:prstGeom>
        </p:spPr>
      </p:pic>
      <p:pic>
        <p:nvPicPr>
          <p:cNvPr id="9" name="Picture 8">
            <a:extLst>
              <a:ext uri="{FF2B5EF4-FFF2-40B4-BE49-F238E27FC236}">
                <a16:creationId xmlns:a16="http://schemas.microsoft.com/office/drawing/2014/main" id="{CFF4820F-A403-42DF-8B45-F93B882CEB12}"/>
              </a:ext>
            </a:extLst>
          </p:cNvPr>
          <p:cNvPicPr>
            <a:picLocks noChangeAspect="1"/>
          </p:cNvPicPr>
          <p:nvPr/>
        </p:nvPicPr>
        <p:blipFill>
          <a:blip r:embed="rId3"/>
          <a:stretch>
            <a:fillRect/>
          </a:stretch>
        </p:blipFill>
        <p:spPr>
          <a:xfrm>
            <a:off x="0" y="4365104"/>
            <a:ext cx="9144000" cy="1930505"/>
          </a:xfrm>
          <a:prstGeom prst="rect">
            <a:avLst/>
          </a:prstGeom>
        </p:spPr>
      </p:pic>
    </p:spTree>
    <p:extLst>
      <p:ext uri="{BB962C8B-B14F-4D97-AF65-F5344CB8AC3E}">
        <p14:creationId xmlns:p14="http://schemas.microsoft.com/office/powerpoint/2010/main" val="2207128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a:xfrm>
            <a:off x="457200" y="32048"/>
            <a:ext cx="8229600" cy="1143000"/>
          </a:xfrm>
        </p:spPr>
        <p:txBody>
          <a:bodyPr/>
          <a:lstStyle/>
          <a:p>
            <a:r>
              <a:rPr lang="en-IE" dirty="0"/>
              <a:t>String Slicing </a:t>
            </a:r>
          </a:p>
        </p:txBody>
      </p:sp>
      <p:pic>
        <p:nvPicPr>
          <p:cNvPr id="9" name="Picture 8">
            <a:extLst>
              <a:ext uri="{FF2B5EF4-FFF2-40B4-BE49-F238E27FC236}">
                <a16:creationId xmlns:a16="http://schemas.microsoft.com/office/drawing/2014/main" id="{1D06EB3F-FCF9-43C2-A974-55568AE500EB}"/>
              </a:ext>
            </a:extLst>
          </p:cNvPr>
          <p:cNvPicPr>
            <a:picLocks noChangeAspect="1"/>
          </p:cNvPicPr>
          <p:nvPr/>
        </p:nvPicPr>
        <p:blipFill>
          <a:blip r:embed="rId2"/>
          <a:stretch>
            <a:fillRect/>
          </a:stretch>
        </p:blipFill>
        <p:spPr>
          <a:xfrm>
            <a:off x="179512" y="1052736"/>
            <a:ext cx="8749494" cy="2304256"/>
          </a:xfrm>
          <a:prstGeom prst="rect">
            <a:avLst/>
          </a:prstGeom>
        </p:spPr>
      </p:pic>
    </p:spTree>
    <p:extLst>
      <p:ext uri="{BB962C8B-B14F-4D97-AF65-F5344CB8AC3E}">
        <p14:creationId xmlns:p14="http://schemas.microsoft.com/office/powerpoint/2010/main" val="29287462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a:xfrm>
            <a:off x="457200" y="0"/>
            <a:ext cx="8229600" cy="1143000"/>
          </a:xfrm>
        </p:spPr>
        <p:txBody>
          <a:bodyPr/>
          <a:lstStyle/>
          <a:p>
            <a:r>
              <a:rPr lang="en-IE" dirty="0"/>
              <a:t>String Addition</a:t>
            </a:r>
          </a:p>
        </p:txBody>
      </p:sp>
      <p:pic>
        <p:nvPicPr>
          <p:cNvPr id="4" name="Picture 3">
            <a:extLst>
              <a:ext uri="{FF2B5EF4-FFF2-40B4-BE49-F238E27FC236}">
                <a16:creationId xmlns:a16="http://schemas.microsoft.com/office/drawing/2014/main" id="{CF534991-1577-4337-B91A-26BB2C654931}"/>
              </a:ext>
            </a:extLst>
          </p:cNvPr>
          <p:cNvPicPr>
            <a:picLocks noChangeAspect="1"/>
          </p:cNvPicPr>
          <p:nvPr/>
        </p:nvPicPr>
        <p:blipFill>
          <a:blip r:embed="rId2"/>
          <a:stretch>
            <a:fillRect/>
          </a:stretch>
        </p:blipFill>
        <p:spPr>
          <a:xfrm>
            <a:off x="251520" y="1143000"/>
            <a:ext cx="8229600" cy="3547696"/>
          </a:xfrm>
          <a:prstGeom prst="rect">
            <a:avLst/>
          </a:prstGeom>
        </p:spPr>
      </p:pic>
      <p:sp>
        <p:nvSpPr>
          <p:cNvPr id="6" name="Title 1">
            <a:extLst>
              <a:ext uri="{FF2B5EF4-FFF2-40B4-BE49-F238E27FC236}">
                <a16:creationId xmlns:a16="http://schemas.microsoft.com/office/drawing/2014/main" id="{D25F6EEF-EB72-454F-9A56-7DB70BF0FE8D}"/>
              </a:ext>
            </a:extLst>
          </p:cNvPr>
          <p:cNvSpPr txBox="1">
            <a:spLocks/>
          </p:cNvSpPr>
          <p:nvPr/>
        </p:nvSpPr>
        <p:spPr>
          <a:xfrm>
            <a:off x="251520" y="494116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571500" indent="-571500" algn="l">
              <a:buFont typeface="Arial" panose="020B0604020202020204" pitchFamily="34" charset="0"/>
              <a:buChar char="•"/>
            </a:pPr>
            <a:r>
              <a:rPr lang="en-IE" sz="2800" dirty="0"/>
              <a:t>The plus operator, + , is used to join two strings together. This is known as concatenation</a:t>
            </a:r>
          </a:p>
        </p:txBody>
      </p:sp>
    </p:spTree>
    <p:extLst>
      <p:ext uri="{BB962C8B-B14F-4D97-AF65-F5344CB8AC3E}">
        <p14:creationId xmlns:p14="http://schemas.microsoft.com/office/powerpoint/2010/main" val="2623761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a:xfrm>
            <a:off x="457200" y="0"/>
            <a:ext cx="8229600" cy="1143000"/>
          </a:xfrm>
        </p:spPr>
        <p:txBody>
          <a:bodyPr/>
          <a:lstStyle/>
          <a:p>
            <a:r>
              <a:rPr lang="en-IE" dirty="0"/>
              <a:t>String Multiplication</a:t>
            </a:r>
          </a:p>
        </p:txBody>
      </p:sp>
      <p:pic>
        <p:nvPicPr>
          <p:cNvPr id="5" name="Picture 4">
            <a:extLst>
              <a:ext uri="{FF2B5EF4-FFF2-40B4-BE49-F238E27FC236}">
                <a16:creationId xmlns:a16="http://schemas.microsoft.com/office/drawing/2014/main" id="{141CDBE9-F1C4-4932-8B83-9810F4909FD2}"/>
              </a:ext>
            </a:extLst>
          </p:cNvPr>
          <p:cNvPicPr>
            <a:picLocks noChangeAspect="1"/>
          </p:cNvPicPr>
          <p:nvPr/>
        </p:nvPicPr>
        <p:blipFill>
          <a:blip r:embed="rId2"/>
          <a:stretch>
            <a:fillRect/>
          </a:stretch>
        </p:blipFill>
        <p:spPr>
          <a:xfrm>
            <a:off x="428660" y="1143000"/>
            <a:ext cx="5151452" cy="2434766"/>
          </a:xfrm>
          <a:prstGeom prst="rect">
            <a:avLst/>
          </a:prstGeom>
        </p:spPr>
      </p:pic>
    </p:spTree>
    <p:extLst>
      <p:ext uri="{BB962C8B-B14F-4D97-AF65-F5344CB8AC3E}">
        <p14:creationId xmlns:p14="http://schemas.microsoft.com/office/powerpoint/2010/main" val="9318641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a:xfrm>
            <a:off x="457200" y="0"/>
            <a:ext cx="8229600" cy="1143000"/>
          </a:xfrm>
        </p:spPr>
        <p:txBody>
          <a:bodyPr/>
          <a:lstStyle/>
          <a:p>
            <a:r>
              <a:rPr lang="en-IE" dirty="0"/>
              <a:t>Building Up a String</a:t>
            </a:r>
          </a:p>
        </p:txBody>
      </p:sp>
      <p:pic>
        <p:nvPicPr>
          <p:cNvPr id="4" name="Picture 3">
            <a:extLst>
              <a:ext uri="{FF2B5EF4-FFF2-40B4-BE49-F238E27FC236}">
                <a16:creationId xmlns:a16="http://schemas.microsoft.com/office/drawing/2014/main" id="{F28413CF-71F0-41DA-B924-15F18FA2CC16}"/>
              </a:ext>
            </a:extLst>
          </p:cNvPr>
          <p:cNvPicPr>
            <a:picLocks noChangeAspect="1"/>
          </p:cNvPicPr>
          <p:nvPr/>
        </p:nvPicPr>
        <p:blipFill>
          <a:blip r:embed="rId2"/>
          <a:stretch>
            <a:fillRect/>
          </a:stretch>
        </p:blipFill>
        <p:spPr>
          <a:xfrm>
            <a:off x="430931" y="908720"/>
            <a:ext cx="8508513" cy="4464496"/>
          </a:xfrm>
          <a:prstGeom prst="rect">
            <a:avLst/>
          </a:prstGeom>
        </p:spPr>
      </p:pic>
    </p:spTree>
    <p:extLst>
      <p:ext uri="{BB962C8B-B14F-4D97-AF65-F5344CB8AC3E}">
        <p14:creationId xmlns:p14="http://schemas.microsoft.com/office/powerpoint/2010/main" val="31992173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49275"/>
            <a:ext cx="8229600" cy="1143000"/>
          </a:xfrm>
        </p:spPr>
        <p:txBody>
          <a:bodyPr/>
          <a:lstStyle/>
          <a:p>
            <a:r>
              <a:rPr lang="en-IE" dirty="0"/>
              <a:t>Learning Intentions – 27/09</a:t>
            </a:r>
          </a:p>
        </p:txBody>
      </p:sp>
      <p:sp>
        <p:nvSpPr>
          <p:cNvPr id="4" name="Content Placeholder 2">
            <a:extLst>
              <a:ext uri="{FF2B5EF4-FFF2-40B4-BE49-F238E27FC236}">
                <a16:creationId xmlns:a16="http://schemas.microsoft.com/office/drawing/2014/main" id="{BF4CAFD0-BAEE-4FDA-B99D-3BE23959E0F0}"/>
              </a:ext>
            </a:extLst>
          </p:cNvPr>
          <p:cNvSpPr txBox="1">
            <a:spLocks/>
          </p:cNvSpPr>
          <p:nvPr/>
        </p:nvSpPr>
        <p:spPr>
          <a:xfrm>
            <a:off x="683568" y="1844825"/>
            <a:ext cx="8229600" cy="30243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E" dirty="0"/>
              <a:t>From this lesson the students will be able to:</a:t>
            </a:r>
          </a:p>
          <a:p>
            <a:pPr lvl="1"/>
            <a:r>
              <a:rPr lang="en-IE" dirty="0"/>
              <a:t>From upper to lower case and vice versa</a:t>
            </a:r>
          </a:p>
          <a:p>
            <a:pPr lvl="1"/>
            <a:r>
              <a:rPr lang="en-IE" dirty="0"/>
              <a:t>Get the length of string</a:t>
            </a:r>
          </a:p>
          <a:p>
            <a:pPr lvl="1"/>
            <a:endParaRPr lang="en-IE" dirty="0"/>
          </a:p>
        </p:txBody>
      </p:sp>
      <p:sp>
        <p:nvSpPr>
          <p:cNvPr id="5" name="TextBox 4">
            <a:extLst>
              <a:ext uri="{FF2B5EF4-FFF2-40B4-BE49-F238E27FC236}">
                <a16:creationId xmlns:a16="http://schemas.microsoft.com/office/drawing/2014/main" id="{DDAEB138-0EDE-4B47-BDD8-830AE5D61FAD}"/>
              </a:ext>
            </a:extLst>
          </p:cNvPr>
          <p:cNvSpPr txBox="1"/>
          <p:nvPr/>
        </p:nvSpPr>
        <p:spPr>
          <a:xfrm>
            <a:off x="179512" y="6021288"/>
            <a:ext cx="8856984" cy="707886"/>
          </a:xfrm>
          <a:prstGeom prst="rect">
            <a:avLst/>
          </a:prstGeom>
          <a:noFill/>
        </p:spPr>
        <p:txBody>
          <a:bodyPr wrap="square" rtlCol="0">
            <a:spAutoFit/>
          </a:bodyPr>
          <a:lstStyle/>
          <a:p>
            <a:r>
              <a:rPr lang="en-IE" sz="2000" dirty="0">
                <a:solidFill>
                  <a:srgbClr val="00B050"/>
                </a:solidFill>
                <a:effectLst>
                  <a:outerShdw blurRad="38100" dist="38100" dir="2700000" algn="tl">
                    <a:srgbClr val="000000">
                      <a:alpha val="43137"/>
                    </a:srgbClr>
                  </a:outerShdw>
                </a:effectLst>
              </a:rPr>
              <a:t>LO 2.16 students should be able to use data types that are common to procedural high-level languages</a:t>
            </a:r>
            <a:endParaRPr lang="en-IE" sz="20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720985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a:xfrm>
            <a:off x="457200" y="0"/>
            <a:ext cx="8229600" cy="1143000"/>
          </a:xfrm>
        </p:spPr>
        <p:txBody>
          <a:bodyPr/>
          <a:lstStyle/>
          <a:p>
            <a:r>
              <a:rPr lang="en-IE" dirty="0"/>
              <a:t>From lower to upper case</a:t>
            </a:r>
          </a:p>
        </p:txBody>
      </p:sp>
      <p:pic>
        <p:nvPicPr>
          <p:cNvPr id="5" name="Picture 4">
            <a:extLst>
              <a:ext uri="{FF2B5EF4-FFF2-40B4-BE49-F238E27FC236}">
                <a16:creationId xmlns:a16="http://schemas.microsoft.com/office/drawing/2014/main" id="{4B9BE19B-3FCA-4EED-915B-0705E5141A82}"/>
              </a:ext>
            </a:extLst>
          </p:cNvPr>
          <p:cNvPicPr>
            <a:picLocks noChangeAspect="1"/>
          </p:cNvPicPr>
          <p:nvPr/>
        </p:nvPicPr>
        <p:blipFill>
          <a:blip r:embed="rId2"/>
          <a:stretch>
            <a:fillRect/>
          </a:stretch>
        </p:blipFill>
        <p:spPr>
          <a:xfrm>
            <a:off x="457200" y="1160160"/>
            <a:ext cx="5932518" cy="2556872"/>
          </a:xfrm>
          <a:prstGeom prst="rect">
            <a:avLst/>
          </a:prstGeom>
        </p:spPr>
      </p:pic>
    </p:spTree>
    <p:extLst>
      <p:ext uri="{BB962C8B-B14F-4D97-AF65-F5344CB8AC3E}">
        <p14:creationId xmlns:p14="http://schemas.microsoft.com/office/powerpoint/2010/main" val="1267831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a:xfrm>
            <a:off x="457200" y="0"/>
            <a:ext cx="8229600" cy="1143000"/>
          </a:xfrm>
        </p:spPr>
        <p:txBody>
          <a:bodyPr/>
          <a:lstStyle/>
          <a:p>
            <a:r>
              <a:rPr lang="en-IE" dirty="0"/>
              <a:t>From upper to lower case</a:t>
            </a:r>
          </a:p>
        </p:txBody>
      </p:sp>
      <p:pic>
        <p:nvPicPr>
          <p:cNvPr id="4" name="Picture 3">
            <a:extLst>
              <a:ext uri="{FF2B5EF4-FFF2-40B4-BE49-F238E27FC236}">
                <a16:creationId xmlns:a16="http://schemas.microsoft.com/office/drawing/2014/main" id="{B2CD1B56-1047-4E5B-A2E3-A55B78913487}"/>
              </a:ext>
            </a:extLst>
          </p:cNvPr>
          <p:cNvPicPr>
            <a:picLocks noChangeAspect="1"/>
          </p:cNvPicPr>
          <p:nvPr/>
        </p:nvPicPr>
        <p:blipFill>
          <a:blip r:embed="rId2"/>
          <a:stretch>
            <a:fillRect/>
          </a:stretch>
        </p:blipFill>
        <p:spPr>
          <a:xfrm>
            <a:off x="476642" y="1052737"/>
            <a:ext cx="5679534" cy="2545998"/>
          </a:xfrm>
          <a:prstGeom prst="rect">
            <a:avLst/>
          </a:prstGeom>
        </p:spPr>
      </p:pic>
    </p:spTree>
    <p:extLst>
      <p:ext uri="{BB962C8B-B14F-4D97-AF65-F5344CB8AC3E}">
        <p14:creationId xmlns:p14="http://schemas.microsoft.com/office/powerpoint/2010/main" val="41944039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a:xfrm>
            <a:off x="457200" y="0"/>
            <a:ext cx="8229600" cy="1143000"/>
          </a:xfrm>
        </p:spPr>
        <p:txBody>
          <a:bodyPr>
            <a:normAutofit fontScale="90000"/>
          </a:bodyPr>
          <a:lstStyle/>
          <a:p>
            <a:r>
              <a:rPr lang="en-IE" sz="3600" dirty="0"/>
              <a:t>Capitalise the 1</a:t>
            </a:r>
            <a:r>
              <a:rPr lang="en-IE" sz="3600" baseline="30000" dirty="0"/>
              <a:t>st</a:t>
            </a:r>
            <a:r>
              <a:rPr lang="en-IE" sz="3600" dirty="0"/>
              <a:t> letter and the rest to lower</a:t>
            </a:r>
          </a:p>
        </p:txBody>
      </p:sp>
      <p:pic>
        <p:nvPicPr>
          <p:cNvPr id="5" name="Picture 4">
            <a:extLst>
              <a:ext uri="{FF2B5EF4-FFF2-40B4-BE49-F238E27FC236}">
                <a16:creationId xmlns:a16="http://schemas.microsoft.com/office/drawing/2014/main" id="{17CC56B6-5CBF-4965-9F16-32A494E4CBCF}"/>
              </a:ext>
            </a:extLst>
          </p:cNvPr>
          <p:cNvPicPr>
            <a:picLocks noChangeAspect="1"/>
          </p:cNvPicPr>
          <p:nvPr/>
        </p:nvPicPr>
        <p:blipFill>
          <a:blip r:embed="rId2"/>
          <a:stretch>
            <a:fillRect/>
          </a:stretch>
        </p:blipFill>
        <p:spPr>
          <a:xfrm>
            <a:off x="342899" y="1143000"/>
            <a:ext cx="7403763" cy="2718048"/>
          </a:xfrm>
          <a:prstGeom prst="rect">
            <a:avLst/>
          </a:prstGeom>
        </p:spPr>
      </p:pic>
    </p:spTree>
    <p:extLst>
      <p:ext uri="{BB962C8B-B14F-4D97-AF65-F5344CB8AC3E}">
        <p14:creationId xmlns:p14="http://schemas.microsoft.com/office/powerpoint/2010/main" val="13345008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7C563-1E73-4AAA-B7D2-3EB9FE3B2040}"/>
              </a:ext>
            </a:extLst>
          </p:cNvPr>
          <p:cNvSpPr>
            <a:spLocks noGrp="1"/>
          </p:cNvSpPr>
          <p:nvPr>
            <p:ph type="title" idx="4294967295"/>
          </p:nvPr>
        </p:nvSpPr>
        <p:spPr>
          <a:xfrm>
            <a:off x="0" y="274638"/>
            <a:ext cx="8229600" cy="1143000"/>
          </a:xfrm>
        </p:spPr>
        <p:txBody>
          <a:bodyPr/>
          <a:lstStyle/>
          <a:p>
            <a:r>
              <a:rPr lang="en-IE" dirty="0"/>
              <a:t>Escape Characters( \ )</a:t>
            </a:r>
          </a:p>
        </p:txBody>
      </p:sp>
      <p:sp>
        <p:nvSpPr>
          <p:cNvPr id="5" name="Content Placeholder 4">
            <a:extLst>
              <a:ext uri="{FF2B5EF4-FFF2-40B4-BE49-F238E27FC236}">
                <a16:creationId xmlns:a16="http://schemas.microsoft.com/office/drawing/2014/main" id="{BA20DD33-7920-49F7-85E2-91F1FFA328E9}"/>
              </a:ext>
            </a:extLst>
          </p:cNvPr>
          <p:cNvSpPr txBox="1">
            <a:spLocks/>
          </p:cNvSpPr>
          <p:nvPr/>
        </p:nvSpPr>
        <p:spPr>
          <a:xfrm>
            <a:off x="476470" y="1340768"/>
            <a:ext cx="8229600" cy="496855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E" sz="4000" b="1" dirty="0">
                <a:solidFill>
                  <a:srgbClr val="FF0000"/>
                </a:solidFill>
              </a:rPr>
              <a:t>Remember</a:t>
            </a:r>
            <a:r>
              <a:rPr lang="en-IE" sz="4000" dirty="0"/>
              <a:t> : If we want to print a string and then on the next line print another string we use the backslash followed by the letter n.</a:t>
            </a:r>
          </a:p>
          <a:p>
            <a:pPr marL="0" indent="0">
              <a:buNone/>
            </a:pPr>
            <a:r>
              <a:rPr lang="en-IE" sz="2800" dirty="0">
                <a:latin typeface="Courier New" panose="02070309020205020404" pitchFamily="49" charset="0"/>
                <a:cs typeface="Courier New" panose="02070309020205020404" pitchFamily="49" charset="0"/>
              </a:rPr>
              <a:t>print(“First Line.\</a:t>
            </a:r>
            <a:r>
              <a:rPr lang="en-IE" sz="2800" dirty="0" err="1">
                <a:latin typeface="Courier New" panose="02070309020205020404" pitchFamily="49" charset="0"/>
                <a:cs typeface="Courier New" panose="02070309020205020404" pitchFamily="49" charset="0"/>
              </a:rPr>
              <a:t>nSecond</a:t>
            </a:r>
            <a:r>
              <a:rPr lang="en-IE" sz="2800" dirty="0">
                <a:latin typeface="Courier New" panose="02070309020205020404" pitchFamily="49" charset="0"/>
                <a:cs typeface="Courier New" panose="02070309020205020404" pitchFamily="49" charset="0"/>
              </a:rPr>
              <a:t> Line.”)</a:t>
            </a:r>
          </a:p>
          <a:p>
            <a:pPr marL="0" indent="0">
              <a:buNone/>
            </a:pPr>
            <a:endParaRPr lang="en-IE" sz="2800" dirty="0">
              <a:latin typeface="Courier New" panose="02070309020205020404" pitchFamily="49" charset="0"/>
              <a:cs typeface="Courier New" panose="02070309020205020404" pitchFamily="49" charset="0"/>
            </a:endParaRPr>
          </a:p>
          <a:p>
            <a:pPr marL="0" indent="0">
              <a:buNone/>
            </a:pPr>
            <a:r>
              <a:rPr lang="en-IE" sz="2800" dirty="0"/>
              <a:t>(backslash (\) is known as an escape character in Python)</a:t>
            </a:r>
            <a:endParaRPr lang="en-IE" sz="2800" dirty="0">
              <a:latin typeface="Courier New" panose="02070309020205020404" pitchFamily="49" charset="0"/>
              <a:cs typeface="Courier New" panose="02070309020205020404" pitchFamily="49" charset="0"/>
            </a:endParaRPr>
          </a:p>
          <a:p>
            <a:endParaRPr lang="en-IE" dirty="0"/>
          </a:p>
        </p:txBody>
      </p:sp>
    </p:spTree>
    <p:extLst>
      <p:ext uri="{BB962C8B-B14F-4D97-AF65-F5344CB8AC3E}">
        <p14:creationId xmlns:p14="http://schemas.microsoft.com/office/powerpoint/2010/main" val="2211793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blinds(horizontal)">
                                      <p:cBhvr>
                                        <p:cTn id="1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7C563-1E73-4AAA-B7D2-3EB9FE3B2040}"/>
              </a:ext>
            </a:extLst>
          </p:cNvPr>
          <p:cNvSpPr>
            <a:spLocks noGrp="1"/>
          </p:cNvSpPr>
          <p:nvPr>
            <p:ph type="title" idx="4294967295"/>
          </p:nvPr>
        </p:nvSpPr>
        <p:spPr>
          <a:xfrm>
            <a:off x="0" y="274638"/>
            <a:ext cx="8229600" cy="1143000"/>
          </a:xfrm>
        </p:spPr>
        <p:txBody>
          <a:bodyPr/>
          <a:lstStyle/>
          <a:p>
            <a:r>
              <a:rPr lang="en-IE" dirty="0"/>
              <a:t>Escape Characters( \ )</a:t>
            </a:r>
          </a:p>
        </p:txBody>
      </p:sp>
      <p:sp>
        <p:nvSpPr>
          <p:cNvPr id="5" name="Content Placeholder 4">
            <a:extLst>
              <a:ext uri="{FF2B5EF4-FFF2-40B4-BE49-F238E27FC236}">
                <a16:creationId xmlns:a16="http://schemas.microsoft.com/office/drawing/2014/main" id="{BA20DD33-7920-49F7-85E2-91F1FFA328E9}"/>
              </a:ext>
            </a:extLst>
          </p:cNvPr>
          <p:cNvSpPr txBox="1">
            <a:spLocks/>
          </p:cNvSpPr>
          <p:nvPr/>
        </p:nvSpPr>
        <p:spPr>
          <a:xfrm>
            <a:off x="476470" y="1340768"/>
            <a:ext cx="8229600" cy="453650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E" dirty="0"/>
              <a:t>“\t”	Inserts a tab for example</a:t>
            </a:r>
          </a:p>
          <a:p>
            <a:endParaRPr lang="en-IE" dirty="0"/>
          </a:p>
          <a:p>
            <a:r>
              <a:rPr lang="en-IE" dirty="0"/>
              <a:t>“\””	The backslash here escapes the quotes and so this would print out a set of quotes.</a:t>
            </a:r>
          </a:p>
          <a:p>
            <a:r>
              <a:rPr lang="en-IE" sz="2000" dirty="0"/>
              <a:t>(See the Strings section in Python Docs Tutorials.)</a:t>
            </a:r>
          </a:p>
          <a:p>
            <a:endParaRPr lang="en-IE" dirty="0"/>
          </a:p>
        </p:txBody>
      </p:sp>
    </p:spTree>
    <p:extLst>
      <p:ext uri="{BB962C8B-B14F-4D97-AF65-F5344CB8AC3E}">
        <p14:creationId xmlns:p14="http://schemas.microsoft.com/office/powerpoint/2010/main" val="2633990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linds(horizont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blinds(horizontal)">
                                      <p:cBhvr>
                                        <p:cTn id="1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a:xfrm>
            <a:off x="457200" y="0"/>
            <a:ext cx="8229600" cy="1143000"/>
          </a:xfrm>
        </p:spPr>
        <p:txBody>
          <a:bodyPr>
            <a:normAutofit/>
          </a:bodyPr>
          <a:lstStyle/>
          <a:p>
            <a:r>
              <a:rPr lang="en-IE" sz="3600" dirty="0"/>
              <a:t>Find the length of a string</a:t>
            </a:r>
          </a:p>
        </p:txBody>
      </p:sp>
      <p:pic>
        <p:nvPicPr>
          <p:cNvPr id="4" name="Picture 3">
            <a:extLst>
              <a:ext uri="{FF2B5EF4-FFF2-40B4-BE49-F238E27FC236}">
                <a16:creationId xmlns:a16="http://schemas.microsoft.com/office/drawing/2014/main" id="{3A20CB17-6460-4BE3-B8E6-01B0A2C1C1E1}"/>
              </a:ext>
            </a:extLst>
          </p:cNvPr>
          <p:cNvPicPr>
            <a:picLocks noChangeAspect="1"/>
          </p:cNvPicPr>
          <p:nvPr/>
        </p:nvPicPr>
        <p:blipFill>
          <a:blip r:embed="rId2"/>
          <a:stretch>
            <a:fillRect/>
          </a:stretch>
        </p:blipFill>
        <p:spPr>
          <a:xfrm>
            <a:off x="461793" y="1128152"/>
            <a:ext cx="8090545" cy="1580768"/>
          </a:xfrm>
          <a:prstGeom prst="rect">
            <a:avLst/>
          </a:prstGeom>
        </p:spPr>
      </p:pic>
    </p:spTree>
    <p:extLst>
      <p:ext uri="{BB962C8B-B14F-4D97-AF65-F5344CB8AC3E}">
        <p14:creationId xmlns:p14="http://schemas.microsoft.com/office/powerpoint/2010/main" val="22063749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7C563-1E73-4AAA-B7D2-3EB9FE3B2040}"/>
              </a:ext>
            </a:extLst>
          </p:cNvPr>
          <p:cNvSpPr>
            <a:spLocks noGrp="1"/>
          </p:cNvSpPr>
          <p:nvPr>
            <p:ph type="title" idx="4294967295"/>
          </p:nvPr>
        </p:nvSpPr>
        <p:spPr>
          <a:xfrm>
            <a:off x="545840" y="0"/>
            <a:ext cx="8229600" cy="1143000"/>
          </a:xfrm>
        </p:spPr>
        <p:txBody>
          <a:bodyPr/>
          <a:lstStyle/>
          <a:p>
            <a:r>
              <a:rPr lang="en-IE" dirty="0"/>
              <a:t>Length of a String (Len)</a:t>
            </a:r>
          </a:p>
        </p:txBody>
      </p:sp>
      <p:sp>
        <p:nvSpPr>
          <p:cNvPr id="5" name="Content Placeholder 4">
            <a:extLst>
              <a:ext uri="{FF2B5EF4-FFF2-40B4-BE49-F238E27FC236}">
                <a16:creationId xmlns:a16="http://schemas.microsoft.com/office/drawing/2014/main" id="{BA20DD33-7920-49F7-85E2-91F1FFA328E9}"/>
              </a:ext>
            </a:extLst>
          </p:cNvPr>
          <p:cNvSpPr txBox="1">
            <a:spLocks/>
          </p:cNvSpPr>
          <p:nvPr/>
        </p:nvSpPr>
        <p:spPr>
          <a:xfrm>
            <a:off x="484379" y="764704"/>
            <a:ext cx="8229600" cy="115212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E" sz="2400" dirty="0"/>
              <a:t>A very useful function in programming is finding the Length of a string. Try the code below.</a:t>
            </a:r>
          </a:p>
        </p:txBody>
      </p:sp>
      <p:pic>
        <p:nvPicPr>
          <p:cNvPr id="4" name="Picture 3" descr="A screenshot of a cell phone&#10;&#10;Description generated with high confidence">
            <a:extLst>
              <a:ext uri="{FF2B5EF4-FFF2-40B4-BE49-F238E27FC236}">
                <a16:creationId xmlns:a16="http://schemas.microsoft.com/office/drawing/2014/main" id="{7334C853-0241-4592-8788-3A30639449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792" y="1628800"/>
            <a:ext cx="8288829" cy="4824536"/>
          </a:xfrm>
          <a:prstGeom prst="rect">
            <a:avLst/>
          </a:prstGeom>
        </p:spPr>
      </p:pic>
      <p:sp>
        <p:nvSpPr>
          <p:cNvPr id="6" name="TextBox 5">
            <a:extLst>
              <a:ext uri="{FF2B5EF4-FFF2-40B4-BE49-F238E27FC236}">
                <a16:creationId xmlns:a16="http://schemas.microsoft.com/office/drawing/2014/main" id="{07B05586-FCE1-42F8-8418-4385614098F5}"/>
              </a:ext>
            </a:extLst>
          </p:cNvPr>
          <p:cNvSpPr txBox="1"/>
          <p:nvPr/>
        </p:nvSpPr>
        <p:spPr>
          <a:xfrm>
            <a:off x="86714" y="6381328"/>
            <a:ext cx="8856984" cy="400110"/>
          </a:xfrm>
          <a:prstGeom prst="rect">
            <a:avLst/>
          </a:prstGeom>
          <a:noFill/>
        </p:spPr>
        <p:txBody>
          <a:bodyPr wrap="square" rtlCol="0">
            <a:spAutoFit/>
          </a:bodyPr>
          <a:lstStyle/>
          <a:p>
            <a:r>
              <a:rPr lang="en-IE" sz="2000" dirty="0">
                <a:solidFill>
                  <a:srgbClr val="0070C0"/>
                </a:solidFill>
                <a:effectLst>
                  <a:outerShdw blurRad="38100" dist="38100" dir="2700000" algn="tl">
                    <a:srgbClr val="000000">
                      <a:alpha val="43137"/>
                    </a:srgbClr>
                  </a:outerShdw>
                </a:effectLst>
              </a:rPr>
              <a:t>LO 1.22 students should be able to read, write, test, and modify computer programs</a:t>
            </a:r>
          </a:p>
        </p:txBody>
      </p:sp>
    </p:spTree>
    <p:extLst>
      <p:ext uri="{BB962C8B-B14F-4D97-AF65-F5344CB8AC3E}">
        <p14:creationId xmlns:p14="http://schemas.microsoft.com/office/powerpoint/2010/main" val="1404610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a:xfrm>
            <a:off x="457200" y="0"/>
            <a:ext cx="8229600" cy="1143000"/>
          </a:xfrm>
        </p:spPr>
        <p:txBody>
          <a:bodyPr>
            <a:normAutofit/>
          </a:bodyPr>
          <a:lstStyle/>
          <a:p>
            <a:r>
              <a:rPr lang="en-IE" sz="3600" dirty="0"/>
              <a:t>To find if a substring is present</a:t>
            </a:r>
          </a:p>
        </p:txBody>
      </p:sp>
      <p:pic>
        <p:nvPicPr>
          <p:cNvPr id="7" name="Picture 6">
            <a:extLst>
              <a:ext uri="{FF2B5EF4-FFF2-40B4-BE49-F238E27FC236}">
                <a16:creationId xmlns:a16="http://schemas.microsoft.com/office/drawing/2014/main" id="{256E65D8-DE15-40B9-9143-BCECFC716DEF}"/>
              </a:ext>
            </a:extLst>
          </p:cNvPr>
          <p:cNvPicPr>
            <a:picLocks noChangeAspect="1"/>
          </p:cNvPicPr>
          <p:nvPr/>
        </p:nvPicPr>
        <p:blipFill>
          <a:blip r:embed="rId2"/>
          <a:stretch>
            <a:fillRect/>
          </a:stretch>
        </p:blipFill>
        <p:spPr>
          <a:xfrm>
            <a:off x="1156" y="1147574"/>
            <a:ext cx="9016399" cy="1417330"/>
          </a:xfrm>
          <a:prstGeom prst="rect">
            <a:avLst/>
          </a:prstGeom>
        </p:spPr>
      </p:pic>
      <p:sp>
        <p:nvSpPr>
          <p:cNvPr id="8" name="Title 1">
            <a:extLst>
              <a:ext uri="{FF2B5EF4-FFF2-40B4-BE49-F238E27FC236}">
                <a16:creationId xmlns:a16="http://schemas.microsoft.com/office/drawing/2014/main" id="{D7E9D062-E0C0-488A-A513-40CEA89991A8}"/>
              </a:ext>
            </a:extLst>
          </p:cNvPr>
          <p:cNvSpPr txBox="1">
            <a:spLocks/>
          </p:cNvSpPr>
          <p:nvPr/>
        </p:nvSpPr>
        <p:spPr>
          <a:xfrm>
            <a:off x="457200" y="28575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E" sz="2800" dirty="0"/>
              <a:t>The output is a Boolean value -&gt; True or False</a:t>
            </a:r>
          </a:p>
        </p:txBody>
      </p:sp>
      <p:pic>
        <p:nvPicPr>
          <p:cNvPr id="10" name="Picture 9">
            <a:extLst>
              <a:ext uri="{FF2B5EF4-FFF2-40B4-BE49-F238E27FC236}">
                <a16:creationId xmlns:a16="http://schemas.microsoft.com/office/drawing/2014/main" id="{F4619343-6B10-497C-97F3-502A8786CE83}"/>
              </a:ext>
            </a:extLst>
          </p:cNvPr>
          <p:cNvPicPr>
            <a:picLocks noChangeAspect="1"/>
          </p:cNvPicPr>
          <p:nvPr/>
        </p:nvPicPr>
        <p:blipFill>
          <a:blip r:embed="rId3"/>
          <a:stretch>
            <a:fillRect/>
          </a:stretch>
        </p:blipFill>
        <p:spPr>
          <a:xfrm>
            <a:off x="457200" y="3933056"/>
            <a:ext cx="5271139" cy="1483221"/>
          </a:xfrm>
          <a:prstGeom prst="rect">
            <a:avLst/>
          </a:prstGeom>
        </p:spPr>
      </p:pic>
    </p:spTree>
    <p:extLst>
      <p:ext uri="{BB962C8B-B14F-4D97-AF65-F5344CB8AC3E}">
        <p14:creationId xmlns:p14="http://schemas.microsoft.com/office/powerpoint/2010/main" val="38310845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4377-46E0-4195-B53C-B66E04D407C2}"/>
              </a:ext>
            </a:extLst>
          </p:cNvPr>
          <p:cNvSpPr>
            <a:spLocks noGrp="1"/>
          </p:cNvSpPr>
          <p:nvPr>
            <p:ph type="title"/>
          </p:nvPr>
        </p:nvSpPr>
        <p:spPr>
          <a:xfrm>
            <a:off x="457200" y="0"/>
            <a:ext cx="8229600" cy="1143000"/>
          </a:xfrm>
        </p:spPr>
        <p:txBody>
          <a:bodyPr>
            <a:normAutofit/>
          </a:bodyPr>
          <a:lstStyle/>
          <a:p>
            <a:r>
              <a:rPr lang="en-IE" sz="3600" dirty="0"/>
              <a:t>To locate a substring</a:t>
            </a:r>
          </a:p>
        </p:txBody>
      </p:sp>
      <p:sp>
        <p:nvSpPr>
          <p:cNvPr id="8" name="Title 1">
            <a:extLst>
              <a:ext uri="{FF2B5EF4-FFF2-40B4-BE49-F238E27FC236}">
                <a16:creationId xmlns:a16="http://schemas.microsoft.com/office/drawing/2014/main" id="{D7E9D062-E0C0-488A-A513-40CEA89991A8}"/>
              </a:ext>
            </a:extLst>
          </p:cNvPr>
          <p:cNvSpPr txBox="1">
            <a:spLocks/>
          </p:cNvSpPr>
          <p:nvPr/>
        </p:nvSpPr>
        <p:spPr>
          <a:xfrm>
            <a:off x="457200" y="2857500"/>
            <a:ext cx="8229600" cy="1143000"/>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E" sz="2800" dirty="0"/>
              <a:t>The output is the index value. If the item occurs more than once, the .index() function only returns the first index number</a:t>
            </a:r>
          </a:p>
        </p:txBody>
      </p:sp>
      <p:pic>
        <p:nvPicPr>
          <p:cNvPr id="4" name="Picture 3">
            <a:extLst>
              <a:ext uri="{FF2B5EF4-FFF2-40B4-BE49-F238E27FC236}">
                <a16:creationId xmlns:a16="http://schemas.microsoft.com/office/drawing/2014/main" id="{D311A7CD-538E-4759-A71F-DAE2CC179D29}"/>
              </a:ext>
            </a:extLst>
          </p:cNvPr>
          <p:cNvPicPr>
            <a:picLocks noChangeAspect="1"/>
          </p:cNvPicPr>
          <p:nvPr/>
        </p:nvPicPr>
        <p:blipFill>
          <a:blip r:embed="rId2"/>
          <a:stretch>
            <a:fillRect/>
          </a:stretch>
        </p:blipFill>
        <p:spPr>
          <a:xfrm>
            <a:off x="186694" y="908720"/>
            <a:ext cx="8770611" cy="1415430"/>
          </a:xfrm>
          <a:prstGeom prst="rect">
            <a:avLst/>
          </a:prstGeom>
        </p:spPr>
      </p:pic>
      <p:pic>
        <p:nvPicPr>
          <p:cNvPr id="6" name="Picture 5">
            <a:extLst>
              <a:ext uri="{FF2B5EF4-FFF2-40B4-BE49-F238E27FC236}">
                <a16:creationId xmlns:a16="http://schemas.microsoft.com/office/drawing/2014/main" id="{9BE3D2F4-0F6A-47B5-A20F-CFBDBFADD62E}"/>
              </a:ext>
            </a:extLst>
          </p:cNvPr>
          <p:cNvPicPr>
            <a:picLocks noChangeAspect="1"/>
          </p:cNvPicPr>
          <p:nvPr/>
        </p:nvPicPr>
        <p:blipFill>
          <a:blip r:embed="rId3"/>
          <a:stretch>
            <a:fillRect/>
          </a:stretch>
        </p:blipFill>
        <p:spPr>
          <a:xfrm>
            <a:off x="490364" y="4029025"/>
            <a:ext cx="5881836" cy="1420216"/>
          </a:xfrm>
          <a:prstGeom prst="rect">
            <a:avLst/>
          </a:prstGeom>
        </p:spPr>
      </p:pic>
    </p:spTree>
    <p:extLst>
      <p:ext uri="{BB962C8B-B14F-4D97-AF65-F5344CB8AC3E}">
        <p14:creationId xmlns:p14="http://schemas.microsoft.com/office/powerpoint/2010/main" val="16308762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E7BB8-1C40-8B30-652E-F1C294CBFEAB}"/>
              </a:ext>
            </a:extLst>
          </p:cNvPr>
          <p:cNvSpPr>
            <a:spLocks noGrp="1"/>
          </p:cNvSpPr>
          <p:nvPr>
            <p:ph type="title"/>
          </p:nvPr>
        </p:nvSpPr>
        <p:spPr>
          <a:xfrm>
            <a:off x="438794" y="-159543"/>
            <a:ext cx="8229600" cy="1143000"/>
          </a:xfrm>
        </p:spPr>
        <p:txBody>
          <a:bodyPr/>
          <a:lstStyle/>
          <a:p>
            <a:r>
              <a:rPr lang="en-IE" dirty="0"/>
              <a:t>String Formatting</a:t>
            </a:r>
          </a:p>
        </p:txBody>
      </p:sp>
      <p:sp>
        <p:nvSpPr>
          <p:cNvPr id="3" name="Content Placeholder 2">
            <a:extLst>
              <a:ext uri="{FF2B5EF4-FFF2-40B4-BE49-F238E27FC236}">
                <a16:creationId xmlns:a16="http://schemas.microsoft.com/office/drawing/2014/main" id="{665A985F-0D42-E17F-E468-8F9EF8F76157}"/>
              </a:ext>
            </a:extLst>
          </p:cNvPr>
          <p:cNvSpPr>
            <a:spLocks noGrp="1"/>
          </p:cNvSpPr>
          <p:nvPr>
            <p:ph idx="1"/>
          </p:nvPr>
        </p:nvSpPr>
        <p:spPr>
          <a:xfrm>
            <a:off x="438794" y="908720"/>
            <a:ext cx="8229600" cy="4525963"/>
          </a:xfrm>
        </p:spPr>
        <p:txBody>
          <a:bodyPr/>
          <a:lstStyle/>
          <a:p>
            <a:r>
              <a:rPr lang="en-IE" dirty="0"/>
              <a:t>Sometimes it is useful to be able to display a string that is made up of several pieces of data without having to use the string construction techniques already described.</a:t>
            </a:r>
          </a:p>
          <a:p>
            <a:r>
              <a:rPr lang="en-IE" dirty="0"/>
              <a:t>Formatting string expressions enable us to display more than one piece of data </a:t>
            </a:r>
            <a:r>
              <a:rPr lang="en-IE" dirty="0" err="1"/>
              <a:t>ina</a:t>
            </a:r>
            <a:r>
              <a:rPr lang="en-IE" dirty="0"/>
              <a:t> single string print statement.</a:t>
            </a:r>
          </a:p>
          <a:p>
            <a:endParaRPr lang="en-IE" dirty="0"/>
          </a:p>
        </p:txBody>
      </p:sp>
      <p:pic>
        <p:nvPicPr>
          <p:cNvPr id="5" name="Picture 4">
            <a:extLst>
              <a:ext uri="{FF2B5EF4-FFF2-40B4-BE49-F238E27FC236}">
                <a16:creationId xmlns:a16="http://schemas.microsoft.com/office/drawing/2014/main" id="{15D6502A-D0D5-3D6A-1184-829439B7CD8F}"/>
              </a:ext>
            </a:extLst>
          </p:cNvPr>
          <p:cNvPicPr>
            <a:picLocks noChangeAspect="1"/>
          </p:cNvPicPr>
          <p:nvPr/>
        </p:nvPicPr>
        <p:blipFill>
          <a:blip r:embed="rId2"/>
          <a:stretch>
            <a:fillRect/>
          </a:stretch>
        </p:blipFill>
        <p:spPr>
          <a:xfrm>
            <a:off x="611560" y="4589428"/>
            <a:ext cx="5517821" cy="1690509"/>
          </a:xfrm>
          <a:prstGeom prst="rect">
            <a:avLst/>
          </a:prstGeom>
        </p:spPr>
      </p:pic>
    </p:spTree>
    <p:extLst>
      <p:ext uri="{BB962C8B-B14F-4D97-AF65-F5344CB8AC3E}">
        <p14:creationId xmlns:p14="http://schemas.microsoft.com/office/powerpoint/2010/main" val="34056305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E7BB8-1C40-8B30-652E-F1C294CBFEAB}"/>
              </a:ext>
            </a:extLst>
          </p:cNvPr>
          <p:cNvSpPr>
            <a:spLocks noGrp="1"/>
          </p:cNvSpPr>
          <p:nvPr>
            <p:ph type="title"/>
          </p:nvPr>
        </p:nvSpPr>
        <p:spPr>
          <a:xfrm>
            <a:off x="395536" y="-53825"/>
            <a:ext cx="8229600" cy="1143000"/>
          </a:xfrm>
        </p:spPr>
        <p:txBody>
          <a:bodyPr/>
          <a:lstStyle/>
          <a:p>
            <a:r>
              <a:rPr lang="en-IE" dirty="0"/>
              <a:t>String Formatting Examples</a:t>
            </a:r>
          </a:p>
        </p:txBody>
      </p:sp>
      <p:pic>
        <p:nvPicPr>
          <p:cNvPr id="7" name="Picture 6">
            <a:extLst>
              <a:ext uri="{FF2B5EF4-FFF2-40B4-BE49-F238E27FC236}">
                <a16:creationId xmlns:a16="http://schemas.microsoft.com/office/drawing/2014/main" id="{6C368ED3-1FEA-FD8D-F94A-9432A3DE491C}"/>
              </a:ext>
            </a:extLst>
          </p:cNvPr>
          <p:cNvPicPr>
            <a:picLocks noChangeAspect="1"/>
          </p:cNvPicPr>
          <p:nvPr/>
        </p:nvPicPr>
        <p:blipFill>
          <a:blip r:embed="rId2"/>
          <a:stretch>
            <a:fillRect/>
          </a:stretch>
        </p:blipFill>
        <p:spPr>
          <a:xfrm>
            <a:off x="0" y="2117666"/>
            <a:ext cx="9144000" cy="1172078"/>
          </a:xfrm>
          <a:prstGeom prst="rect">
            <a:avLst/>
          </a:prstGeom>
        </p:spPr>
      </p:pic>
      <p:pic>
        <p:nvPicPr>
          <p:cNvPr id="11" name="Picture 10">
            <a:extLst>
              <a:ext uri="{FF2B5EF4-FFF2-40B4-BE49-F238E27FC236}">
                <a16:creationId xmlns:a16="http://schemas.microsoft.com/office/drawing/2014/main" id="{4DE84058-9C7E-C05E-3B48-2E30E5288A38}"/>
              </a:ext>
            </a:extLst>
          </p:cNvPr>
          <p:cNvPicPr>
            <a:picLocks noChangeAspect="1"/>
          </p:cNvPicPr>
          <p:nvPr/>
        </p:nvPicPr>
        <p:blipFill>
          <a:blip r:embed="rId3"/>
          <a:stretch>
            <a:fillRect/>
          </a:stretch>
        </p:blipFill>
        <p:spPr>
          <a:xfrm>
            <a:off x="10557" y="3462839"/>
            <a:ext cx="7982642" cy="1562109"/>
          </a:xfrm>
          <a:prstGeom prst="rect">
            <a:avLst/>
          </a:prstGeom>
        </p:spPr>
      </p:pic>
      <p:pic>
        <p:nvPicPr>
          <p:cNvPr id="14" name="Picture 13">
            <a:extLst>
              <a:ext uri="{FF2B5EF4-FFF2-40B4-BE49-F238E27FC236}">
                <a16:creationId xmlns:a16="http://schemas.microsoft.com/office/drawing/2014/main" id="{40AB11F6-C5AC-BA40-A618-EEA01B07EEF7}"/>
              </a:ext>
            </a:extLst>
          </p:cNvPr>
          <p:cNvPicPr>
            <a:picLocks noChangeAspect="1"/>
          </p:cNvPicPr>
          <p:nvPr/>
        </p:nvPicPr>
        <p:blipFill>
          <a:blip r:embed="rId4"/>
          <a:stretch>
            <a:fillRect/>
          </a:stretch>
        </p:blipFill>
        <p:spPr>
          <a:xfrm>
            <a:off x="12325" y="1054456"/>
            <a:ext cx="6919150" cy="927529"/>
          </a:xfrm>
          <a:prstGeom prst="rect">
            <a:avLst/>
          </a:prstGeom>
        </p:spPr>
      </p:pic>
      <p:pic>
        <p:nvPicPr>
          <p:cNvPr id="16" name="Picture 15">
            <a:extLst>
              <a:ext uri="{FF2B5EF4-FFF2-40B4-BE49-F238E27FC236}">
                <a16:creationId xmlns:a16="http://schemas.microsoft.com/office/drawing/2014/main" id="{C829BF38-8E08-336E-2D59-CD0CC6232E4C}"/>
              </a:ext>
            </a:extLst>
          </p:cNvPr>
          <p:cNvPicPr>
            <a:picLocks noChangeAspect="1"/>
          </p:cNvPicPr>
          <p:nvPr/>
        </p:nvPicPr>
        <p:blipFill>
          <a:blip r:embed="rId5"/>
          <a:stretch>
            <a:fillRect/>
          </a:stretch>
        </p:blipFill>
        <p:spPr>
          <a:xfrm>
            <a:off x="10557" y="5227281"/>
            <a:ext cx="8175754" cy="1442079"/>
          </a:xfrm>
          <a:prstGeom prst="rect">
            <a:avLst/>
          </a:prstGeom>
        </p:spPr>
      </p:pic>
    </p:spTree>
    <p:extLst>
      <p:ext uri="{BB962C8B-B14F-4D97-AF65-F5344CB8AC3E}">
        <p14:creationId xmlns:p14="http://schemas.microsoft.com/office/powerpoint/2010/main" val="35538850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E7BB8-1C40-8B30-652E-F1C294CBFEAB}"/>
              </a:ext>
            </a:extLst>
          </p:cNvPr>
          <p:cNvSpPr>
            <a:spLocks noGrp="1"/>
          </p:cNvSpPr>
          <p:nvPr>
            <p:ph type="title"/>
          </p:nvPr>
        </p:nvSpPr>
        <p:spPr/>
        <p:txBody>
          <a:bodyPr>
            <a:normAutofit fontScale="90000"/>
          </a:bodyPr>
          <a:lstStyle/>
          <a:p>
            <a:r>
              <a:rPr lang="en-IE" dirty="0"/>
              <a:t>Use String Formatting to make this program more efficient  </a:t>
            </a:r>
          </a:p>
        </p:txBody>
      </p:sp>
      <p:pic>
        <p:nvPicPr>
          <p:cNvPr id="3" name="Picture 2">
            <a:extLst>
              <a:ext uri="{FF2B5EF4-FFF2-40B4-BE49-F238E27FC236}">
                <a16:creationId xmlns:a16="http://schemas.microsoft.com/office/drawing/2014/main" id="{551487A0-0E3B-0611-FFF7-89E5D5BAAA22}"/>
              </a:ext>
            </a:extLst>
          </p:cNvPr>
          <p:cNvPicPr>
            <a:picLocks noChangeAspect="1"/>
          </p:cNvPicPr>
          <p:nvPr/>
        </p:nvPicPr>
        <p:blipFill>
          <a:blip r:embed="rId2"/>
          <a:stretch>
            <a:fillRect/>
          </a:stretch>
        </p:blipFill>
        <p:spPr>
          <a:xfrm>
            <a:off x="213043" y="1700808"/>
            <a:ext cx="8508513" cy="4464496"/>
          </a:xfrm>
          <a:prstGeom prst="rect">
            <a:avLst/>
          </a:prstGeom>
        </p:spPr>
      </p:pic>
    </p:spTree>
    <p:extLst>
      <p:ext uri="{BB962C8B-B14F-4D97-AF65-F5344CB8AC3E}">
        <p14:creationId xmlns:p14="http://schemas.microsoft.com/office/powerpoint/2010/main" val="40429956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E7BB8-1C40-8B30-652E-F1C294CBFEAB}"/>
              </a:ext>
            </a:extLst>
          </p:cNvPr>
          <p:cNvSpPr>
            <a:spLocks noGrp="1"/>
          </p:cNvSpPr>
          <p:nvPr>
            <p:ph type="title"/>
          </p:nvPr>
        </p:nvSpPr>
        <p:spPr>
          <a:xfrm>
            <a:off x="457200" y="274638"/>
            <a:ext cx="8229600" cy="634082"/>
          </a:xfrm>
        </p:spPr>
        <p:txBody>
          <a:bodyPr>
            <a:normAutofit fontScale="90000"/>
          </a:bodyPr>
          <a:lstStyle/>
          <a:p>
            <a:pPr marL="0" indent="0">
              <a:buNone/>
            </a:pPr>
            <a:r>
              <a:rPr lang="en-IE" sz="4400" dirty="0"/>
              <a:t>Python has lots of built-in methods that you can use on strings.</a:t>
            </a:r>
          </a:p>
        </p:txBody>
      </p:sp>
      <p:pic>
        <p:nvPicPr>
          <p:cNvPr id="7" name="Picture 6">
            <a:extLst>
              <a:ext uri="{FF2B5EF4-FFF2-40B4-BE49-F238E27FC236}">
                <a16:creationId xmlns:a16="http://schemas.microsoft.com/office/drawing/2014/main" id="{8F893726-E527-00C0-4A2E-945E3D157B37}"/>
              </a:ext>
            </a:extLst>
          </p:cNvPr>
          <p:cNvPicPr>
            <a:picLocks noChangeAspect="1"/>
          </p:cNvPicPr>
          <p:nvPr/>
        </p:nvPicPr>
        <p:blipFill>
          <a:blip r:embed="rId2"/>
          <a:stretch>
            <a:fillRect/>
          </a:stretch>
        </p:blipFill>
        <p:spPr>
          <a:xfrm>
            <a:off x="251520" y="1196752"/>
            <a:ext cx="8100900" cy="3600400"/>
          </a:xfrm>
          <a:prstGeom prst="rect">
            <a:avLst/>
          </a:prstGeom>
        </p:spPr>
      </p:pic>
      <p:pic>
        <p:nvPicPr>
          <p:cNvPr id="9" name="Picture 8">
            <a:extLst>
              <a:ext uri="{FF2B5EF4-FFF2-40B4-BE49-F238E27FC236}">
                <a16:creationId xmlns:a16="http://schemas.microsoft.com/office/drawing/2014/main" id="{9268C27D-264E-3E42-54B1-1C998E51E775}"/>
              </a:ext>
            </a:extLst>
          </p:cNvPr>
          <p:cNvPicPr>
            <a:picLocks noChangeAspect="1"/>
          </p:cNvPicPr>
          <p:nvPr/>
        </p:nvPicPr>
        <p:blipFill>
          <a:blip r:embed="rId3"/>
          <a:stretch>
            <a:fillRect/>
          </a:stretch>
        </p:blipFill>
        <p:spPr>
          <a:xfrm>
            <a:off x="1958820" y="4786996"/>
            <a:ext cx="4686300" cy="2019300"/>
          </a:xfrm>
          <a:prstGeom prst="rect">
            <a:avLst/>
          </a:prstGeom>
        </p:spPr>
      </p:pic>
    </p:spTree>
    <p:extLst>
      <p:ext uri="{BB962C8B-B14F-4D97-AF65-F5344CB8AC3E}">
        <p14:creationId xmlns:p14="http://schemas.microsoft.com/office/powerpoint/2010/main" val="31764853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E7BB8-1C40-8B30-652E-F1C294CBFEAB}"/>
              </a:ext>
            </a:extLst>
          </p:cNvPr>
          <p:cNvSpPr>
            <a:spLocks noGrp="1"/>
          </p:cNvSpPr>
          <p:nvPr>
            <p:ph type="title"/>
          </p:nvPr>
        </p:nvSpPr>
        <p:spPr>
          <a:xfrm>
            <a:off x="457200" y="116632"/>
            <a:ext cx="8229600" cy="634082"/>
          </a:xfrm>
        </p:spPr>
        <p:txBody>
          <a:bodyPr>
            <a:normAutofit fontScale="90000"/>
          </a:bodyPr>
          <a:lstStyle/>
          <a:p>
            <a:r>
              <a:rPr lang="en-IE" dirty="0"/>
              <a:t>Other string methods</a:t>
            </a:r>
          </a:p>
        </p:txBody>
      </p:sp>
      <p:sp>
        <p:nvSpPr>
          <p:cNvPr id="4" name="Content Placeholder 3">
            <a:extLst>
              <a:ext uri="{FF2B5EF4-FFF2-40B4-BE49-F238E27FC236}">
                <a16:creationId xmlns:a16="http://schemas.microsoft.com/office/drawing/2014/main" id="{94B9DD24-FBC9-180D-D393-5D8D952E5616}"/>
              </a:ext>
            </a:extLst>
          </p:cNvPr>
          <p:cNvSpPr>
            <a:spLocks noGrp="1"/>
          </p:cNvSpPr>
          <p:nvPr>
            <p:ph idx="1"/>
          </p:nvPr>
        </p:nvSpPr>
        <p:spPr>
          <a:xfrm>
            <a:off x="179512" y="1711769"/>
            <a:ext cx="2892555" cy="3434461"/>
          </a:xfrm>
        </p:spPr>
        <p:txBody>
          <a:bodyPr>
            <a:normAutofit/>
          </a:bodyPr>
          <a:lstStyle/>
          <a:p>
            <a:pPr marL="0" indent="0">
              <a:buNone/>
            </a:pPr>
            <a:r>
              <a:rPr lang="en-IE" sz="2800" dirty="0"/>
              <a:t>Python has lots of built-in methods that you can use on strings.</a:t>
            </a:r>
          </a:p>
        </p:txBody>
      </p:sp>
      <p:pic>
        <p:nvPicPr>
          <p:cNvPr id="8" name="Picture 7">
            <a:extLst>
              <a:ext uri="{FF2B5EF4-FFF2-40B4-BE49-F238E27FC236}">
                <a16:creationId xmlns:a16="http://schemas.microsoft.com/office/drawing/2014/main" id="{027D44AE-DC51-352D-59A1-69D3487FF821}"/>
              </a:ext>
            </a:extLst>
          </p:cNvPr>
          <p:cNvPicPr>
            <a:picLocks noChangeAspect="1"/>
          </p:cNvPicPr>
          <p:nvPr/>
        </p:nvPicPr>
        <p:blipFill>
          <a:blip r:embed="rId2"/>
          <a:stretch>
            <a:fillRect/>
          </a:stretch>
        </p:blipFill>
        <p:spPr>
          <a:xfrm>
            <a:off x="3072067" y="980728"/>
            <a:ext cx="5614733" cy="5548089"/>
          </a:xfrm>
          <a:prstGeom prst="rect">
            <a:avLst/>
          </a:prstGeom>
        </p:spPr>
      </p:pic>
    </p:spTree>
    <p:extLst>
      <p:ext uri="{BB962C8B-B14F-4D97-AF65-F5344CB8AC3E}">
        <p14:creationId xmlns:p14="http://schemas.microsoft.com/office/powerpoint/2010/main" val="6979393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E7BB8-1C40-8B30-652E-F1C294CBFEAB}"/>
              </a:ext>
            </a:extLst>
          </p:cNvPr>
          <p:cNvSpPr>
            <a:spLocks noGrp="1"/>
          </p:cNvSpPr>
          <p:nvPr>
            <p:ph type="title"/>
          </p:nvPr>
        </p:nvSpPr>
        <p:spPr>
          <a:xfrm>
            <a:off x="457200" y="116632"/>
            <a:ext cx="8229600" cy="634082"/>
          </a:xfrm>
        </p:spPr>
        <p:txBody>
          <a:bodyPr>
            <a:normAutofit fontScale="90000"/>
          </a:bodyPr>
          <a:lstStyle/>
          <a:p>
            <a:r>
              <a:rPr lang="en-IE" dirty="0"/>
              <a:t>Practice string methods</a:t>
            </a:r>
          </a:p>
        </p:txBody>
      </p:sp>
      <p:pic>
        <p:nvPicPr>
          <p:cNvPr id="10" name="Picture 9">
            <a:extLst>
              <a:ext uri="{FF2B5EF4-FFF2-40B4-BE49-F238E27FC236}">
                <a16:creationId xmlns:a16="http://schemas.microsoft.com/office/drawing/2014/main" id="{DC93845E-6DCA-A6C2-DB75-9C347A0A41F9}"/>
              </a:ext>
            </a:extLst>
          </p:cNvPr>
          <p:cNvPicPr>
            <a:picLocks noChangeAspect="1"/>
          </p:cNvPicPr>
          <p:nvPr/>
        </p:nvPicPr>
        <p:blipFill>
          <a:blip r:embed="rId2"/>
          <a:stretch>
            <a:fillRect/>
          </a:stretch>
        </p:blipFill>
        <p:spPr>
          <a:xfrm>
            <a:off x="-4306" y="980728"/>
            <a:ext cx="9018015" cy="4824536"/>
          </a:xfrm>
          <a:prstGeom prst="rect">
            <a:avLst/>
          </a:prstGeom>
        </p:spPr>
      </p:pic>
    </p:spTree>
    <p:extLst>
      <p:ext uri="{BB962C8B-B14F-4D97-AF65-F5344CB8AC3E}">
        <p14:creationId xmlns:p14="http://schemas.microsoft.com/office/powerpoint/2010/main" val="37635764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FB4F4C10-3B57-46BD-8E33-35E72C9098FB}"/>
              </a:ext>
            </a:extLst>
          </p:cNvPr>
          <p:cNvGraphicFramePr>
            <a:graphicFrameLocks noGrp="1"/>
          </p:cNvGraphicFramePr>
          <p:nvPr/>
        </p:nvGraphicFramePr>
        <p:xfrm>
          <a:off x="251520" y="999892"/>
          <a:ext cx="8712968" cy="5330674"/>
        </p:xfrm>
        <a:graphic>
          <a:graphicData uri="http://schemas.openxmlformats.org/drawingml/2006/table">
            <a:tbl>
              <a:tblPr firstRow="1" bandRow="1">
                <a:tableStyleId>{616DA210-FB5B-4158-B5E0-FEB733F419BA}</a:tableStyleId>
              </a:tblPr>
              <a:tblGrid>
                <a:gridCol w="823365">
                  <a:extLst>
                    <a:ext uri="{9D8B030D-6E8A-4147-A177-3AD203B41FA5}">
                      <a16:colId xmlns:a16="http://schemas.microsoft.com/office/drawing/2014/main" val="1064276653"/>
                    </a:ext>
                  </a:extLst>
                </a:gridCol>
                <a:gridCol w="2056955">
                  <a:extLst>
                    <a:ext uri="{9D8B030D-6E8A-4147-A177-3AD203B41FA5}">
                      <a16:colId xmlns:a16="http://schemas.microsoft.com/office/drawing/2014/main" val="806643344"/>
                    </a:ext>
                  </a:extLst>
                </a:gridCol>
                <a:gridCol w="5832648">
                  <a:extLst>
                    <a:ext uri="{9D8B030D-6E8A-4147-A177-3AD203B41FA5}">
                      <a16:colId xmlns:a16="http://schemas.microsoft.com/office/drawing/2014/main" val="1070243092"/>
                    </a:ext>
                  </a:extLst>
                </a:gridCol>
              </a:tblGrid>
              <a:tr h="566161">
                <a:tc>
                  <a:txBody>
                    <a:bodyPr/>
                    <a:lstStyle/>
                    <a:p>
                      <a:r>
                        <a:rPr lang="en-IE" sz="2400" b="1" dirty="0"/>
                        <a:t>+</a:t>
                      </a:r>
                    </a:p>
                  </a:txBody>
                  <a:tcPr/>
                </a:tc>
                <a:tc>
                  <a:txBody>
                    <a:bodyPr/>
                    <a:lstStyle/>
                    <a:p>
                      <a:r>
                        <a:rPr lang="en-IE" sz="2400" b="0" dirty="0"/>
                        <a:t>Concatenation</a:t>
                      </a:r>
                    </a:p>
                  </a:txBody>
                  <a:tcPr/>
                </a:tc>
                <a:tc>
                  <a:txBody>
                    <a:bodyPr/>
                    <a:lstStyle/>
                    <a:p>
                      <a:r>
                        <a:rPr lang="en-IE" sz="2400" dirty="0"/>
                        <a:t>a + b  </a:t>
                      </a:r>
                      <a:r>
                        <a:rPr lang="en-IE" sz="2400" b="0" dirty="0"/>
                        <a:t>gives</a:t>
                      </a:r>
                      <a:r>
                        <a:rPr lang="en-IE" sz="2400" dirty="0"/>
                        <a:t>  ‘</a:t>
                      </a:r>
                      <a:r>
                        <a:rPr lang="en-IE" sz="2400" b="0" dirty="0" err="1"/>
                        <a:t>HappyBirthday</a:t>
                      </a:r>
                      <a:r>
                        <a:rPr lang="en-IE" sz="2400" b="0" dirty="0"/>
                        <a:t>’</a:t>
                      </a:r>
                    </a:p>
                  </a:txBody>
                  <a:tcPr/>
                </a:tc>
                <a:extLst>
                  <a:ext uri="{0D108BD9-81ED-4DB2-BD59-A6C34878D82A}">
                    <a16:rowId xmlns:a16="http://schemas.microsoft.com/office/drawing/2014/main" val="978410136"/>
                  </a:ext>
                </a:extLst>
              </a:tr>
              <a:tr h="566161">
                <a:tc>
                  <a:txBody>
                    <a:bodyPr/>
                    <a:lstStyle/>
                    <a:p>
                      <a:r>
                        <a:rPr lang="en-IE" sz="2400" b="1" dirty="0"/>
                        <a:t>*</a:t>
                      </a:r>
                    </a:p>
                  </a:txBody>
                  <a:tcPr/>
                </a:tc>
                <a:tc>
                  <a:txBody>
                    <a:bodyPr/>
                    <a:lstStyle/>
                    <a:p>
                      <a:r>
                        <a:rPr lang="en-IE" sz="2400" dirty="0"/>
                        <a:t>Repetition</a:t>
                      </a:r>
                    </a:p>
                  </a:txBody>
                  <a:tcPr/>
                </a:tc>
                <a:tc>
                  <a:txBody>
                    <a:bodyPr/>
                    <a:lstStyle/>
                    <a:p>
                      <a:r>
                        <a:rPr lang="en-IE" sz="2400" b="1" dirty="0"/>
                        <a:t>a * 3 </a:t>
                      </a:r>
                      <a:r>
                        <a:rPr lang="en-IE" sz="2400" b="0" dirty="0"/>
                        <a:t>gives</a:t>
                      </a:r>
                      <a:r>
                        <a:rPr lang="en-IE" sz="2400" dirty="0"/>
                        <a:t> ‘</a:t>
                      </a:r>
                      <a:r>
                        <a:rPr lang="en-IE" sz="2400" dirty="0" err="1"/>
                        <a:t>HappyHappyHappy</a:t>
                      </a:r>
                      <a:r>
                        <a:rPr lang="en-IE" sz="2400" dirty="0"/>
                        <a:t>’</a:t>
                      </a:r>
                    </a:p>
                  </a:txBody>
                  <a:tcPr/>
                </a:tc>
                <a:extLst>
                  <a:ext uri="{0D108BD9-81ED-4DB2-BD59-A6C34878D82A}">
                    <a16:rowId xmlns:a16="http://schemas.microsoft.com/office/drawing/2014/main" val="1884777148"/>
                  </a:ext>
                </a:extLst>
              </a:tr>
              <a:tr h="566161">
                <a:tc>
                  <a:txBody>
                    <a:bodyPr/>
                    <a:lstStyle/>
                    <a:p>
                      <a:r>
                        <a:rPr lang="en-IE" sz="2400" b="1" dirty="0"/>
                        <a:t>[]</a:t>
                      </a:r>
                    </a:p>
                  </a:txBody>
                  <a:tcPr/>
                </a:tc>
                <a:tc>
                  <a:txBody>
                    <a:bodyPr/>
                    <a:lstStyle/>
                    <a:p>
                      <a:r>
                        <a:rPr lang="en-IE" sz="2400" dirty="0"/>
                        <a:t>Slice</a:t>
                      </a:r>
                    </a:p>
                  </a:txBody>
                  <a:tcPr/>
                </a:tc>
                <a:tc>
                  <a:txBody>
                    <a:bodyPr/>
                    <a:lstStyle/>
                    <a:p>
                      <a:r>
                        <a:rPr lang="en-IE" sz="2400" b="1" dirty="0"/>
                        <a:t>b[1] </a:t>
                      </a:r>
                      <a:r>
                        <a:rPr lang="en-IE" sz="2400" dirty="0"/>
                        <a:t>gives ‘</a:t>
                      </a:r>
                      <a:r>
                        <a:rPr lang="en-IE" sz="2400" dirty="0" err="1"/>
                        <a:t>i</a:t>
                      </a:r>
                      <a:r>
                        <a:rPr lang="en-IE" sz="2400" dirty="0"/>
                        <a:t>’</a:t>
                      </a:r>
                    </a:p>
                  </a:txBody>
                  <a:tcPr/>
                </a:tc>
                <a:extLst>
                  <a:ext uri="{0D108BD9-81ED-4DB2-BD59-A6C34878D82A}">
                    <a16:rowId xmlns:a16="http://schemas.microsoft.com/office/drawing/2014/main" val="2622324587"/>
                  </a:ext>
                </a:extLst>
              </a:tr>
              <a:tr h="566161">
                <a:tc>
                  <a:txBody>
                    <a:bodyPr/>
                    <a:lstStyle/>
                    <a:p>
                      <a:r>
                        <a:rPr lang="en-IE" sz="2400" b="1" dirty="0"/>
                        <a:t>[:]</a:t>
                      </a:r>
                    </a:p>
                  </a:txBody>
                  <a:tcPr/>
                </a:tc>
                <a:tc>
                  <a:txBody>
                    <a:bodyPr/>
                    <a:lstStyle/>
                    <a:p>
                      <a:r>
                        <a:rPr lang="en-IE" sz="2400" dirty="0"/>
                        <a:t>Range Slice</a:t>
                      </a:r>
                    </a:p>
                  </a:txBody>
                  <a:tcPr/>
                </a:tc>
                <a:tc>
                  <a:txBody>
                    <a:bodyPr/>
                    <a:lstStyle/>
                    <a:p>
                      <a:r>
                        <a:rPr lang="en-IE" sz="2400" b="1" dirty="0"/>
                        <a:t>a[:2] + b[5:] </a:t>
                      </a:r>
                      <a:r>
                        <a:rPr lang="en-IE" sz="2400" dirty="0"/>
                        <a:t>gives ‘</a:t>
                      </a:r>
                      <a:r>
                        <a:rPr lang="en-IE" sz="2400" dirty="0" err="1"/>
                        <a:t>Haday</a:t>
                      </a:r>
                      <a:r>
                        <a:rPr lang="en-IE" sz="2400" dirty="0"/>
                        <a:t>’</a:t>
                      </a:r>
                    </a:p>
                  </a:txBody>
                  <a:tcPr/>
                </a:tc>
                <a:extLst>
                  <a:ext uri="{0D108BD9-81ED-4DB2-BD59-A6C34878D82A}">
                    <a16:rowId xmlns:a16="http://schemas.microsoft.com/office/drawing/2014/main" val="3335896944"/>
                  </a:ext>
                </a:extLst>
              </a:tr>
              <a:tr h="854517">
                <a:tc>
                  <a:txBody>
                    <a:bodyPr/>
                    <a:lstStyle/>
                    <a:p>
                      <a:r>
                        <a:rPr lang="en-IE" sz="2400" b="1" dirty="0"/>
                        <a:t>=</a:t>
                      </a:r>
                    </a:p>
                  </a:txBody>
                  <a:tcPr/>
                </a:tc>
                <a:tc>
                  <a:txBody>
                    <a:bodyPr/>
                    <a:lstStyle/>
                    <a:p>
                      <a:r>
                        <a:rPr lang="en-IE" sz="2400" dirty="0"/>
                        <a:t>Assignment</a:t>
                      </a:r>
                    </a:p>
                  </a:txBody>
                  <a:tcPr/>
                </a:tc>
                <a:tc>
                  <a:txBody>
                    <a:bodyPr/>
                    <a:lstStyle/>
                    <a:p>
                      <a:r>
                        <a:rPr lang="en-IE" sz="2400" b="1" dirty="0"/>
                        <a:t>c = b  </a:t>
                      </a:r>
                      <a:r>
                        <a:rPr lang="en-IE" sz="2400" dirty="0"/>
                        <a:t>gives c =‘Birthday’ and c is separate from b.</a:t>
                      </a:r>
                    </a:p>
                  </a:txBody>
                  <a:tcPr/>
                </a:tc>
                <a:extLst>
                  <a:ext uri="{0D108BD9-81ED-4DB2-BD59-A6C34878D82A}">
                    <a16:rowId xmlns:a16="http://schemas.microsoft.com/office/drawing/2014/main" val="962713197"/>
                  </a:ext>
                </a:extLst>
              </a:tr>
              <a:tr h="1234302">
                <a:tc>
                  <a:txBody>
                    <a:bodyPr/>
                    <a:lstStyle/>
                    <a:p>
                      <a:r>
                        <a:rPr lang="en-IE" sz="2400" b="1" dirty="0"/>
                        <a:t>+=</a:t>
                      </a:r>
                    </a:p>
                  </a:txBody>
                  <a:tcPr/>
                </a:tc>
                <a:tc>
                  <a:txBody>
                    <a:bodyPr/>
                    <a:lstStyle/>
                    <a:p>
                      <a:r>
                        <a:rPr lang="en-IE" sz="2400" dirty="0"/>
                        <a:t>Assignment &amp; concatenation</a:t>
                      </a:r>
                    </a:p>
                  </a:txBody>
                  <a:tcPr/>
                </a:tc>
                <a:tc>
                  <a:txBody>
                    <a:bodyPr/>
                    <a:lstStyle/>
                    <a:p>
                      <a:r>
                        <a:rPr lang="en-IE" sz="2400" b="1" dirty="0"/>
                        <a:t>c += ‘ Boy’ </a:t>
                      </a:r>
                      <a:r>
                        <a:rPr lang="en-IE" sz="2400" dirty="0"/>
                        <a:t>gives c as ‘Birthday Boy’</a:t>
                      </a:r>
                    </a:p>
                  </a:txBody>
                  <a:tcPr/>
                </a:tc>
                <a:extLst>
                  <a:ext uri="{0D108BD9-81ED-4DB2-BD59-A6C34878D82A}">
                    <a16:rowId xmlns:a16="http://schemas.microsoft.com/office/drawing/2014/main" val="268712249"/>
                  </a:ext>
                </a:extLst>
              </a:tr>
              <a:tr h="977211">
                <a:tc>
                  <a:txBody>
                    <a:bodyPr/>
                    <a:lstStyle/>
                    <a:p>
                      <a:r>
                        <a:rPr lang="en-IE" sz="2400" b="1" dirty="0"/>
                        <a:t>in</a:t>
                      </a:r>
                    </a:p>
                  </a:txBody>
                  <a:tcPr/>
                </a:tc>
                <a:tc>
                  <a:txBody>
                    <a:bodyPr/>
                    <a:lstStyle/>
                    <a:p>
                      <a:r>
                        <a:rPr lang="en-IE" sz="2400" dirty="0"/>
                        <a:t>Membership</a:t>
                      </a:r>
                    </a:p>
                  </a:txBody>
                  <a:tcPr/>
                </a:tc>
                <a:tc>
                  <a:txBody>
                    <a:bodyPr/>
                    <a:lstStyle/>
                    <a:p>
                      <a:r>
                        <a:rPr lang="en-IE" sz="2400" b="1" dirty="0"/>
                        <a:t>‘p’ in a </a:t>
                      </a:r>
                      <a:r>
                        <a:rPr lang="en-IE" sz="2400" dirty="0"/>
                        <a:t>gives True (or 1)</a:t>
                      </a:r>
                    </a:p>
                    <a:p>
                      <a:r>
                        <a:rPr lang="en-IE" sz="2400" b="1" dirty="0"/>
                        <a:t>‘q’ in a </a:t>
                      </a:r>
                      <a:r>
                        <a:rPr lang="en-IE" sz="2400" dirty="0"/>
                        <a:t>gives False (or 0)</a:t>
                      </a:r>
                    </a:p>
                  </a:txBody>
                  <a:tcPr/>
                </a:tc>
                <a:extLst>
                  <a:ext uri="{0D108BD9-81ED-4DB2-BD59-A6C34878D82A}">
                    <a16:rowId xmlns:a16="http://schemas.microsoft.com/office/drawing/2014/main" val="1763051504"/>
                  </a:ext>
                </a:extLst>
              </a:tr>
            </a:tbl>
          </a:graphicData>
        </a:graphic>
      </p:graphicFrame>
      <p:sp>
        <p:nvSpPr>
          <p:cNvPr id="6" name="TextBox 5">
            <a:extLst>
              <a:ext uri="{FF2B5EF4-FFF2-40B4-BE49-F238E27FC236}">
                <a16:creationId xmlns:a16="http://schemas.microsoft.com/office/drawing/2014/main" id="{58E08940-75F2-4838-852A-D2D894D3CA63}"/>
              </a:ext>
            </a:extLst>
          </p:cNvPr>
          <p:cNvSpPr txBox="1"/>
          <p:nvPr/>
        </p:nvSpPr>
        <p:spPr>
          <a:xfrm>
            <a:off x="2267744" y="404664"/>
            <a:ext cx="4608512" cy="523220"/>
          </a:xfrm>
          <a:prstGeom prst="rect">
            <a:avLst/>
          </a:prstGeom>
          <a:noFill/>
        </p:spPr>
        <p:txBody>
          <a:bodyPr wrap="square" rtlCol="0">
            <a:spAutoFit/>
          </a:bodyPr>
          <a:lstStyle/>
          <a:p>
            <a:r>
              <a:rPr lang="en-IE" sz="2800" dirty="0"/>
              <a:t>a = ‘Happy’	b = ‘Birthday’</a:t>
            </a:r>
          </a:p>
        </p:txBody>
      </p:sp>
      <p:sp>
        <p:nvSpPr>
          <p:cNvPr id="2" name="Rectangle: Rounded Corners 1">
            <a:extLst>
              <a:ext uri="{FF2B5EF4-FFF2-40B4-BE49-F238E27FC236}">
                <a16:creationId xmlns:a16="http://schemas.microsoft.com/office/drawing/2014/main" id="{4533CAB1-C319-4237-8E97-ED9A873001B6}"/>
              </a:ext>
            </a:extLst>
          </p:cNvPr>
          <p:cNvSpPr/>
          <p:nvPr/>
        </p:nvSpPr>
        <p:spPr>
          <a:xfrm>
            <a:off x="4635185" y="1084776"/>
            <a:ext cx="2088232" cy="36004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7" name="Rectangle: Rounded Corners 6">
            <a:extLst>
              <a:ext uri="{FF2B5EF4-FFF2-40B4-BE49-F238E27FC236}">
                <a16:creationId xmlns:a16="http://schemas.microsoft.com/office/drawing/2014/main" id="{28C2B18F-EFC5-4D7B-8130-6E3FCCDFE85C}"/>
              </a:ext>
            </a:extLst>
          </p:cNvPr>
          <p:cNvSpPr/>
          <p:nvPr/>
        </p:nvSpPr>
        <p:spPr>
          <a:xfrm>
            <a:off x="4572000" y="1639473"/>
            <a:ext cx="2908312" cy="36004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8" name="Rectangle: Rounded Corners 7">
            <a:extLst>
              <a:ext uri="{FF2B5EF4-FFF2-40B4-BE49-F238E27FC236}">
                <a16:creationId xmlns:a16="http://schemas.microsoft.com/office/drawing/2014/main" id="{569FCDD7-78C2-40A7-82A6-18970C70BAEB}"/>
              </a:ext>
            </a:extLst>
          </p:cNvPr>
          <p:cNvSpPr/>
          <p:nvPr/>
        </p:nvSpPr>
        <p:spPr>
          <a:xfrm>
            <a:off x="4499992" y="2231339"/>
            <a:ext cx="2908312" cy="36004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9" name="Rectangle: Rounded Corners 8">
            <a:extLst>
              <a:ext uri="{FF2B5EF4-FFF2-40B4-BE49-F238E27FC236}">
                <a16:creationId xmlns:a16="http://schemas.microsoft.com/office/drawing/2014/main" id="{092D8638-F22E-4D1B-B19E-0DE355004398}"/>
              </a:ext>
            </a:extLst>
          </p:cNvPr>
          <p:cNvSpPr/>
          <p:nvPr/>
        </p:nvSpPr>
        <p:spPr>
          <a:xfrm>
            <a:off x="5422100" y="2738707"/>
            <a:ext cx="2908312" cy="36004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0" name="Rectangle: Rounded Corners 9">
            <a:extLst>
              <a:ext uri="{FF2B5EF4-FFF2-40B4-BE49-F238E27FC236}">
                <a16:creationId xmlns:a16="http://schemas.microsoft.com/office/drawing/2014/main" id="{CBB8DCC9-F1D0-40CC-B91C-79D5D71E68BB}"/>
              </a:ext>
            </a:extLst>
          </p:cNvPr>
          <p:cNvSpPr/>
          <p:nvPr/>
        </p:nvSpPr>
        <p:spPr>
          <a:xfrm>
            <a:off x="4997152" y="3329046"/>
            <a:ext cx="1224136" cy="36004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1" name="Rectangle: Rounded Corners 10">
            <a:extLst>
              <a:ext uri="{FF2B5EF4-FFF2-40B4-BE49-F238E27FC236}">
                <a16:creationId xmlns:a16="http://schemas.microsoft.com/office/drawing/2014/main" id="{67194D06-5333-46C5-97E8-495ECCFD679F}"/>
              </a:ext>
            </a:extLst>
          </p:cNvPr>
          <p:cNvSpPr/>
          <p:nvPr/>
        </p:nvSpPr>
        <p:spPr>
          <a:xfrm>
            <a:off x="5796136" y="4150174"/>
            <a:ext cx="2908312" cy="36004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 name="TextBox 2">
            <a:extLst>
              <a:ext uri="{FF2B5EF4-FFF2-40B4-BE49-F238E27FC236}">
                <a16:creationId xmlns:a16="http://schemas.microsoft.com/office/drawing/2014/main" id="{93A6433B-EC34-4608-8D4F-51717C08CF42}"/>
              </a:ext>
            </a:extLst>
          </p:cNvPr>
          <p:cNvSpPr txBox="1"/>
          <p:nvPr/>
        </p:nvSpPr>
        <p:spPr>
          <a:xfrm>
            <a:off x="7646336" y="5506498"/>
            <a:ext cx="1368152" cy="461665"/>
          </a:xfrm>
          <a:prstGeom prst="rect">
            <a:avLst/>
          </a:prstGeom>
          <a:noFill/>
        </p:spPr>
        <p:txBody>
          <a:bodyPr wrap="square" rtlCol="0">
            <a:spAutoFit/>
          </a:bodyPr>
          <a:lstStyle/>
          <a:p>
            <a:r>
              <a:rPr lang="en-IE" sz="2400" dirty="0"/>
              <a:t>False</a:t>
            </a:r>
          </a:p>
        </p:txBody>
      </p:sp>
      <p:sp>
        <p:nvSpPr>
          <p:cNvPr id="12" name="Rectangle: Rounded Corners 11">
            <a:extLst>
              <a:ext uri="{FF2B5EF4-FFF2-40B4-BE49-F238E27FC236}">
                <a16:creationId xmlns:a16="http://schemas.microsoft.com/office/drawing/2014/main" id="{E93D12CD-CF2A-4F1B-9540-59AF2E5DFC22}"/>
              </a:ext>
            </a:extLst>
          </p:cNvPr>
          <p:cNvSpPr/>
          <p:nvPr/>
        </p:nvSpPr>
        <p:spPr>
          <a:xfrm>
            <a:off x="6221288" y="5590696"/>
            <a:ext cx="2671192" cy="360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b="1" dirty="0">
                <a:solidFill>
                  <a:schemeClr val="tx1"/>
                </a:solidFill>
              </a:rPr>
              <a:t>‘t’ in a  </a:t>
            </a:r>
            <a:r>
              <a:rPr lang="en-IE" sz="2400" b="1" dirty="0"/>
              <a:t>gives ?</a:t>
            </a:r>
            <a:endParaRPr lang="en-IE" sz="2400" dirty="0"/>
          </a:p>
        </p:txBody>
      </p:sp>
    </p:spTree>
    <p:extLst>
      <p:ext uri="{BB962C8B-B14F-4D97-AF65-F5344CB8AC3E}">
        <p14:creationId xmlns:p14="http://schemas.microsoft.com/office/powerpoint/2010/main" val="41162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7"/>
                                        </p:tgtEl>
                                        <p:attrNameLst>
                                          <p:attrName>ppt_x</p:attrName>
                                        </p:attrNameLst>
                                      </p:cBhvr>
                                      <p:tavLst>
                                        <p:tav tm="0">
                                          <p:val>
                                            <p:strVal val="ppt_x"/>
                                          </p:val>
                                        </p:tav>
                                        <p:tav tm="100000">
                                          <p:val>
                                            <p:strVal val="ppt_x"/>
                                          </p:val>
                                        </p:tav>
                                      </p:tavLst>
                                    </p:anim>
                                    <p:anim calcmode="lin" valueType="num">
                                      <p:cBhvr additive="base">
                                        <p:cTn id="13" dur="500"/>
                                        <p:tgtEl>
                                          <p:spTgt spid="7"/>
                                        </p:tgtEl>
                                        <p:attrNameLst>
                                          <p:attrName>ppt_y</p:attrName>
                                        </p:attrNameLst>
                                      </p:cBhvr>
                                      <p:tavLst>
                                        <p:tav tm="0">
                                          <p:val>
                                            <p:strVal val="ppt_y"/>
                                          </p:val>
                                        </p:tav>
                                        <p:tav tm="100000">
                                          <p:val>
                                            <p:strVal val="1+ppt_h/2"/>
                                          </p:val>
                                        </p:tav>
                                      </p:tavLst>
                                    </p:anim>
                                    <p:set>
                                      <p:cBhvr>
                                        <p:cTn id="14" dur="1" fill="hold">
                                          <p:stCondLst>
                                            <p:cond delay="499"/>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grpId="0" nodeType="clickEffect">
                                  <p:stCondLst>
                                    <p:cond delay="0"/>
                                  </p:stCondLst>
                                  <p:childTnLst>
                                    <p:anim calcmode="lin" valueType="num">
                                      <p:cBhvr additive="base">
                                        <p:cTn id="18" dur="500"/>
                                        <p:tgtEl>
                                          <p:spTgt spid="8"/>
                                        </p:tgtEl>
                                        <p:attrNameLst>
                                          <p:attrName>ppt_x</p:attrName>
                                        </p:attrNameLst>
                                      </p:cBhvr>
                                      <p:tavLst>
                                        <p:tav tm="0">
                                          <p:val>
                                            <p:strVal val="ppt_x"/>
                                          </p:val>
                                        </p:tav>
                                        <p:tav tm="100000">
                                          <p:val>
                                            <p:strVal val="ppt_x"/>
                                          </p:val>
                                        </p:tav>
                                      </p:tavLst>
                                    </p:anim>
                                    <p:anim calcmode="lin" valueType="num">
                                      <p:cBhvr additive="base">
                                        <p:cTn id="19" dur="500"/>
                                        <p:tgtEl>
                                          <p:spTgt spid="8"/>
                                        </p:tgtEl>
                                        <p:attrNameLst>
                                          <p:attrName>ppt_y</p:attrName>
                                        </p:attrNameLst>
                                      </p:cBhvr>
                                      <p:tavLst>
                                        <p:tav tm="0">
                                          <p:val>
                                            <p:strVal val="ppt_y"/>
                                          </p:val>
                                        </p:tav>
                                        <p:tav tm="100000">
                                          <p:val>
                                            <p:strVal val="1+ppt_h/2"/>
                                          </p:val>
                                        </p:tav>
                                      </p:tavLst>
                                    </p:anim>
                                    <p:set>
                                      <p:cBhvr>
                                        <p:cTn id="20" dur="1" fill="hold">
                                          <p:stCondLst>
                                            <p:cond delay="499"/>
                                          </p:stCondLst>
                                        </p:cTn>
                                        <p:tgtEl>
                                          <p:spTgt spid="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0" nodeType="clickEffect">
                                  <p:stCondLst>
                                    <p:cond delay="0"/>
                                  </p:stCondLst>
                                  <p:childTnLst>
                                    <p:anim calcmode="lin" valueType="num">
                                      <p:cBhvr additive="base">
                                        <p:cTn id="24" dur="500"/>
                                        <p:tgtEl>
                                          <p:spTgt spid="9"/>
                                        </p:tgtEl>
                                        <p:attrNameLst>
                                          <p:attrName>ppt_x</p:attrName>
                                        </p:attrNameLst>
                                      </p:cBhvr>
                                      <p:tavLst>
                                        <p:tav tm="0">
                                          <p:val>
                                            <p:strVal val="ppt_x"/>
                                          </p:val>
                                        </p:tav>
                                        <p:tav tm="100000">
                                          <p:val>
                                            <p:strVal val="ppt_x"/>
                                          </p:val>
                                        </p:tav>
                                      </p:tavLst>
                                    </p:anim>
                                    <p:anim calcmode="lin" valueType="num">
                                      <p:cBhvr additive="base">
                                        <p:cTn id="25" dur="500"/>
                                        <p:tgtEl>
                                          <p:spTgt spid="9"/>
                                        </p:tgtEl>
                                        <p:attrNameLst>
                                          <p:attrName>ppt_y</p:attrName>
                                        </p:attrNameLst>
                                      </p:cBhvr>
                                      <p:tavLst>
                                        <p:tav tm="0">
                                          <p:val>
                                            <p:strVal val="ppt_y"/>
                                          </p:val>
                                        </p:tav>
                                        <p:tav tm="100000">
                                          <p:val>
                                            <p:strVal val="1+ppt_h/2"/>
                                          </p:val>
                                        </p:tav>
                                      </p:tavLst>
                                    </p:anim>
                                    <p:set>
                                      <p:cBhvr>
                                        <p:cTn id="26" dur="1" fill="hold">
                                          <p:stCondLst>
                                            <p:cond delay="499"/>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grpId="0" nodeType="clickEffect">
                                  <p:stCondLst>
                                    <p:cond delay="0"/>
                                  </p:stCondLst>
                                  <p:childTnLst>
                                    <p:anim calcmode="lin" valueType="num">
                                      <p:cBhvr additive="base">
                                        <p:cTn id="30" dur="500"/>
                                        <p:tgtEl>
                                          <p:spTgt spid="10"/>
                                        </p:tgtEl>
                                        <p:attrNameLst>
                                          <p:attrName>ppt_x</p:attrName>
                                        </p:attrNameLst>
                                      </p:cBhvr>
                                      <p:tavLst>
                                        <p:tav tm="0">
                                          <p:val>
                                            <p:strVal val="ppt_x"/>
                                          </p:val>
                                        </p:tav>
                                        <p:tav tm="100000">
                                          <p:val>
                                            <p:strVal val="ppt_x"/>
                                          </p:val>
                                        </p:tav>
                                      </p:tavLst>
                                    </p:anim>
                                    <p:anim calcmode="lin" valueType="num">
                                      <p:cBhvr additive="base">
                                        <p:cTn id="31" dur="500"/>
                                        <p:tgtEl>
                                          <p:spTgt spid="10"/>
                                        </p:tgtEl>
                                        <p:attrNameLst>
                                          <p:attrName>ppt_y</p:attrName>
                                        </p:attrNameLst>
                                      </p:cBhvr>
                                      <p:tavLst>
                                        <p:tav tm="0">
                                          <p:val>
                                            <p:strVal val="ppt_y"/>
                                          </p:val>
                                        </p:tav>
                                        <p:tav tm="100000">
                                          <p:val>
                                            <p:strVal val="1+ppt_h/2"/>
                                          </p:val>
                                        </p:tav>
                                      </p:tavLst>
                                    </p:anim>
                                    <p:set>
                                      <p:cBhvr>
                                        <p:cTn id="32" dur="1" fill="hold">
                                          <p:stCondLst>
                                            <p:cond delay="499"/>
                                          </p:stCondLst>
                                        </p:cTn>
                                        <p:tgtEl>
                                          <p:spTgt spid="1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0" nodeType="clickEffect">
                                  <p:stCondLst>
                                    <p:cond delay="0"/>
                                  </p:stCondLst>
                                  <p:childTnLst>
                                    <p:anim calcmode="lin" valueType="num">
                                      <p:cBhvr additive="base">
                                        <p:cTn id="36" dur="500"/>
                                        <p:tgtEl>
                                          <p:spTgt spid="11"/>
                                        </p:tgtEl>
                                        <p:attrNameLst>
                                          <p:attrName>ppt_x</p:attrName>
                                        </p:attrNameLst>
                                      </p:cBhvr>
                                      <p:tavLst>
                                        <p:tav tm="0">
                                          <p:val>
                                            <p:strVal val="ppt_x"/>
                                          </p:val>
                                        </p:tav>
                                        <p:tav tm="100000">
                                          <p:val>
                                            <p:strVal val="ppt_x"/>
                                          </p:val>
                                        </p:tav>
                                      </p:tavLst>
                                    </p:anim>
                                    <p:anim calcmode="lin" valueType="num">
                                      <p:cBhvr additive="base">
                                        <p:cTn id="37" dur="500"/>
                                        <p:tgtEl>
                                          <p:spTgt spid="11"/>
                                        </p:tgtEl>
                                        <p:attrNameLst>
                                          <p:attrName>ppt_y</p:attrName>
                                        </p:attrNameLst>
                                      </p:cBhvr>
                                      <p:tavLst>
                                        <p:tav tm="0">
                                          <p:val>
                                            <p:strVal val="ppt_y"/>
                                          </p:val>
                                        </p:tav>
                                        <p:tav tm="100000">
                                          <p:val>
                                            <p:strVal val="1+ppt_h/2"/>
                                          </p:val>
                                        </p:tav>
                                      </p:tavLst>
                                    </p:anim>
                                    <p:set>
                                      <p:cBhvr>
                                        <p:cTn id="38" dur="1" fill="hold">
                                          <p:stCondLst>
                                            <p:cond delay="499"/>
                                          </p:stCondLst>
                                        </p:cTn>
                                        <p:tgtEl>
                                          <p:spTgt spid="1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12"/>
                                        </p:tgtEl>
                                      </p:cBhvr>
                                    </p:animEffect>
                                    <p:set>
                                      <p:cBhvr>
                                        <p:cTn id="43"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P spid="1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deviantart.com/download/159364670/Ascii_bunny_rabbit_by_Pulvina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27384"/>
            <a:ext cx="9143999" cy="67769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0" y="1576809"/>
            <a:ext cx="9144000" cy="1470025"/>
          </a:xfrm>
          <a:solidFill>
            <a:srgbClr val="7030A0">
              <a:alpha val="80000"/>
            </a:srgbClr>
          </a:solidFill>
        </p:spPr>
        <p:txBody>
          <a:bodyPr/>
          <a:lstStyle/>
          <a:p>
            <a:pPr marL="0" indent="0"/>
            <a:r>
              <a:rPr lang="en-GB" dirty="0">
                <a:solidFill>
                  <a:schemeClr val="bg1"/>
                </a:solidFill>
              </a:rPr>
              <a:t>The ASCII Alphanumeric Code</a:t>
            </a:r>
          </a:p>
        </p:txBody>
      </p:sp>
      <p:sp>
        <p:nvSpPr>
          <p:cNvPr id="3" name="Subtitle 2"/>
          <p:cNvSpPr>
            <a:spLocks noGrp="1"/>
          </p:cNvSpPr>
          <p:nvPr>
            <p:ph type="subTitle" idx="1"/>
          </p:nvPr>
        </p:nvSpPr>
        <p:spPr>
          <a:xfrm>
            <a:off x="1" y="3332584"/>
            <a:ext cx="9143999" cy="1752600"/>
          </a:xfrm>
          <a:solidFill>
            <a:srgbClr val="7030A0">
              <a:alpha val="80000"/>
            </a:srgbClr>
          </a:solidFill>
        </p:spPr>
        <p:txBody>
          <a:bodyPr/>
          <a:lstStyle/>
          <a:p>
            <a:r>
              <a:rPr lang="en-GB" dirty="0">
                <a:solidFill>
                  <a:schemeClr val="bg1"/>
                </a:solidFill>
              </a:rPr>
              <a:t>What is it?</a:t>
            </a:r>
          </a:p>
          <a:p>
            <a:r>
              <a:rPr lang="en-GB" dirty="0">
                <a:solidFill>
                  <a:schemeClr val="bg1"/>
                </a:solidFill>
              </a:rPr>
              <a:t>Why use it?</a:t>
            </a:r>
          </a:p>
          <a:p>
            <a:r>
              <a:rPr lang="en-GB" dirty="0">
                <a:solidFill>
                  <a:schemeClr val="bg1"/>
                </a:solidFill>
              </a:rPr>
              <a:t>How do we use it?</a:t>
            </a:r>
          </a:p>
        </p:txBody>
      </p:sp>
    </p:spTree>
    <p:extLst>
      <p:ext uri="{BB962C8B-B14F-4D97-AF65-F5344CB8AC3E}">
        <p14:creationId xmlns:p14="http://schemas.microsoft.com/office/powerpoint/2010/main" val="39505631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a:solidFill>
            <a:srgbClr val="7030A0">
              <a:alpha val="80000"/>
            </a:srgbClr>
          </a:solidFill>
        </p:spPr>
        <p:txBody>
          <a:bodyPr/>
          <a:lstStyle/>
          <a:p>
            <a:r>
              <a:rPr lang="en-GB" dirty="0">
                <a:solidFill>
                  <a:schemeClr val="bg1"/>
                </a:solidFill>
              </a:rPr>
              <a:t>What is it?</a:t>
            </a:r>
          </a:p>
        </p:txBody>
      </p:sp>
      <p:sp>
        <p:nvSpPr>
          <p:cNvPr id="3" name="Content Placeholder 2"/>
          <p:cNvSpPr>
            <a:spLocks noGrp="1"/>
          </p:cNvSpPr>
          <p:nvPr>
            <p:ph idx="1"/>
          </p:nvPr>
        </p:nvSpPr>
        <p:spPr>
          <a:xfrm>
            <a:off x="323528" y="1600200"/>
            <a:ext cx="8712968" cy="4983162"/>
          </a:xfrm>
        </p:spPr>
        <p:txBody>
          <a:bodyPr>
            <a:normAutofit/>
          </a:bodyPr>
          <a:lstStyle/>
          <a:p>
            <a:pPr marL="0" indent="0">
              <a:buNone/>
            </a:pPr>
            <a:r>
              <a:rPr lang="en-GB" sz="2400" dirty="0"/>
              <a:t>Computers work with digital signals, consisting of either 1’s or 0’s. We need some way to encode numbers, letters and symbols in binary. One of the most commonly used binary codes is the ASCII code. </a:t>
            </a:r>
          </a:p>
          <a:p>
            <a:pPr marL="0" indent="0">
              <a:buNone/>
            </a:pPr>
            <a:r>
              <a:rPr lang="en-GB" sz="2400" b="1" dirty="0"/>
              <a:t>ASCII stands for “American Standard Code for Information Interchange” and was developed in the 1963.</a:t>
            </a:r>
          </a:p>
          <a:p>
            <a:pPr marL="0" indent="0">
              <a:buNone/>
            </a:pPr>
            <a:endParaRPr lang="en-GB" sz="2400" dirty="0"/>
          </a:p>
          <a:p>
            <a:pPr marL="0" indent="0">
              <a:buNone/>
            </a:pPr>
            <a:r>
              <a:rPr lang="en-GB" sz="2400" dirty="0"/>
              <a:t>ASCII code includes all the uppercase &amp; lowercase characters on the keyboard, the numbers and most of the other characters (!, +, %, etc). Non-printable characters such as blank spaces are also included.</a:t>
            </a:r>
          </a:p>
        </p:txBody>
      </p:sp>
    </p:spTree>
    <p:extLst>
      <p:ext uri="{BB962C8B-B14F-4D97-AF65-F5344CB8AC3E}">
        <p14:creationId xmlns:p14="http://schemas.microsoft.com/office/powerpoint/2010/main" val="41823882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a:solidFill>
            <a:srgbClr val="7030A0">
              <a:alpha val="80000"/>
            </a:srgbClr>
          </a:solidFill>
        </p:spPr>
        <p:txBody>
          <a:bodyPr/>
          <a:lstStyle/>
          <a:p>
            <a:r>
              <a:rPr lang="en-GB" dirty="0">
                <a:solidFill>
                  <a:schemeClr val="bg1"/>
                </a:solidFill>
              </a:rPr>
              <a:t>Why do we use it?</a:t>
            </a:r>
          </a:p>
        </p:txBody>
      </p:sp>
      <p:sp>
        <p:nvSpPr>
          <p:cNvPr id="3" name="Content Placeholder 2"/>
          <p:cNvSpPr>
            <a:spLocks noGrp="1"/>
          </p:cNvSpPr>
          <p:nvPr>
            <p:ph idx="1"/>
          </p:nvPr>
        </p:nvSpPr>
        <p:spPr>
          <a:xfrm>
            <a:off x="179512" y="1600200"/>
            <a:ext cx="8507288" cy="4709120"/>
          </a:xfrm>
        </p:spPr>
        <p:txBody>
          <a:bodyPr>
            <a:normAutofit fontScale="92500" lnSpcReduction="20000"/>
          </a:bodyPr>
          <a:lstStyle/>
          <a:p>
            <a:pPr marL="0" indent="0">
              <a:buNone/>
            </a:pPr>
            <a:r>
              <a:rPr lang="en-GB" dirty="0"/>
              <a:t>Before ASCII, many different character sets were used, so on one system the code 0100001 would represent A, but on another it could be P, or Y!!!</a:t>
            </a:r>
          </a:p>
          <a:p>
            <a:pPr marL="0" indent="0">
              <a:buNone/>
            </a:pPr>
            <a:r>
              <a:rPr lang="en-GB" dirty="0"/>
              <a:t>A standardised system was needed</a:t>
            </a:r>
            <a:r>
              <a:rPr lang="en-GB"/>
              <a:t>,  resulting in </a:t>
            </a:r>
            <a:r>
              <a:rPr lang="en-GB" dirty="0"/>
              <a:t>the creation of ASCII.</a:t>
            </a:r>
          </a:p>
          <a:p>
            <a:pPr marL="0" indent="0">
              <a:buNone/>
            </a:pPr>
            <a:r>
              <a:rPr lang="en-GB" dirty="0"/>
              <a:t>ASCII (and later Unicode) are important as they provide a standard way for computers to represent characters that are readable by other computers (when encoded) as well as people (when decoded). This allows different computer systems to communicate with each other, ensuring their outputs are consistent with each other.</a:t>
            </a:r>
          </a:p>
        </p:txBody>
      </p:sp>
    </p:spTree>
    <p:extLst>
      <p:ext uri="{BB962C8B-B14F-4D97-AF65-F5344CB8AC3E}">
        <p14:creationId xmlns:p14="http://schemas.microsoft.com/office/powerpoint/2010/main" val="1040843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GB" dirty="0"/>
              <a:t>Obviously this situation was far from ideal.</a:t>
            </a:r>
          </a:p>
          <a:p>
            <a:pPr marL="0" indent="0">
              <a:buNone/>
            </a:pPr>
            <a:endParaRPr lang="en-GB" dirty="0"/>
          </a:p>
          <a:p>
            <a:pPr marL="0" indent="0">
              <a:buNone/>
            </a:pPr>
            <a:r>
              <a:rPr lang="en-GB" dirty="0"/>
              <a:t>A standard character set was needed so that consistency between systems could be achieved.</a:t>
            </a:r>
          </a:p>
          <a:p>
            <a:pPr marL="0" indent="0">
              <a:buNone/>
            </a:pPr>
            <a:endParaRPr lang="en-GB" dirty="0"/>
          </a:p>
          <a:p>
            <a:pPr marL="0" indent="0">
              <a:buNone/>
            </a:pPr>
            <a:r>
              <a:rPr lang="en-GB" dirty="0"/>
              <a:t>Almost all character sets in use, now begin with the 128 ASCII characters.</a:t>
            </a:r>
          </a:p>
          <a:p>
            <a:pPr marL="0" indent="0">
              <a:buNone/>
            </a:pPr>
            <a:endParaRPr lang="en-GB" dirty="0"/>
          </a:p>
          <a:p>
            <a:pPr marL="0" indent="0">
              <a:buNone/>
            </a:pPr>
            <a:endParaRPr lang="en-GB" dirty="0"/>
          </a:p>
        </p:txBody>
      </p:sp>
      <p:sp>
        <p:nvSpPr>
          <p:cNvPr id="6" name="Title 1"/>
          <p:cNvSpPr>
            <a:spLocks noGrp="1"/>
          </p:cNvSpPr>
          <p:nvPr>
            <p:ph type="title"/>
          </p:nvPr>
        </p:nvSpPr>
        <p:spPr>
          <a:xfrm>
            <a:off x="0" y="274638"/>
            <a:ext cx="9144000" cy="1143000"/>
          </a:xfrm>
          <a:solidFill>
            <a:srgbClr val="7030A0">
              <a:alpha val="80000"/>
            </a:srgbClr>
          </a:solidFill>
        </p:spPr>
        <p:txBody>
          <a:bodyPr/>
          <a:lstStyle/>
          <a:p>
            <a:r>
              <a:rPr lang="en-GB" dirty="0">
                <a:solidFill>
                  <a:schemeClr val="bg1"/>
                </a:solidFill>
              </a:rPr>
              <a:t>Why do we use it?</a:t>
            </a:r>
          </a:p>
        </p:txBody>
      </p:sp>
    </p:spTree>
    <p:extLst>
      <p:ext uri="{BB962C8B-B14F-4D97-AF65-F5344CB8AC3E}">
        <p14:creationId xmlns:p14="http://schemas.microsoft.com/office/powerpoint/2010/main" val="6804429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GB" dirty="0"/>
              <a:t>Each character is represented as a decimal value from  0 to 127. </a:t>
            </a:r>
          </a:p>
          <a:p>
            <a:pPr marL="0" indent="0">
              <a:buNone/>
            </a:pPr>
            <a:r>
              <a:rPr lang="en-GB" dirty="0"/>
              <a:t>This number is then converted to a binary code, (a sequence of binary digits, called bits) A bit can be either 1 or a 0.</a:t>
            </a:r>
          </a:p>
          <a:p>
            <a:pPr marL="0" indent="0">
              <a:buNone/>
            </a:pPr>
            <a:r>
              <a:rPr lang="en-GB" dirty="0"/>
              <a:t>The ASCII code for a character usually consists of 1 byte (8 bits)</a:t>
            </a:r>
          </a:p>
        </p:txBody>
      </p:sp>
      <p:sp>
        <p:nvSpPr>
          <p:cNvPr id="5" name="Title 1"/>
          <p:cNvSpPr>
            <a:spLocks noGrp="1"/>
          </p:cNvSpPr>
          <p:nvPr>
            <p:ph type="title"/>
          </p:nvPr>
        </p:nvSpPr>
        <p:spPr>
          <a:xfrm>
            <a:off x="0" y="274638"/>
            <a:ext cx="9144000" cy="1143000"/>
          </a:xfrm>
          <a:solidFill>
            <a:srgbClr val="7030A0">
              <a:alpha val="80000"/>
            </a:srgbClr>
          </a:solidFill>
        </p:spPr>
        <p:txBody>
          <a:bodyPr/>
          <a:lstStyle/>
          <a:p>
            <a:r>
              <a:rPr lang="en-GB" dirty="0">
                <a:solidFill>
                  <a:schemeClr val="bg1"/>
                </a:solidFill>
              </a:rPr>
              <a:t>How do we use it?</a:t>
            </a:r>
          </a:p>
        </p:txBody>
      </p:sp>
    </p:spTree>
    <p:extLst>
      <p:ext uri="{BB962C8B-B14F-4D97-AF65-F5344CB8AC3E}">
        <p14:creationId xmlns:p14="http://schemas.microsoft.com/office/powerpoint/2010/main" val="8299861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92696"/>
          </a:xfrm>
        </p:spPr>
        <p:txBody>
          <a:bodyPr>
            <a:normAutofit fontScale="90000"/>
          </a:bodyPr>
          <a:lstStyle/>
          <a:p>
            <a:r>
              <a:rPr lang="en-GB" dirty="0"/>
              <a:t>Extract from ASCII table</a:t>
            </a:r>
          </a:p>
        </p:txBody>
      </p:sp>
      <p:pic>
        <p:nvPicPr>
          <p:cNvPr id="4" name="Picture 3">
            <a:extLst>
              <a:ext uri="{FF2B5EF4-FFF2-40B4-BE49-F238E27FC236}">
                <a16:creationId xmlns:a16="http://schemas.microsoft.com/office/drawing/2014/main" id="{B2F377B2-AE77-D278-0514-5621E0D35F23}"/>
              </a:ext>
            </a:extLst>
          </p:cNvPr>
          <p:cNvPicPr>
            <a:picLocks noChangeAspect="1"/>
          </p:cNvPicPr>
          <p:nvPr/>
        </p:nvPicPr>
        <p:blipFill>
          <a:blip r:embed="rId3"/>
          <a:stretch>
            <a:fillRect/>
          </a:stretch>
        </p:blipFill>
        <p:spPr>
          <a:xfrm>
            <a:off x="539552" y="1014412"/>
            <a:ext cx="8147248" cy="5705324"/>
          </a:xfrm>
          <a:prstGeom prst="rect">
            <a:avLst/>
          </a:prstGeom>
        </p:spPr>
      </p:pic>
    </p:spTree>
    <p:extLst>
      <p:ext uri="{BB962C8B-B14F-4D97-AF65-F5344CB8AC3E}">
        <p14:creationId xmlns:p14="http://schemas.microsoft.com/office/powerpoint/2010/main" val="42454884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a:solidFill>
            <a:srgbClr val="7030A0">
              <a:alpha val="80000"/>
            </a:srgbClr>
          </a:solidFill>
        </p:spPr>
        <p:txBody>
          <a:bodyPr>
            <a:normAutofit fontScale="90000"/>
          </a:bodyPr>
          <a:lstStyle/>
          <a:p>
            <a:r>
              <a:rPr lang="en-GB" dirty="0">
                <a:solidFill>
                  <a:schemeClr val="bg1"/>
                </a:solidFill>
              </a:rPr>
              <a:t>Getting the decimal ASCII value of a character</a:t>
            </a:r>
          </a:p>
        </p:txBody>
      </p:sp>
      <p:pic>
        <p:nvPicPr>
          <p:cNvPr id="8" name="Picture 7">
            <a:extLst>
              <a:ext uri="{FF2B5EF4-FFF2-40B4-BE49-F238E27FC236}">
                <a16:creationId xmlns:a16="http://schemas.microsoft.com/office/drawing/2014/main" id="{703A21F4-509D-48EE-96EF-090ABA9C55A9}"/>
              </a:ext>
            </a:extLst>
          </p:cNvPr>
          <p:cNvPicPr>
            <a:picLocks noChangeAspect="1"/>
          </p:cNvPicPr>
          <p:nvPr/>
        </p:nvPicPr>
        <p:blipFill>
          <a:blip r:embed="rId3"/>
          <a:stretch>
            <a:fillRect/>
          </a:stretch>
        </p:blipFill>
        <p:spPr>
          <a:xfrm>
            <a:off x="179512" y="1700808"/>
            <a:ext cx="8524875" cy="1600200"/>
          </a:xfrm>
          <a:prstGeom prst="rect">
            <a:avLst/>
          </a:prstGeom>
        </p:spPr>
      </p:pic>
      <p:sp>
        <p:nvSpPr>
          <p:cNvPr id="3" name="TextBox 2">
            <a:extLst>
              <a:ext uri="{FF2B5EF4-FFF2-40B4-BE49-F238E27FC236}">
                <a16:creationId xmlns:a16="http://schemas.microsoft.com/office/drawing/2014/main" id="{10557D85-7EF7-0D6B-0C8B-8FD709E7CCA4}"/>
              </a:ext>
            </a:extLst>
          </p:cNvPr>
          <p:cNvSpPr txBox="1"/>
          <p:nvPr/>
        </p:nvSpPr>
        <p:spPr>
          <a:xfrm>
            <a:off x="251520" y="3789040"/>
            <a:ext cx="8452867" cy="830997"/>
          </a:xfrm>
          <a:prstGeom prst="rect">
            <a:avLst/>
          </a:prstGeom>
          <a:noFill/>
        </p:spPr>
        <p:txBody>
          <a:bodyPr wrap="square" rtlCol="0">
            <a:spAutoFit/>
          </a:bodyPr>
          <a:lstStyle/>
          <a:p>
            <a:r>
              <a:rPr lang="en-IE" sz="2400" dirty="0"/>
              <a:t>The </a:t>
            </a:r>
            <a:r>
              <a:rPr lang="en-IE" sz="2400" b="1" dirty="0" err="1"/>
              <a:t>ord</a:t>
            </a:r>
            <a:r>
              <a:rPr lang="en-IE" sz="2400" b="1" dirty="0"/>
              <a:t>()</a:t>
            </a:r>
            <a:r>
              <a:rPr lang="en-IE" sz="2400" dirty="0"/>
              <a:t> function takes a character and returns the ASCII decimal value for that character</a:t>
            </a:r>
          </a:p>
        </p:txBody>
      </p:sp>
    </p:spTree>
    <p:extLst>
      <p:ext uri="{BB962C8B-B14F-4D97-AF65-F5344CB8AC3E}">
        <p14:creationId xmlns:p14="http://schemas.microsoft.com/office/powerpoint/2010/main" val="4275053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a:solidFill>
            <a:srgbClr val="7030A0">
              <a:alpha val="80000"/>
            </a:srgbClr>
          </a:solidFill>
        </p:spPr>
        <p:txBody>
          <a:bodyPr>
            <a:normAutofit fontScale="90000"/>
          </a:bodyPr>
          <a:lstStyle/>
          <a:p>
            <a:r>
              <a:rPr lang="en-GB" dirty="0">
                <a:solidFill>
                  <a:schemeClr val="bg1"/>
                </a:solidFill>
              </a:rPr>
              <a:t>Converting a decimal ASCII value to a character</a:t>
            </a:r>
          </a:p>
        </p:txBody>
      </p:sp>
      <p:pic>
        <p:nvPicPr>
          <p:cNvPr id="4" name="Picture 3">
            <a:extLst>
              <a:ext uri="{FF2B5EF4-FFF2-40B4-BE49-F238E27FC236}">
                <a16:creationId xmlns:a16="http://schemas.microsoft.com/office/drawing/2014/main" id="{282840F0-FDD1-4302-BF25-A81303AB52AD}"/>
              </a:ext>
            </a:extLst>
          </p:cNvPr>
          <p:cNvPicPr>
            <a:picLocks noChangeAspect="1"/>
          </p:cNvPicPr>
          <p:nvPr/>
        </p:nvPicPr>
        <p:blipFill>
          <a:blip r:embed="rId3"/>
          <a:stretch>
            <a:fillRect/>
          </a:stretch>
        </p:blipFill>
        <p:spPr>
          <a:xfrm>
            <a:off x="-9118" y="1916832"/>
            <a:ext cx="9144000" cy="987879"/>
          </a:xfrm>
          <a:prstGeom prst="rect">
            <a:avLst/>
          </a:prstGeom>
        </p:spPr>
      </p:pic>
      <p:sp>
        <p:nvSpPr>
          <p:cNvPr id="5" name="TextBox 4">
            <a:extLst>
              <a:ext uri="{FF2B5EF4-FFF2-40B4-BE49-F238E27FC236}">
                <a16:creationId xmlns:a16="http://schemas.microsoft.com/office/drawing/2014/main" id="{2BE1C815-10D0-4235-9B11-B605DC54DC11}"/>
              </a:ext>
            </a:extLst>
          </p:cNvPr>
          <p:cNvSpPr txBox="1"/>
          <p:nvPr/>
        </p:nvSpPr>
        <p:spPr>
          <a:xfrm>
            <a:off x="179512" y="4149080"/>
            <a:ext cx="8424936" cy="1938992"/>
          </a:xfrm>
          <a:prstGeom prst="rect">
            <a:avLst/>
          </a:prstGeom>
          <a:noFill/>
        </p:spPr>
        <p:txBody>
          <a:bodyPr wrap="square" rtlCol="0">
            <a:spAutoFit/>
          </a:bodyPr>
          <a:lstStyle/>
          <a:p>
            <a:endParaRPr lang="en-IE" sz="2400" dirty="0">
              <a:effectLst/>
              <a:latin typeface="Arial" panose="020B0604020202020204" pitchFamily="34" charset="0"/>
              <a:ea typeface="Calibri" panose="020F0502020204030204" pitchFamily="34" charset="0"/>
              <a:cs typeface="Times New Roman" panose="02020603050405020304" pitchFamily="18" charset="0"/>
            </a:endParaRPr>
          </a:p>
          <a:p>
            <a:r>
              <a:rPr lang="en-IE" sz="2400" dirty="0">
                <a:effectLst/>
                <a:latin typeface="Arial" panose="020B0604020202020204" pitchFamily="34" charset="0"/>
                <a:ea typeface="Calibri" panose="020F0502020204030204" pitchFamily="34" charset="0"/>
                <a:cs typeface="Times New Roman" panose="02020603050405020304" pitchFamily="18" charset="0"/>
              </a:rPr>
              <a:t>The two built-in functions – </a:t>
            </a:r>
            <a:r>
              <a:rPr lang="en-IE" sz="2400" dirty="0" err="1">
                <a:effectLst/>
                <a:latin typeface="Courier New" panose="02070309020205020404" pitchFamily="49" charset="0"/>
                <a:ea typeface="Calibri" panose="020F0502020204030204" pitchFamily="34" charset="0"/>
                <a:cs typeface="Times New Roman" panose="02020603050405020304" pitchFamily="18" charset="0"/>
              </a:rPr>
              <a:t>ord</a:t>
            </a:r>
            <a:r>
              <a:rPr lang="en-IE" sz="2400" dirty="0">
                <a:effectLst/>
                <a:latin typeface="Arial" panose="020B0604020202020204" pitchFamily="34" charset="0"/>
                <a:ea typeface="Calibri" panose="020F0502020204030204" pitchFamily="34" charset="0"/>
                <a:cs typeface="Times New Roman" panose="02020603050405020304" pitchFamily="18" charset="0"/>
              </a:rPr>
              <a:t> and </a:t>
            </a:r>
            <a:r>
              <a:rPr lang="en-IE" sz="2400" dirty="0">
                <a:effectLst/>
                <a:latin typeface="Courier New" panose="02070309020205020404" pitchFamily="49" charset="0"/>
                <a:ea typeface="Calibri" panose="020F0502020204030204" pitchFamily="34" charset="0"/>
                <a:cs typeface="Times New Roman" panose="02020603050405020304" pitchFamily="18" charset="0"/>
              </a:rPr>
              <a:t>chr</a:t>
            </a:r>
            <a:r>
              <a:rPr lang="en-IE" sz="2400" dirty="0">
                <a:effectLst/>
                <a:latin typeface="Arial" panose="020B0604020202020204" pitchFamily="34" charset="0"/>
                <a:ea typeface="Calibri" panose="020F0502020204030204" pitchFamily="34" charset="0"/>
                <a:cs typeface="Times New Roman" panose="02020603050405020304" pitchFamily="18" charset="0"/>
              </a:rPr>
              <a:t> - are used to convert back and forth between characters and ASCII decimal values.</a:t>
            </a:r>
            <a:endParaRPr lang="en-IE"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E" sz="2400" dirty="0"/>
          </a:p>
        </p:txBody>
      </p:sp>
      <p:sp>
        <p:nvSpPr>
          <p:cNvPr id="3" name="TextBox 2">
            <a:extLst>
              <a:ext uri="{FF2B5EF4-FFF2-40B4-BE49-F238E27FC236}">
                <a16:creationId xmlns:a16="http://schemas.microsoft.com/office/drawing/2014/main" id="{81BF7479-F8F6-8E25-E2AA-F3010FD08B6B}"/>
              </a:ext>
            </a:extLst>
          </p:cNvPr>
          <p:cNvSpPr txBox="1"/>
          <p:nvPr/>
        </p:nvSpPr>
        <p:spPr>
          <a:xfrm>
            <a:off x="179512" y="3194973"/>
            <a:ext cx="8452867" cy="954107"/>
          </a:xfrm>
          <a:prstGeom prst="rect">
            <a:avLst/>
          </a:prstGeom>
          <a:noFill/>
        </p:spPr>
        <p:txBody>
          <a:bodyPr wrap="square" rtlCol="0">
            <a:spAutoFit/>
          </a:bodyPr>
          <a:lstStyle/>
          <a:p>
            <a:r>
              <a:rPr lang="en-IE" sz="2800" dirty="0"/>
              <a:t>The </a:t>
            </a:r>
            <a:r>
              <a:rPr lang="en-IE" sz="2800" b="1" dirty="0"/>
              <a:t>chr()</a:t>
            </a:r>
            <a:r>
              <a:rPr lang="en-IE" sz="2800" dirty="0"/>
              <a:t> function takes ASCII decimal value and converts it to the character that it represents</a:t>
            </a:r>
          </a:p>
        </p:txBody>
      </p:sp>
    </p:spTree>
    <p:extLst>
      <p:ext uri="{BB962C8B-B14F-4D97-AF65-F5344CB8AC3E}">
        <p14:creationId xmlns:p14="http://schemas.microsoft.com/office/powerpoint/2010/main" val="1123326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a:solidFill>
            <a:srgbClr val="7030A0">
              <a:alpha val="80000"/>
            </a:srgbClr>
          </a:solidFill>
        </p:spPr>
        <p:txBody>
          <a:bodyPr>
            <a:normAutofit/>
          </a:bodyPr>
          <a:lstStyle/>
          <a:p>
            <a:r>
              <a:rPr lang="en-GB" dirty="0" err="1">
                <a:solidFill>
                  <a:schemeClr val="bg1"/>
                </a:solidFill>
              </a:rPr>
              <a:t>ord</a:t>
            </a:r>
            <a:r>
              <a:rPr lang="en-GB" dirty="0">
                <a:solidFill>
                  <a:schemeClr val="bg1"/>
                </a:solidFill>
              </a:rPr>
              <a:t>  / </a:t>
            </a:r>
            <a:r>
              <a:rPr lang="en-GB" dirty="0" err="1">
                <a:solidFill>
                  <a:schemeClr val="bg1"/>
                </a:solidFill>
              </a:rPr>
              <a:t>chr</a:t>
            </a:r>
            <a:r>
              <a:rPr lang="en-GB" dirty="0">
                <a:solidFill>
                  <a:schemeClr val="bg1"/>
                </a:solidFill>
              </a:rPr>
              <a:t> </a:t>
            </a:r>
          </a:p>
        </p:txBody>
      </p:sp>
      <p:pic>
        <p:nvPicPr>
          <p:cNvPr id="10" name="Picture 9">
            <a:extLst>
              <a:ext uri="{FF2B5EF4-FFF2-40B4-BE49-F238E27FC236}">
                <a16:creationId xmlns:a16="http://schemas.microsoft.com/office/drawing/2014/main" id="{F566BFAC-3E61-493C-A7F1-03A5A541662E}"/>
              </a:ext>
            </a:extLst>
          </p:cNvPr>
          <p:cNvPicPr>
            <a:picLocks noChangeAspect="1"/>
          </p:cNvPicPr>
          <p:nvPr/>
        </p:nvPicPr>
        <p:blipFill>
          <a:blip r:embed="rId3"/>
          <a:stretch>
            <a:fillRect/>
          </a:stretch>
        </p:blipFill>
        <p:spPr>
          <a:xfrm>
            <a:off x="146376" y="1916832"/>
            <a:ext cx="8815325" cy="1323272"/>
          </a:xfrm>
          <a:prstGeom prst="rect">
            <a:avLst/>
          </a:prstGeom>
        </p:spPr>
      </p:pic>
      <p:sp>
        <p:nvSpPr>
          <p:cNvPr id="11" name="TextBox 10">
            <a:extLst>
              <a:ext uri="{FF2B5EF4-FFF2-40B4-BE49-F238E27FC236}">
                <a16:creationId xmlns:a16="http://schemas.microsoft.com/office/drawing/2014/main" id="{9EE3F5D2-8ED7-49A0-A9BB-C944B5A1697D}"/>
              </a:ext>
            </a:extLst>
          </p:cNvPr>
          <p:cNvSpPr txBox="1"/>
          <p:nvPr/>
        </p:nvSpPr>
        <p:spPr>
          <a:xfrm>
            <a:off x="164337" y="3246812"/>
            <a:ext cx="8815325" cy="2677656"/>
          </a:xfrm>
          <a:prstGeom prst="rect">
            <a:avLst/>
          </a:prstGeom>
          <a:noFill/>
        </p:spPr>
        <p:txBody>
          <a:bodyPr wrap="square" rtlCol="0">
            <a:spAutoFit/>
          </a:bodyPr>
          <a:lstStyle/>
          <a:p>
            <a:r>
              <a:rPr lang="en-IE" sz="2400" dirty="0">
                <a:effectLst/>
                <a:latin typeface="Arial" panose="020B0604020202020204" pitchFamily="34" charset="0"/>
                <a:ea typeface="Calibri" panose="020F0502020204030204" pitchFamily="34" charset="0"/>
                <a:cs typeface="Times New Roman" panose="02020603050405020304" pitchFamily="18" charset="0"/>
              </a:rPr>
              <a:t>Practice using </a:t>
            </a:r>
            <a:r>
              <a:rPr lang="en-IE" sz="2400" b="1" dirty="0" err="1">
                <a:effectLst/>
                <a:latin typeface="Arial" panose="020B0604020202020204" pitchFamily="34" charset="0"/>
                <a:ea typeface="Calibri" panose="020F0502020204030204" pitchFamily="34" charset="0"/>
                <a:cs typeface="Times New Roman" panose="02020603050405020304" pitchFamily="18" charset="0"/>
              </a:rPr>
              <a:t>ord</a:t>
            </a:r>
            <a:r>
              <a:rPr lang="en-IE" sz="2400" b="1" dirty="0">
                <a:effectLst/>
                <a:latin typeface="Arial" panose="020B0604020202020204" pitchFamily="34" charset="0"/>
                <a:ea typeface="Calibri" panose="020F0502020204030204" pitchFamily="34" charset="0"/>
                <a:cs typeface="Times New Roman" panose="02020603050405020304" pitchFamily="18" charset="0"/>
              </a:rPr>
              <a:t>() </a:t>
            </a:r>
            <a:r>
              <a:rPr lang="en-IE" sz="2400" dirty="0">
                <a:effectLst/>
                <a:latin typeface="Arial" panose="020B0604020202020204" pitchFamily="34" charset="0"/>
                <a:ea typeface="Calibri" panose="020F0502020204030204" pitchFamily="34" charset="0"/>
                <a:cs typeface="Times New Roman" panose="02020603050405020304" pitchFamily="18" charset="0"/>
              </a:rPr>
              <a:t>and </a:t>
            </a:r>
            <a:r>
              <a:rPr lang="en-IE" sz="2400" b="1" dirty="0" err="1">
                <a:effectLst/>
                <a:latin typeface="Arial" panose="020B0604020202020204" pitchFamily="34" charset="0"/>
                <a:ea typeface="Calibri" panose="020F0502020204030204" pitchFamily="34" charset="0"/>
                <a:cs typeface="Times New Roman" panose="02020603050405020304" pitchFamily="18" charset="0"/>
              </a:rPr>
              <a:t>chr</a:t>
            </a:r>
            <a:r>
              <a:rPr lang="en-IE" sz="2400" b="1" dirty="0">
                <a:effectLst/>
                <a:latin typeface="Arial" panose="020B0604020202020204" pitchFamily="34" charset="0"/>
                <a:ea typeface="Calibri" panose="020F0502020204030204" pitchFamily="34" charset="0"/>
                <a:cs typeface="Times New Roman" panose="02020603050405020304" pitchFamily="18" charset="0"/>
              </a:rPr>
              <a:t>() </a:t>
            </a:r>
            <a:r>
              <a:rPr lang="en-IE" sz="2400" dirty="0">
                <a:effectLst/>
                <a:latin typeface="Arial" panose="020B0604020202020204" pitchFamily="34" charset="0"/>
                <a:ea typeface="Calibri" panose="020F0502020204030204" pitchFamily="34" charset="0"/>
                <a:cs typeface="Times New Roman" panose="02020603050405020304" pitchFamily="18" charset="0"/>
              </a:rPr>
              <a:t>to convert the following values to ASCII decimal values and back again :</a:t>
            </a:r>
          </a:p>
          <a:p>
            <a:r>
              <a:rPr lang="en-IE" sz="2400" b="1" dirty="0">
                <a:latin typeface="Arial" panose="020B0604020202020204" pitchFamily="34" charset="0"/>
                <a:ea typeface="Calibri" panose="020F0502020204030204" pitchFamily="34" charset="0"/>
                <a:cs typeface="Times New Roman" panose="02020603050405020304" pitchFamily="18" charset="0"/>
              </a:rPr>
              <a:t>E, 2, &amp;, @</a:t>
            </a:r>
            <a:endParaRPr lang="en-IE" sz="2400" b="1" dirty="0">
              <a:effectLst/>
              <a:latin typeface="Arial" panose="020B0604020202020204" pitchFamily="34" charset="0"/>
              <a:ea typeface="Calibri" panose="020F0502020204030204" pitchFamily="34" charset="0"/>
              <a:cs typeface="Times New Roman" panose="02020603050405020304" pitchFamily="18" charset="0"/>
            </a:endParaRPr>
          </a:p>
          <a:p>
            <a:endParaRPr lang="en-IE" sz="2400" dirty="0">
              <a:latin typeface="Arial" panose="020B0604020202020204" pitchFamily="34" charset="0"/>
              <a:ea typeface="Calibri" panose="020F0502020204030204" pitchFamily="34" charset="0"/>
              <a:cs typeface="Times New Roman" panose="02020603050405020304" pitchFamily="18" charset="0"/>
            </a:endParaRPr>
          </a:p>
          <a:p>
            <a:r>
              <a:rPr lang="en-IE" sz="2400" dirty="0">
                <a:effectLst/>
                <a:latin typeface="Calibri" panose="020F0502020204030204" pitchFamily="34" charset="0"/>
                <a:ea typeface="Calibri" panose="020F0502020204030204" pitchFamily="34" charset="0"/>
                <a:cs typeface="Times New Roman" panose="02020603050405020304" pitchFamily="18" charset="0"/>
              </a:rPr>
              <a:t>Understanding ASCII and Unicode</a:t>
            </a:r>
          </a:p>
          <a:p>
            <a:r>
              <a:rPr lang="en-IE" sz="2400" dirty="0">
                <a:hlinkClick r:id="rId4"/>
              </a:rPr>
              <a:t>https://www.youtube.com/watch?v=5aJKKgSEUnY</a:t>
            </a:r>
            <a:endParaRPr lang="en-IE" sz="2400" dirty="0"/>
          </a:p>
          <a:p>
            <a:endParaRPr lang="en-IE" sz="2400" dirty="0"/>
          </a:p>
        </p:txBody>
      </p:sp>
    </p:spTree>
    <p:extLst>
      <p:ext uri="{BB962C8B-B14F-4D97-AF65-F5344CB8AC3E}">
        <p14:creationId xmlns:p14="http://schemas.microsoft.com/office/powerpoint/2010/main" val="31375133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a:solidFill>
            <a:srgbClr val="7030A0">
              <a:alpha val="80000"/>
            </a:srgbClr>
          </a:solidFill>
        </p:spPr>
        <p:txBody>
          <a:bodyPr>
            <a:normAutofit/>
          </a:bodyPr>
          <a:lstStyle/>
          <a:p>
            <a:r>
              <a:rPr lang="en-GB" dirty="0">
                <a:solidFill>
                  <a:schemeClr val="bg1"/>
                </a:solidFill>
              </a:rPr>
              <a:t>Basic Encryption Example</a:t>
            </a:r>
          </a:p>
        </p:txBody>
      </p:sp>
      <p:sp>
        <p:nvSpPr>
          <p:cNvPr id="5" name="TextBox 4">
            <a:extLst>
              <a:ext uri="{FF2B5EF4-FFF2-40B4-BE49-F238E27FC236}">
                <a16:creationId xmlns:a16="http://schemas.microsoft.com/office/drawing/2014/main" id="{2BE1C815-10D0-4235-9B11-B605DC54DC11}"/>
              </a:ext>
            </a:extLst>
          </p:cNvPr>
          <p:cNvSpPr txBox="1"/>
          <p:nvPr/>
        </p:nvSpPr>
        <p:spPr>
          <a:xfrm>
            <a:off x="179512" y="1556792"/>
            <a:ext cx="8424936" cy="779104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IE" sz="2400" dirty="0">
                <a:effectLst/>
                <a:latin typeface="Arial" panose="020B0604020202020204" pitchFamily="34" charset="0"/>
                <a:ea typeface="Calibri" panose="020F0502020204030204" pitchFamily="34" charset="0"/>
                <a:cs typeface="Times New Roman" panose="02020603050405020304" pitchFamily="18" charset="0"/>
              </a:rPr>
              <a:t>Encryption is the process of encoding information for security purposes.</a:t>
            </a:r>
          </a:p>
          <a:p>
            <a:pPr marL="342900" indent="-342900">
              <a:lnSpc>
                <a:spcPct val="150000"/>
              </a:lnSpc>
              <a:buFont typeface="Arial" panose="020B0604020202020204" pitchFamily="34" charset="0"/>
              <a:buChar char="•"/>
            </a:pPr>
            <a:r>
              <a:rPr lang="en-IE" sz="2400" dirty="0">
                <a:latin typeface="Arial" panose="020B0604020202020204" pitchFamily="34" charset="0"/>
                <a:ea typeface="Calibri" panose="020F0502020204030204" pitchFamily="34" charset="0"/>
                <a:cs typeface="Times New Roman" panose="02020603050405020304" pitchFamily="18" charset="0"/>
              </a:rPr>
              <a:t>A very basic encryption is to take the ASCII values of the characters and “shift” each character using a “key”</a:t>
            </a:r>
          </a:p>
          <a:p>
            <a:pPr marL="342900" indent="-342900">
              <a:lnSpc>
                <a:spcPct val="150000"/>
              </a:lnSpc>
              <a:buFont typeface="Arial" panose="020B0604020202020204" pitchFamily="34" charset="0"/>
              <a:buChar char="•"/>
            </a:pPr>
            <a:r>
              <a:rPr lang="en-IE" sz="2400" dirty="0">
                <a:effectLst/>
                <a:latin typeface="Arial" panose="020B0604020202020204" pitchFamily="34" charset="0"/>
                <a:ea typeface="Calibri" panose="020F0502020204030204" pitchFamily="34" charset="0"/>
                <a:cs typeface="Times New Roman" panose="02020603050405020304" pitchFamily="18" charset="0"/>
              </a:rPr>
              <a:t>If the key was +3 and we want to encrypt C</a:t>
            </a:r>
          </a:p>
          <a:p>
            <a:pPr marL="800100" lvl="1" indent="-342900">
              <a:lnSpc>
                <a:spcPct val="150000"/>
              </a:lnSpc>
              <a:buFont typeface="Arial" panose="020B0604020202020204" pitchFamily="34" charset="0"/>
              <a:buChar char="•"/>
            </a:pPr>
            <a:r>
              <a:rPr lang="en-IE" sz="2400" dirty="0">
                <a:latin typeface="Arial" panose="020B0604020202020204" pitchFamily="34" charset="0"/>
                <a:ea typeface="Calibri" panose="020F0502020204030204" pitchFamily="34" charset="0"/>
                <a:cs typeface="Times New Roman" panose="02020603050405020304" pitchFamily="18" charset="0"/>
              </a:rPr>
              <a:t>Get the ASCII value of C which is 67</a:t>
            </a:r>
          </a:p>
          <a:p>
            <a:pPr marL="800100" lvl="1" indent="-342900">
              <a:lnSpc>
                <a:spcPct val="150000"/>
              </a:lnSpc>
              <a:buFont typeface="Arial" panose="020B0604020202020204" pitchFamily="34" charset="0"/>
              <a:buChar char="•"/>
            </a:pPr>
            <a:r>
              <a:rPr lang="en-IE" sz="2400" dirty="0">
                <a:effectLst/>
                <a:latin typeface="Arial" panose="020B0604020202020204" pitchFamily="34" charset="0"/>
                <a:ea typeface="Calibri" panose="020F0502020204030204" pitchFamily="34" charset="0"/>
                <a:cs typeface="Times New Roman" panose="02020603050405020304" pitchFamily="18" charset="0"/>
              </a:rPr>
              <a:t>Shift 67 by +3, this gives us 70</a:t>
            </a:r>
          </a:p>
          <a:p>
            <a:pPr marL="800100" lvl="1" indent="-342900">
              <a:lnSpc>
                <a:spcPct val="150000"/>
              </a:lnSpc>
              <a:buFont typeface="Arial" panose="020B0604020202020204" pitchFamily="34" charset="0"/>
              <a:buChar char="•"/>
            </a:pPr>
            <a:r>
              <a:rPr lang="en-IE" sz="2400" dirty="0">
                <a:latin typeface="Arial" panose="020B0604020202020204" pitchFamily="34" charset="0"/>
                <a:ea typeface="Calibri" panose="020F0502020204030204" pitchFamily="34" charset="0"/>
                <a:cs typeface="Times New Roman" panose="02020603050405020304" pitchFamily="18" charset="0"/>
              </a:rPr>
              <a:t>Convert the ASCII value back to a character =&gt; F</a:t>
            </a:r>
          </a:p>
          <a:p>
            <a:pPr marL="800100" lvl="1" indent="-342900">
              <a:lnSpc>
                <a:spcPct val="150000"/>
              </a:lnSpc>
              <a:buFont typeface="Arial" panose="020B0604020202020204" pitchFamily="34" charset="0"/>
              <a:buChar char="•"/>
            </a:pPr>
            <a:r>
              <a:rPr lang="en-IE" sz="2400" dirty="0">
                <a:effectLst/>
                <a:latin typeface="Arial" panose="020B0604020202020204" pitchFamily="34" charset="0"/>
                <a:ea typeface="Calibri" panose="020F0502020204030204" pitchFamily="34" charset="0"/>
                <a:cs typeface="Times New Roman" panose="02020603050405020304" pitchFamily="18" charset="0"/>
              </a:rPr>
              <a:t>The </a:t>
            </a:r>
            <a:r>
              <a:rPr lang="en-IE" sz="2400" dirty="0">
                <a:latin typeface="Arial" panose="020B0604020202020204" pitchFamily="34" charset="0"/>
                <a:ea typeface="Calibri" panose="020F0502020204030204" pitchFamily="34" charset="0"/>
                <a:cs typeface="Times New Roman" panose="02020603050405020304" pitchFamily="18" charset="0"/>
              </a:rPr>
              <a:t>encrypted value of C is F</a:t>
            </a:r>
            <a:endParaRPr lang="en-IE" sz="2400" dirty="0">
              <a:effectLst/>
              <a:latin typeface="Arial" panose="020B0604020202020204" pitchFamily="34" charset="0"/>
              <a:ea typeface="Calibri" panose="020F0502020204030204" pitchFamily="34" charset="0"/>
              <a:cs typeface="Times New Roman" panose="02020603050405020304" pitchFamily="18" charset="0"/>
            </a:endParaRPr>
          </a:p>
          <a:p>
            <a:pPr marL="800100" lvl="1" indent="-342900">
              <a:lnSpc>
                <a:spcPct val="150000"/>
              </a:lnSpc>
              <a:buFont typeface="Arial" panose="020B0604020202020204" pitchFamily="34" charset="0"/>
              <a:buChar char="•"/>
            </a:pPr>
            <a:endParaRPr lang="en-IE" sz="2400" dirty="0">
              <a:effectLst/>
              <a:latin typeface="Arial" panose="020B0604020202020204" pitchFamily="34" charset="0"/>
              <a:ea typeface="Calibri" panose="020F0502020204030204" pitchFamily="34" charset="0"/>
              <a:cs typeface="Times New Roman" panose="02020603050405020304" pitchFamily="18" charset="0"/>
            </a:endParaRPr>
          </a:p>
          <a:p>
            <a:pPr marL="342900" indent="-342900">
              <a:lnSpc>
                <a:spcPct val="150000"/>
              </a:lnSpc>
              <a:buFont typeface="Arial" panose="020B0604020202020204" pitchFamily="34" charset="0"/>
              <a:buChar char="•"/>
            </a:pPr>
            <a:endParaRPr lang="en-IE" sz="24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50000"/>
              </a:lnSpc>
            </a:pPr>
            <a:endParaRPr lang="en-IE" sz="2400" dirty="0">
              <a:latin typeface="Arial" panose="020B0604020202020204" pitchFamily="34" charset="0"/>
              <a:ea typeface="Calibri" panose="020F0502020204030204" pitchFamily="34" charset="0"/>
              <a:cs typeface="Times New Roman" panose="02020603050405020304" pitchFamily="18" charset="0"/>
            </a:endParaRPr>
          </a:p>
          <a:p>
            <a:pPr>
              <a:lnSpc>
                <a:spcPct val="150000"/>
              </a:lnSpc>
            </a:pPr>
            <a:endParaRPr lang="en-IE"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endParaRPr lang="en-IE" sz="2400" dirty="0"/>
          </a:p>
        </p:txBody>
      </p:sp>
    </p:spTree>
    <p:extLst>
      <p:ext uri="{BB962C8B-B14F-4D97-AF65-F5344CB8AC3E}">
        <p14:creationId xmlns:p14="http://schemas.microsoft.com/office/powerpoint/2010/main" val="16950537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a:solidFill>
            <a:srgbClr val="7030A0">
              <a:alpha val="80000"/>
            </a:srgbClr>
          </a:solidFill>
        </p:spPr>
        <p:txBody>
          <a:bodyPr>
            <a:normAutofit/>
          </a:bodyPr>
          <a:lstStyle/>
          <a:p>
            <a:r>
              <a:rPr lang="en-GB" dirty="0">
                <a:solidFill>
                  <a:schemeClr val="bg1"/>
                </a:solidFill>
              </a:rPr>
              <a:t>Encryption Example – Caesar Shift</a:t>
            </a:r>
          </a:p>
        </p:txBody>
      </p:sp>
      <p:pic>
        <p:nvPicPr>
          <p:cNvPr id="4" name="Picture 3">
            <a:extLst>
              <a:ext uri="{FF2B5EF4-FFF2-40B4-BE49-F238E27FC236}">
                <a16:creationId xmlns:a16="http://schemas.microsoft.com/office/drawing/2014/main" id="{81157CDE-58DE-4863-8D4F-483ECD67CDF1}"/>
              </a:ext>
            </a:extLst>
          </p:cNvPr>
          <p:cNvPicPr>
            <a:picLocks noChangeAspect="1"/>
          </p:cNvPicPr>
          <p:nvPr/>
        </p:nvPicPr>
        <p:blipFill>
          <a:blip r:embed="rId3"/>
          <a:stretch>
            <a:fillRect/>
          </a:stretch>
        </p:blipFill>
        <p:spPr>
          <a:xfrm>
            <a:off x="251519" y="1417638"/>
            <a:ext cx="8731059" cy="2232248"/>
          </a:xfrm>
          <a:prstGeom prst="rect">
            <a:avLst/>
          </a:prstGeom>
        </p:spPr>
      </p:pic>
      <p:sp>
        <p:nvSpPr>
          <p:cNvPr id="3" name="TextBox 2">
            <a:extLst>
              <a:ext uri="{FF2B5EF4-FFF2-40B4-BE49-F238E27FC236}">
                <a16:creationId xmlns:a16="http://schemas.microsoft.com/office/drawing/2014/main" id="{0E53648F-15D1-B379-C5F2-4CED8608F7A0}"/>
              </a:ext>
            </a:extLst>
          </p:cNvPr>
          <p:cNvSpPr txBox="1"/>
          <p:nvPr/>
        </p:nvSpPr>
        <p:spPr>
          <a:xfrm>
            <a:off x="323528" y="3905706"/>
            <a:ext cx="8659050" cy="2677656"/>
          </a:xfrm>
          <a:prstGeom prst="rect">
            <a:avLst/>
          </a:prstGeom>
          <a:noFill/>
        </p:spPr>
        <p:txBody>
          <a:bodyPr wrap="square" rtlCol="0">
            <a:spAutoFit/>
          </a:bodyPr>
          <a:lstStyle/>
          <a:p>
            <a:r>
              <a:rPr lang="en-IE" sz="2400" dirty="0"/>
              <a:t>This type of encryption is known as the Caesar shift. Named after Julius Caesar who supposedly used it to send messages during his military campaigns. IT IS NOT A SECURE ENCRYPTION because the </a:t>
            </a:r>
            <a:r>
              <a:rPr lang="en-US" sz="2400" dirty="0"/>
              <a:t>frequency of the letter pattern provides a big clue in deciphering the entire message. The most commonly used letters of the English language are e, t, a, </a:t>
            </a:r>
            <a:r>
              <a:rPr lang="en-US" sz="2400" dirty="0" err="1"/>
              <a:t>i</a:t>
            </a:r>
            <a:r>
              <a:rPr lang="en-US" sz="2400" dirty="0"/>
              <a:t>, o, n, s, h, and r. The letters that are most commonly found at the beginning of words are t, a, o, d, and w</a:t>
            </a:r>
            <a:endParaRPr lang="en-IE" sz="2400" dirty="0"/>
          </a:p>
        </p:txBody>
      </p:sp>
    </p:spTree>
    <p:extLst>
      <p:ext uri="{BB962C8B-B14F-4D97-AF65-F5344CB8AC3E}">
        <p14:creationId xmlns:p14="http://schemas.microsoft.com/office/powerpoint/2010/main" val="5083574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a:solidFill>
            <a:srgbClr val="7030A0">
              <a:alpha val="80000"/>
            </a:srgbClr>
          </a:solidFill>
        </p:spPr>
        <p:txBody>
          <a:bodyPr>
            <a:normAutofit/>
          </a:bodyPr>
          <a:lstStyle/>
          <a:p>
            <a:r>
              <a:rPr lang="en-GB" dirty="0">
                <a:solidFill>
                  <a:schemeClr val="bg1"/>
                </a:solidFill>
              </a:rPr>
              <a:t>Encryption Question</a:t>
            </a:r>
          </a:p>
        </p:txBody>
      </p:sp>
      <p:sp>
        <p:nvSpPr>
          <p:cNvPr id="3" name="TextBox 2">
            <a:extLst>
              <a:ext uri="{FF2B5EF4-FFF2-40B4-BE49-F238E27FC236}">
                <a16:creationId xmlns:a16="http://schemas.microsoft.com/office/drawing/2014/main" id="{86CD6E02-6872-437F-A7E1-DA5E9244C22D}"/>
              </a:ext>
            </a:extLst>
          </p:cNvPr>
          <p:cNvSpPr txBox="1"/>
          <p:nvPr/>
        </p:nvSpPr>
        <p:spPr>
          <a:xfrm>
            <a:off x="179512" y="1772816"/>
            <a:ext cx="8856984" cy="3970318"/>
          </a:xfrm>
          <a:prstGeom prst="rect">
            <a:avLst/>
          </a:prstGeom>
          <a:noFill/>
        </p:spPr>
        <p:txBody>
          <a:bodyPr wrap="square" rtlCol="0">
            <a:spAutoFit/>
          </a:bodyPr>
          <a:lstStyle/>
          <a:p>
            <a:r>
              <a:rPr lang="en-IE" sz="2800" dirty="0"/>
              <a:t>Write a program that encrypts a word using a Caesar shift. The program requires the word and the shift key (0 – 25) as input.  A word must consist of 5 letters in lower case with no spaces.  The output of the word is the encrypted word. </a:t>
            </a:r>
          </a:p>
          <a:p>
            <a:endParaRPr lang="en-IE" sz="2800" dirty="0"/>
          </a:p>
          <a:p>
            <a:r>
              <a:rPr lang="en-IE" sz="2800" dirty="0"/>
              <a:t>EXAMPLE</a:t>
            </a:r>
          </a:p>
          <a:p>
            <a:r>
              <a:rPr lang="en-IE" sz="2800" dirty="0"/>
              <a:t>Input:		hello</a:t>
            </a:r>
          </a:p>
          <a:p>
            <a:r>
              <a:rPr lang="en-IE" sz="2800" dirty="0"/>
              <a:t>Key:		5</a:t>
            </a:r>
          </a:p>
          <a:p>
            <a:r>
              <a:rPr lang="en-IE" sz="2800" dirty="0"/>
              <a:t>Output:	</a:t>
            </a:r>
            <a:r>
              <a:rPr lang="en-IE" sz="2800"/>
              <a:t>mjqqt</a:t>
            </a:r>
            <a:endParaRPr lang="en-IE" sz="2800" dirty="0"/>
          </a:p>
        </p:txBody>
      </p:sp>
    </p:spTree>
    <p:extLst>
      <p:ext uri="{BB962C8B-B14F-4D97-AF65-F5344CB8AC3E}">
        <p14:creationId xmlns:p14="http://schemas.microsoft.com/office/powerpoint/2010/main" val="42386681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a:solidFill>
            <a:srgbClr val="7030A0">
              <a:alpha val="80000"/>
            </a:srgbClr>
          </a:solidFill>
        </p:spPr>
        <p:txBody>
          <a:bodyPr>
            <a:normAutofit/>
          </a:bodyPr>
          <a:lstStyle/>
          <a:p>
            <a:r>
              <a:rPr lang="en-GB" dirty="0">
                <a:solidFill>
                  <a:schemeClr val="bg1"/>
                </a:solidFill>
              </a:rPr>
              <a:t>Unicode (Universal Character Set)</a:t>
            </a:r>
          </a:p>
        </p:txBody>
      </p:sp>
      <p:sp>
        <p:nvSpPr>
          <p:cNvPr id="4" name="TextBox 3">
            <a:extLst>
              <a:ext uri="{FF2B5EF4-FFF2-40B4-BE49-F238E27FC236}">
                <a16:creationId xmlns:a16="http://schemas.microsoft.com/office/drawing/2014/main" id="{41FD0487-CFA7-BC2F-2736-B0DAE9F454FB}"/>
              </a:ext>
            </a:extLst>
          </p:cNvPr>
          <p:cNvSpPr txBox="1"/>
          <p:nvPr/>
        </p:nvSpPr>
        <p:spPr>
          <a:xfrm>
            <a:off x="179512" y="1556792"/>
            <a:ext cx="8964488" cy="5262979"/>
          </a:xfrm>
          <a:prstGeom prst="rect">
            <a:avLst/>
          </a:prstGeom>
          <a:noFill/>
        </p:spPr>
        <p:txBody>
          <a:bodyPr wrap="square" rtlCol="0">
            <a:spAutoFit/>
          </a:bodyPr>
          <a:lstStyle/>
          <a:p>
            <a:r>
              <a:rPr lang="en-IE" sz="2800" dirty="0"/>
              <a:t>ASCII was based on the Roman character set that English and most European languages use. </a:t>
            </a:r>
          </a:p>
          <a:p>
            <a:endParaRPr lang="en-IE" sz="2800" dirty="0"/>
          </a:p>
          <a:p>
            <a:r>
              <a:rPr lang="en-IE" sz="2800" dirty="0"/>
              <a:t>There are many languages in the world that use non-roman character sets such as Russian, Chinese and Urdu. These languages all have their own character sets with different kinds of characters.</a:t>
            </a:r>
          </a:p>
          <a:p>
            <a:endParaRPr lang="en-IE" sz="2800" dirty="0"/>
          </a:p>
          <a:p>
            <a:r>
              <a:rPr lang="en-IE" sz="2800" dirty="0"/>
              <a:t>Unicode was developed to allow for representation of a wide variety of characters including those from all the major languages and many other symbols, including emojis.</a:t>
            </a:r>
          </a:p>
          <a:p>
            <a:endParaRPr lang="en-IE" sz="2800" dirty="0"/>
          </a:p>
        </p:txBody>
      </p:sp>
    </p:spTree>
    <p:extLst>
      <p:ext uri="{BB962C8B-B14F-4D97-AF65-F5344CB8AC3E}">
        <p14:creationId xmlns:p14="http://schemas.microsoft.com/office/powerpoint/2010/main" val="27815722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a:solidFill>
            <a:srgbClr val="7030A0">
              <a:alpha val="80000"/>
            </a:srgbClr>
          </a:solidFill>
        </p:spPr>
        <p:txBody>
          <a:bodyPr>
            <a:normAutofit/>
          </a:bodyPr>
          <a:lstStyle/>
          <a:p>
            <a:r>
              <a:rPr lang="en-GB" dirty="0">
                <a:solidFill>
                  <a:schemeClr val="bg1"/>
                </a:solidFill>
              </a:rPr>
              <a:t>Unicode (Universal Character Set)</a:t>
            </a:r>
          </a:p>
        </p:txBody>
      </p:sp>
      <p:sp>
        <p:nvSpPr>
          <p:cNvPr id="4" name="TextBox 3">
            <a:extLst>
              <a:ext uri="{FF2B5EF4-FFF2-40B4-BE49-F238E27FC236}">
                <a16:creationId xmlns:a16="http://schemas.microsoft.com/office/drawing/2014/main" id="{41FD0487-CFA7-BC2F-2736-B0DAE9F454FB}"/>
              </a:ext>
            </a:extLst>
          </p:cNvPr>
          <p:cNvSpPr txBox="1"/>
          <p:nvPr/>
        </p:nvSpPr>
        <p:spPr>
          <a:xfrm>
            <a:off x="251520" y="1700808"/>
            <a:ext cx="8640960" cy="4524315"/>
          </a:xfrm>
          <a:prstGeom prst="rect">
            <a:avLst/>
          </a:prstGeom>
          <a:noFill/>
        </p:spPr>
        <p:txBody>
          <a:bodyPr wrap="square" rtlCol="0">
            <a:spAutoFit/>
          </a:bodyPr>
          <a:lstStyle/>
          <a:p>
            <a:r>
              <a:rPr lang="en-IE" sz="2400" dirty="0"/>
              <a:t>The first 128 characters of the Unicode are exactly the same as ASCII. Unicode then continues on with codes for over a million different characters. It is being extended regularly and is used throughout the world.  </a:t>
            </a:r>
          </a:p>
          <a:p>
            <a:endParaRPr lang="en-IE" sz="2400" dirty="0"/>
          </a:p>
          <a:p>
            <a:r>
              <a:rPr lang="en-IE" sz="2400" dirty="0"/>
              <a:t>Unicode contains many more characters than ASCII and therefore requires much more space, resulting in higher memory requirements as well as larger transmissions when sent. If Unicode was to use four bytes  (32 bits) to represent each character, a lot more space would be taken up needlessly.</a:t>
            </a:r>
          </a:p>
          <a:p>
            <a:endParaRPr lang="en-IE" sz="2400" dirty="0"/>
          </a:p>
          <a:p>
            <a:r>
              <a:rPr lang="en-IE" sz="2400" b="1" dirty="0"/>
              <a:t>UTF-8</a:t>
            </a:r>
            <a:r>
              <a:rPr lang="en-IE" sz="2400" dirty="0"/>
              <a:t> encoding provides a solution for this.</a:t>
            </a:r>
          </a:p>
        </p:txBody>
      </p:sp>
    </p:spTree>
    <p:extLst>
      <p:ext uri="{BB962C8B-B14F-4D97-AF65-F5344CB8AC3E}">
        <p14:creationId xmlns:p14="http://schemas.microsoft.com/office/powerpoint/2010/main" val="7154911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a:solidFill>
            <a:srgbClr val="7030A0">
              <a:alpha val="80000"/>
            </a:srgbClr>
          </a:solidFill>
        </p:spPr>
        <p:txBody>
          <a:bodyPr>
            <a:normAutofit/>
          </a:bodyPr>
          <a:lstStyle/>
          <a:p>
            <a:r>
              <a:rPr lang="en-GB" dirty="0">
                <a:solidFill>
                  <a:schemeClr val="bg1"/>
                </a:solidFill>
              </a:rPr>
              <a:t>UTF-8</a:t>
            </a:r>
          </a:p>
        </p:txBody>
      </p:sp>
      <p:sp>
        <p:nvSpPr>
          <p:cNvPr id="4" name="TextBox 3">
            <a:extLst>
              <a:ext uri="{FF2B5EF4-FFF2-40B4-BE49-F238E27FC236}">
                <a16:creationId xmlns:a16="http://schemas.microsoft.com/office/drawing/2014/main" id="{41FD0487-CFA7-BC2F-2736-B0DAE9F454FB}"/>
              </a:ext>
            </a:extLst>
          </p:cNvPr>
          <p:cNvSpPr txBox="1"/>
          <p:nvPr/>
        </p:nvSpPr>
        <p:spPr>
          <a:xfrm>
            <a:off x="251520" y="1628800"/>
            <a:ext cx="8640960" cy="4524315"/>
          </a:xfrm>
          <a:prstGeom prst="rect">
            <a:avLst/>
          </a:prstGeom>
          <a:noFill/>
        </p:spPr>
        <p:txBody>
          <a:bodyPr wrap="square" rtlCol="0">
            <a:spAutoFit/>
          </a:bodyPr>
          <a:lstStyle/>
          <a:p>
            <a:r>
              <a:rPr lang="en-IE" sz="2400" b="1" dirty="0"/>
              <a:t>UTF-8</a:t>
            </a:r>
            <a:r>
              <a:rPr lang="en-IE" sz="2400" dirty="0"/>
              <a:t> stands for “Universal Transformation Format”. The “8” means that it uses 8-bit blocks to represent a character.</a:t>
            </a:r>
          </a:p>
          <a:p>
            <a:endParaRPr lang="en-IE" sz="2400" dirty="0"/>
          </a:p>
          <a:p>
            <a:r>
              <a:rPr lang="en-IE" sz="2400" b="1" dirty="0"/>
              <a:t>UTF-8</a:t>
            </a:r>
            <a:r>
              <a:rPr lang="en-IE" sz="2400" dirty="0"/>
              <a:t> is a method for encoding Unicode characters and it is the main encoding method used for this on the internet. </a:t>
            </a:r>
          </a:p>
          <a:p>
            <a:endParaRPr lang="en-IE" sz="2400" dirty="0"/>
          </a:p>
          <a:p>
            <a:r>
              <a:rPr lang="en-US" sz="2400" b="1" dirty="0"/>
              <a:t>UTF-8</a:t>
            </a:r>
            <a:r>
              <a:rPr lang="en-US" sz="2400" dirty="0"/>
              <a:t> converts a code point (which represents a single character in Unicode) into a set of one to four bytes. The first 128 characters in the Unicode library — the characters we saw in ASCII — are represented as one byte. Characters that appear later in the Unicode library are encoded as two-byte, three-byte, and eventually four-byte binary units.</a:t>
            </a:r>
            <a:endParaRPr lang="en-IE" sz="2400" dirty="0"/>
          </a:p>
        </p:txBody>
      </p:sp>
    </p:spTree>
    <p:extLst>
      <p:ext uri="{BB962C8B-B14F-4D97-AF65-F5344CB8AC3E}">
        <p14:creationId xmlns:p14="http://schemas.microsoft.com/office/powerpoint/2010/main" val="34051538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a:solidFill>
            <a:srgbClr val="7030A0">
              <a:alpha val="80000"/>
            </a:srgbClr>
          </a:solidFill>
        </p:spPr>
        <p:txBody>
          <a:bodyPr>
            <a:normAutofit/>
          </a:bodyPr>
          <a:lstStyle/>
          <a:p>
            <a:r>
              <a:rPr lang="en-GB" dirty="0">
                <a:solidFill>
                  <a:schemeClr val="bg1"/>
                </a:solidFill>
              </a:rPr>
              <a:t>UTF-8</a:t>
            </a:r>
          </a:p>
        </p:txBody>
      </p:sp>
      <p:sp>
        <p:nvSpPr>
          <p:cNvPr id="4" name="TextBox 3">
            <a:extLst>
              <a:ext uri="{FF2B5EF4-FFF2-40B4-BE49-F238E27FC236}">
                <a16:creationId xmlns:a16="http://schemas.microsoft.com/office/drawing/2014/main" id="{41FD0487-CFA7-BC2F-2736-B0DAE9F454FB}"/>
              </a:ext>
            </a:extLst>
          </p:cNvPr>
          <p:cNvSpPr txBox="1"/>
          <p:nvPr/>
        </p:nvSpPr>
        <p:spPr>
          <a:xfrm>
            <a:off x="251520" y="1628800"/>
            <a:ext cx="8640960" cy="1200329"/>
          </a:xfrm>
          <a:prstGeom prst="rect">
            <a:avLst/>
          </a:prstGeom>
          <a:noFill/>
        </p:spPr>
        <p:txBody>
          <a:bodyPr wrap="square" rtlCol="0">
            <a:spAutoFit/>
          </a:bodyPr>
          <a:lstStyle/>
          <a:p>
            <a:r>
              <a:rPr lang="en-US" sz="2400" dirty="0"/>
              <a:t>On the following slide is a Unicode character  table with the UTF-8 output for each character added. </a:t>
            </a:r>
            <a:r>
              <a:rPr lang="en-US" sz="2400" b="1" dirty="0"/>
              <a:t>Notice how some characters are represented as just one byte, while others use more.</a:t>
            </a:r>
            <a:endParaRPr lang="en-IE" sz="2400" b="1" dirty="0"/>
          </a:p>
        </p:txBody>
      </p:sp>
    </p:spTree>
    <p:extLst>
      <p:ext uri="{BB962C8B-B14F-4D97-AF65-F5344CB8AC3E}">
        <p14:creationId xmlns:p14="http://schemas.microsoft.com/office/powerpoint/2010/main" val="30465867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50106"/>
          </a:xfrm>
          <a:solidFill>
            <a:srgbClr val="7030A0">
              <a:alpha val="80000"/>
            </a:srgbClr>
          </a:solidFill>
        </p:spPr>
        <p:txBody>
          <a:bodyPr>
            <a:normAutofit/>
          </a:bodyPr>
          <a:lstStyle/>
          <a:p>
            <a:r>
              <a:rPr lang="en-GB" dirty="0">
                <a:solidFill>
                  <a:schemeClr val="bg1"/>
                </a:solidFill>
              </a:rPr>
              <a:t>Unicode (Universal Character Set)</a:t>
            </a:r>
          </a:p>
        </p:txBody>
      </p:sp>
      <p:pic>
        <p:nvPicPr>
          <p:cNvPr id="4" name="Picture 3">
            <a:extLst>
              <a:ext uri="{FF2B5EF4-FFF2-40B4-BE49-F238E27FC236}">
                <a16:creationId xmlns:a16="http://schemas.microsoft.com/office/drawing/2014/main" id="{797054E6-9FC5-1DB5-E2D9-FEEDF41323B5}"/>
              </a:ext>
            </a:extLst>
          </p:cNvPr>
          <p:cNvPicPr>
            <a:picLocks noChangeAspect="1"/>
          </p:cNvPicPr>
          <p:nvPr/>
        </p:nvPicPr>
        <p:blipFill>
          <a:blip r:embed="rId3"/>
          <a:stretch>
            <a:fillRect/>
          </a:stretch>
        </p:blipFill>
        <p:spPr>
          <a:xfrm>
            <a:off x="1835696" y="900169"/>
            <a:ext cx="5472608" cy="5923476"/>
          </a:xfrm>
          <a:prstGeom prst="rect">
            <a:avLst/>
          </a:prstGeom>
        </p:spPr>
      </p:pic>
    </p:spTree>
    <p:extLst>
      <p:ext uri="{BB962C8B-B14F-4D97-AF65-F5344CB8AC3E}">
        <p14:creationId xmlns:p14="http://schemas.microsoft.com/office/powerpoint/2010/main" val="226394229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D59C47FF1BBBD41944C27E755792B60" ma:contentTypeVersion="13" ma:contentTypeDescription="Create a new document." ma:contentTypeScope="" ma:versionID="10712fcb74858acd939241f8f14c3c2a">
  <xsd:schema xmlns:xsd="http://www.w3.org/2001/XMLSchema" xmlns:xs="http://www.w3.org/2001/XMLSchema" xmlns:p="http://schemas.microsoft.com/office/2006/metadata/properties" xmlns:ns1="http://schemas.microsoft.com/sharepoint/v3" xmlns:ns2="2a24f1cd-5e3a-428d-a962-0c0266cdec1f" xmlns:ns3="2522d011-583a-4cec-893b-a3e4ebe7a880" targetNamespace="http://schemas.microsoft.com/office/2006/metadata/properties" ma:root="true" ma:fieldsID="762bbfe59eafa4ea92fb4b763fa075a5" ns1:_="" ns2:_="" ns3:_="">
    <xsd:import namespace="http://schemas.microsoft.com/sharepoint/v3"/>
    <xsd:import namespace="2a24f1cd-5e3a-428d-a962-0c0266cdec1f"/>
    <xsd:import namespace="2522d011-583a-4cec-893b-a3e4ebe7a88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a24f1cd-5e3a-428d-a962-0c0266cdec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12559f9-f71b-4af0-bfaa-ab2f6ccdd4a9"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22d011-583a-4cec-893b-a3e4ebe7a88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28a40212-ea4a-4620-9c44-1250f1e428a8}" ma:internalName="TaxCatchAll" ma:showField="CatchAllData" ma:web="2522d011-583a-4cec-893b-a3e4ebe7a8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a24f1cd-5e3a-428d-a962-0c0266cdec1f">
      <Terms xmlns="http://schemas.microsoft.com/office/infopath/2007/PartnerControls"/>
    </lcf76f155ced4ddcb4097134ff3c332f>
    <TaxCatchAll xmlns="2522d011-583a-4cec-893b-a3e4ebe7a880" xsi:nil="true"/>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1DA4EB3-0BE1-4926-BBEA-26AA7CFF006F}"/>
</file>

<file path=customXml/itemProps2.xml><?xml version="1.0" encoding="utf-8"?>
<ds:datastoreItem xmlns:ds="http://schemas.openxmlformats.org/officeDocument/2006/customXml" ds:itemID="{CB2982AC-8F67-45F8-AFEF-5A1EB8C7C666}">
  <ds:schemaRefs>
    <ds:schemaRef ds:uri="2a24f1cd-5e3a-428d-a962-0c0266cdec1f"/>
    <ds:schemaRef ds:uri="http://purl.org/dc/terms/"/>
    <ds:schemaRef ds:uri="http://purl.org/dc/dcmitype/"/>
    <ds:schemaRef ds:uri="2522d011-583a-4cec-893b-a3e4ebe7a880"/>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844396B-ED40-4F3D-9A6F-13156F958A9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3656</Words>
  <Application>Microsoft Office PowerPoint</Application>
  <PresentationFormat>On-screen Show (4:3)</PresentationFormat>
  <Paragraphs>327</Paragraphs>
  <Slides>63</Slides>
  <Notes>32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63</vt:i4>
      </vt:variant>
    </vt:vector>
  </HeadingPairs>
  <TitlesOfParts>
    <vt:vector size="69" baseType="lpstr">
      <vt:lpstr>Arial</vt:lpstr>
      <vt:lpstr>Calibri</vt:lpstr>
      <vt:lpstr>Cambria Math</vt:lpstr>
      <vt:lpstr>Courier New</vt:lpstr>
      <vt:lpstr>1_Office Theme</vt:lpstr>
      <vt:lpstr>2_Office Theme</vt:lpstr>
      <vt:lpstr>Learning to Program in Python</vt:lpstr>
      <vt:lpstr>Learning Intentions</vt:lpstr>
      <vt:lpstr>Create Your Own … Number Buster</vt:lpstr>
      <vt:lpstr>Some suggestions for your program</vt:lpstr>
      <vt:lpstr>Tips on separating digits in a number</vt:lpstr>
      <vt:lpstr>To Recap … Number Buster</vt:lpstr>
      <vt:lpstr>To Recap … Number Buster</vt:lpstr>
      <vt:lpstr>Create Your Own …  3 digit Number Buster</vt:lpstr>
      <vt:lpstr>Running Total</vt:lpstr>
      <vt:lpstr>Running Total</vt:lpstr>
      <vt:lpstr>Learning to Program in Python</vt:lpstr>
      <vt:lpstr>Learning Intentions</vt:lpstr>
      <vt:lpstr>STRINGS</vt:lpstr>
      <vt:lpstr>STRINGS</vt:lpstr>
      <vt:lpstr>Strings</vt:lpstr>
      <vt:lpstr>Strings</vt:lpstr>
      <vt:lpstr>When to use a strings</vt:lpstr>
      <vt:lpstr>Learning Intentions</vt:lpstr>
      <vt:lpstr>STRINGS</vt:lpstr>
      <vt:lpstr>String Indexing</vt:lpstr>
      <vt:lpstr>String Indexing</vt:lpstr>
      <vt:lpstr>String Indexing</vt:lpstr>
      <vt:lpstr>Negative Indexing</vt:lpstr>
      <vt:lpstr>Common Pitfalls with strings</vt:lpstr>
      <vt:lpstr>String Slicing (substrings)</vt:lpstr>
      <vt:lpstr>String Slicing </vt:lpstr>
      <vt:lpstr>String Addition</vt:lpstr>
      <vt:lpstr>String Multiplication</vt:lpstr>
      <vt:lpstr>Building Up a String</vt:lpstr>
      <vt:lpstr>Learning Intentions – 27/09</vt:lpstr>
      <vt:lpstr>From lower to upper case</vt:lpstr>
      <vt:lpstr>From upper to lower case</vt:lpstr>
      <vt:lpstr>Capitalise the 1st letter and the rest to lower</vt:lpstr>
      <vt:lpstr>Escape Characters( \ )</vt:lpstr>
      <vt:lpstr>Escape Characters( \ )</vt:lpstr>
      <vt:lpstr>Find the length of a string</vt:lpstr>
      <vt:lpstr>Length of a String (Len)</vt:lpstr>
      <vt:lpstr>To find if a substring is present</vt:lpstr>
      <vt:lpstr>To locate a substring</vt:lpstr>
      <vt:lpstr>String Formatting</vt:lpstr>
      <vt:lpstr>String Formatting Examples</vt:lpstr>
      <vt:lpstr>Use String Formatting to make this program more efficient  </vt:lpstr>
      <vt:lpstr>Python has lots of built-in methods that you can use on strings.</vt:lpstr>
      <vt:lpstr>Other string methods</vt:lpstr>
      <vt:lpstr>Practice string methods</vt:lpstr>
      <vt:lpstr>PowerPoint Presentation</vt:lpstr>
      <vt:lpstr>The ASCII Alphanumeric Code</vt:lpstr>
      <vt:lpstr>What is it?</vt:lpstr>
      <vt:lpstr>Why do we use it?</vt:lpstr>
      <vt:lpstr>Why do we use it?</vt:lpstr>
      <vt:lpstr>How do we use it?</vt:lpstr>
      <vt:lpstr>Extract from ASCII table</vt:lpstr>
      <vt:lpstr>Getting the decimal ASCII value of a character</vt:lpstr>
      <vt:lpstr>Converting a decimal ASCII value to a character</vt:lpstr>
      <vt:lpstr>ord  / chr </vt:lpstr>
      <vt:lpstr>Basic Encryption Example</vt:lpstr>
      <vt:lpstr>Encryption Example – Caesar Shift</vt:lpstr>
      <vt:lpstr>Encryption Question</vt:lpstr>
      <vt:lpstr>Unicode (Universal Character Set)</vt:lpstr>
      <vt:lpstr>Unicode (Universal Character Set)</vt:lpstr>
      <vt:lpstr>UTF-8</vt:lpstr>
      <vt:lpstr>UTF-8</vt:lpstr>
      <vt:lpstr>Unicode (Universal Character Set)</vt:lpstr>
    </vt:vector>
  </TitlesOfParts>
  <Company>NCCA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CCS;PB</dc:creator>
  <cp:lastModifiedBy>Pauline Smyth</cp:lastModifiedBy>
  <cp:revision>112</cp:revision>
  <dcterms:created xsi:type="dcterms:W3CDTF">2013-05-23T11:58:22Z</dcterms:created>
  <dcterms:modified xsi:type="dcterms:W3CDTF">2023-11-27T21:36:37Z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0x0101008D59C47FF1BBBD41944C27E755792B60</vt:lpwstr>
  </property>
  <property fmtid="{D5CDD505-2E9C-101B-9397-08002B2CF9AE}" pid="3" name="MediaServiceImageTags">
    <vt:lpwstr/>
  </property>
</Properties>
</file>