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60" r:id="rId2"/>
  </p:sldMasterIdLst>
  <p:sldIdLst>
    <p:sldId id="256" r:id="rId3"/>
    <p:sldId id="293" r:id="rId4"/>
    <p:sldId id="292" r:id="rId5"/>
    <p:sldId id="291" r:id="rId6"/>
    <p:sldId id="290" r:id="rId7"/>
    <p:sldId id="289" r:id="rId8"/>
    <p:sldId id="288" r:id="rId9"/>
    <p:sldId id="287" r:id="rId10"/>
    <p:sldId id="286" r:id="rId11"/>
    <p:sldId id="285" r:id="rId12"/>
    <p:sldId id="284" r:id="rId13"/>
    <p:sldId id="283" r:id="rId14"/>
    <p:sldId id="282" r:id="rId15"/>
    <p:sldId id="281" r:id="rId16"/>
    <p:sldId id="280" r:id="rId17"/>
    <p:sldId id="279" r:id="rId18"/>
    <p:sldId id="278" r:id="rId19"/>
    <p:sldId id="277" r:id="rId20"/>
    <p:sldId id="276" r:id="rId21"/>
    <p:sldId id="275" r:id="rId22"/>
    <p:sldId id="274" r:id="rId23"/>
    <p:sldId id="273" r:id="rId24"/>
    <p:sldId id="272" r:id="rId25"/>
    <p:sldId id="271" r:id="rId26"/>
    <p:sldId id="270" r:id="rId27"/>
    <p:sldId id="269" r:id="rId28"/>
    <p:sldId id="268" r:id="rId29"/>
    <p:sldId id="267" r:id="rId30"/>
    <p:sldId id="266" r:id="rId31"/>
    <p:sldId id="265" r:id="rId32"/>
    <p:sldId id="264" r:id="rId33"/>
    <p:sldId id="263" r:id="rId34"/>
    <p:sldId id="262" r:id="rId35"/>
    <p:sldId id="261" r:id="rId36"/>
    <p:sldId id="260" r:id="rId37"/>
    <p:sldId id="259" r:id="rId38"/>
    <p:sldId id="258" r:id="rId39"/>
    <p:sldId id="25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382B5-3459-4D61-883F-FF22EDC3CEB7}" v="12" dt="2023-11-06T16:12:05.795"/>
    <p1510:client id="{CB5F01B5-2B3C-63E4-13F8-032E4CA3D88A}" v="76" dt="2023-11-06T16:07:18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48" Type="http://schemas.openxmlformats.org/officeDocument/2006/relationships/customXml" Target="../customXml/item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ustomXml" Target="../customXml/item1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95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35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74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32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10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95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47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24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76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50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3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verse">
  <p:cSld name="Blank reverse">
    <p:bg>
      <p:bgPr>
        <a:solidFill>
          <a:srgbClr val="0090F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55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/>
          <p:nvPr/>
        </p:nvSpPr>
        <p:spPr>
          <a:xfrm>
            <a:off x="261800" y="261800"/>
            <a:ext cx="11680800" cy="6357600"/>
          </a:xfrm>
          <a:prstGeom prst="rect">
            <a:avLst/>
          </a:prstGeom>
          <a:solidFill>
            <a:srgbClr val="FFFFFF"/>
          </a:solidFill>
          <a:ln w="76200" cap="flat" cmpd="sng">
            <a:solidFill>
              <a:srgbClr val="00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158867" y="3083900"/>
            <a:ext cx="9874400" cy="2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Font typeface="Open Sans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□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□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□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ctrTitle"/>
          </p:nvPr>
        </p:nvSpPr>
        <p:spPr>
          <a:xfrm>
            <a:off x="1253667" y="1263733"/>
            <a:ext cx="66000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2" name="Google Shape;32;p5"/>
          <p:cNvSpPr txBox="1"/>
          <p:nvPr/>
        </p:nvSpPr>
        <p:spPr>
          <a:xfrm>
            <a:off x="9347633" y="6133967"/>
            <a:ext cx="2541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teachcomputerscience.com</a:t>
            </a:r>
            <a:endParaRPr sz="1333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5698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047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HsqTtUuErk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ISG4nGTQYE" TargetMode="External"/><Relationship Id="rId2" Type="http://schemas.openxmlformats.org/officeDocument/2006/relationships/hyperlink" Target="https://www.youtube.com/watch?v=P5jfD83u1V8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E72AD1F3-5EA3-6059-FE87-C5DCC9A722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  <a:ea typeface="Calibri Light"/>
                <a:cs typeface="Calibri Light"/>
              </a:rPr>
              <a:t>Electronic Components and Logic Gates</a:t>
            </a:r>
            <a:endParaRPr lang="en-US" sz="52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5th Yr Computer Science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Binary Code and </a:t>
            </a:r>
            <a:r>
              <a:rPr lang="en-IE"/>
              <a:t>electrical signals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47775"/>
            <a:ext cx="10668000" cy="3818083"/>
          </a:xfrm>
        </p:spPr>
        <p:txBody>
          <a:bodyPr>
            <a:normAutofit fontScale="92500"/>
          </a:bodyPr>
          <a:lstStyle/>
          <a:p>
            <a:r>
              <a:rPr lang="en-IE" dirty="0"/>
              <a:t>Modern computers use binary code to represent all information. </a:t>
            </a:r>
          </a:p>
          <a:p>
            <a:r>
              <a:rPr lang="en-IE" dirty="0"/>
              <a:t>We represent binary code using symbol pairs, the most common pair is (0,1)</a:t>
            </a:r>
          </a:p>
          <a:p>
            <a:r>
              <a:rPr lang="en-IE" dirty="0"/>
              <a:t>All binary system have TWO and only TWO possible values. </a:t>
            </a:r>
          </a:p>
          <a:p>
            <a:r>
              <a:rPr lang="en-IE" dirty="0"/>
              <a:t>In a computer, these are physically represented by the presence of or lack of presence of, an electric signal</a:t>
            </a:r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8049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Binary Code and </a:t>
            </a:r>
            <a:r>
              <a:rPr lang="en-IE"/>
              <a:t>electrical signals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47775"/>
            <a:ext cx="10668000" cy="5248275"/>
          </a:xfrm>
        </p:spPr>
        <p:txBody>
          <a:bodyPr>
            <a:normAutofit/>
          </a:bodyPr>
          <a:lstStyle/>
          <a:p>
            <a:r>
              <a:rPr lang="en-IE" dirty="0"/>
              <a:t>These electrical signal is often referred to as </a:t>
            </a:r>
            <a:r>
              <a:rPr lang="en-IE" b="1" dirty="0"/>
              <a:t>“on” </a:t>
            </a:r>
            <a:r>
              <a:rPr lang="en-IE" dirty="0"/>
              <a:t>(signal present) and </a:t>
            </a:r>
            <a:r>
              <a:rPr lang="en-IE" b="1" dirty="0"/>
              <a:t>“off” </a:t>
            </a:r>
            <a:r>
              <a:rPr lang="en-IE" dirty="0"/>
              <a:t>(no signal present).</a:t>
            </a:r>
          </a:p>
          <a:p>
            <a:r>
              <a:rPr lang="en-IE" dirty="0"/>
              <a:t>This is a simple concept and one of the fundamental strengths of modern digital, electronic, binary computer, which almost all computers now are.</a:t>
            </a:r>
          </a:p>
          <a:p>
            <a:endParaRPr lang="en-IE" b="1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4619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Binary Code and </a:t>
            </a:r>
            <a:r>
              <a:rPr lang="en-IE"/>
              <a:t>electrical signals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47775"/>
            <a:ext cx="6267722" cy="52482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b="1" dirty="0"/>
              <a:t>Analogue signals</a:t>
            </a:r>
          </a:p>
          <a:p>
            <a:r>
              <a:rPr lang="en-US" dirty="0"/>
              <a:t>Music and speech vary continuously in frequency and amplitude. In the same way, </a:t>
            </a:r>
            <a:r>
              <a:rPr lang="en-US" b="1" dirty="0"/>
              <a:t>analogue</a:t>
            </a:r>
            <a:r>
              <a:rPr lang="en-US" dirty="0"/>
              <a:t> signals can vary in frequency, amplitude, or both. FM (Frequency Modulated) and AM (Amplitude Modulated) are two types of radio signals. The diagram shows a typical oscilloscope trace of an </a:t>
            </a:r>
            <a:r>
              <a:rPr lang="en-US" b="1" dirty="0"/>
              <a:t>analogue</a:t>
            </a:r>
            <a:r>
              <a:rPr lang="en-US" dirty="0"/>
              <a:t> signal.</a:t>
            </a:r>
            <a:endParaRPr lang="en-IE" b="1" dirty="0"/>
          </a:p>
          <a:p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6F9639-D62A-4D05-B03B-9BEE9DA5E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722" y="2047875"/>
            <a:ext cx="4188822" cy="295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3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Binary Code and </a:t>
            </a:r>
            <a:r>
              <a:rPr lang="en-IE"/>
              <a:t>electrical signals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47775"/>
            <a:ext cx="5648325" cy="5248275"/>
          </a:xfrm>
        </p:spPr>
        <p:txBody>
          <a:bodyPr>
            <a:normAutofit lnSpcReduction="10000"/>
          </a:bodyPr>
          <a:lstStyle/>
          <a:p>
            <a:r>
              <a:rPr lang="en-US" sz="3200" b="1" dirty="0"/>
              <a:t>Digital signals</a:t>
            </a:r>
          </a:p>
          <a:p>
            <a:r>
              <a:rPr lang="en-US" b="1" dirty="0"/>
              <a:t>Digital</a:t>
            </a:r>
            <a:r>
              <a:rPr lang="en-US" dirty="0"/>
              <a:t> signals are a series of pulses consisting of two states: ON (1) or OFF (0). There are no values in between. DAB (Digital Audio Broadcast) radio is transmitted as digital signals. The diagram shows a typical oscilloscope trace of a </a:t>
            </a:r>
            <a:r>
              <a:rPr lang="en-US" b="1" dirty="0"/>
              <a:t>digital </a:t>
            </a:r>
            <a:r>
              <a:rPr lang="en-US" dirty="0"/>
              <a:t>signal.</a:t>
            </a: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8A9E7-1EBC-4264-9F65-2CF0C2C5F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712" y="1924050"/>
            <a:ext cx="477202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83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5901-5FE8-ED5B-F47D-4FB9F799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Analogue and Digital input/output on Microbits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C003A-6959-999A-5AD3-49C1DAE62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10668000" cy="3955002"/>
          </a:xfrm>
        </p:spPr>
        <p:txBody>
          <a:bodyPr>
            <a:normAutofit lnSpcReduction="10000"/>
          </a:bodyPr>
          <a:lstStyle/>
          <a:p>
            <a:r>
              <a:rPr lang="en-IE" dirty="0"/>
              <a:t>Example of Analogue sensors on the </a:t>
            </a:r>
            <a:r>
              <a:rPr lang="en-IE" dirty="0" err="1"/>
              <a:t>microbit</a:t>
            </a:r>
            <a:r>
              <a:rPr lang="en-IE" dirty="0"/>
              <a:t> are </a:t>
            </a:r>
          </a:p>
          <a:p>
            <a:pPr lvl="1"/>
            <a:r>
              <a:rPr lang="en-IE" dirty="0"/>
              <a:t>Light Sensor</a:t>
            </a:r>
          </a:p>
          <a:p>
            <a:pPr lvl="1"/>
            <a:r>
              <a:rPr lang="en-IE" dirty="0"/>
              <a:t>Sound Sensor</a:t>
            </a:r>
          </a:p>
          <a:p>
            <a:r>
              <a:rPr lang="en-IE" dirty="0"/>
              <a:t>Example of Digital input on the </a:t>
            </a:r>
            <a:r>
              <a:rPr lang="en-IE" dirty="0" err="1"/>
              <a:t>microbit</a:t>
            </a:r>
            <a:r>
              <a:rPr lang="en-IE" dirty="0"/>
              <a:t> are </a:t>
            </a:r>
          </a:p>
          <a:p>
            <a:pPr lvl="1"/>
            <a:r>
              <a:rPr lang="en-IE" dirty="0"/>
              <a:t>Button A, Button B</a:t>
            </a:r>
          </a:p>
          <a:p>
            <a:pPr lvl="1"/>
            <a:endParaRPr lang="en-IE" dirty="0"/>
          </a:p>
          <a:p>
            <a:r>
              <a:rPr lang="fr-FR" dirty="0">
                <a:hlinkClick r:id="rId2"/>
              </a:rPr>
              <a:t>Digital vs Analogue </a:t>
            </a:r>
            <a:r>
              <a:rPr lang="fr-FR" dirty="0" err="1">
                <a:hlinkClick r:id="rId2"/>
              </a:rPr>
              <a:t>sensors</a:t>
            </a:r>
            <a:r>
              <a:rPr lang="fr-FR" dirty="0">
                <a:hlinkClick r:id="rId2"/>
              </a:rPr>
              <a:t> on </a:t>
            </a:r>
            <a:r>
              <a:rPr lang="fr-FR" dirty="0" err="1">
                <a:hlinkClick r:id="rId2"/>
              </a:rPr>
              <a:t>microbit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71513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Electricity and electrons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876300"/>
            <a:ext cx="10953750" cy="5248275"/>
          </a:xfrm>
        </p:spPr>
        <p:txBody>
          <a:bodyPr>
            <a:normAutofit/>
          </a:bodyPr>
          <a:lstStyle/>
          <a:p>
            <a:r>
              <a:rPr lang="en-US" sz="3200" b="1" dirty="0"/>
              <a:t>Electricity</a:t>
            </a:r>
          </a:p>
          <a:p>
            <a:r>
              <a:rPr lang="en-US" dirty="0"/>
              <a:t>Electricity is a form of energy arising from the movements of electrons.</a:t>
            </a:r>
          </a:p>
          <a:p>
            <a:r>
              <a:rPr lang="en-US" dirty="0"/>
              <a:t>Electrons are negatively charged particles found in every atom.</a:t>
            </a:r>
          </a:p>
          <a:p>
            <a:r>
              <a:rPr lang="en-US" dirty="0"/>
              <a:t>The CPU, memory, bus and all other components are all electronic devices.</a:t>
            </a:r>
          </a:p>
          <a:p>
            <a:r>
              <a:rPr lang="en-US" dirty="0"/>
              <a:t>They work by controlling the flow of electrons through the device.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2224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Electric Current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876300"/>
            <a:ext cx="10953750" cy="5248275"/>
          </a:xfrm>
        </p:spPr>
        <p:txBody>
          <a:bodyPr>
            <a:normAutofit/>
          </a:bodyPr>
          <a:lstStyle/>
          <a:p>
            <a:r>
              <a:rPr lang="en-US" sz="3200" b="1" dirty="0"/>
              <a:t>Current</a:t>
            </a:r>
          </a:p>
          <a:p>
            <a:r>
              <a:rPr lang="en-US" b="1" u="sng" dirty="0"/>
              <a:t>Electric current </a:t>
            </a:r>
            <a:r>
              <a:rPr lang="en-US" dirty="0"/>
              <a:t>is the flow of electrons from one place to another. The greater the rate of electron flow, the greater the current there is.</a:t>
            </a:r>
          </a:p>
          <a:p>
            <a:endParaRPr lang="en-US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61031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Voltage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876300"/>
            <a:ext cx="10953750" cy="5248275"/>
          </a:xfrm>
        </p:spPr>
        <p:txBody>
          <a:bodyPr>
            <a:normAutofit/>
          </a:bodyPr>
          <a:lstStyle/>
          <a:p>
            <a:r>
              <a:rPr lang="en-US" sz="3200" b="1" dirty="0"/>
              <a:t>Voltage</a:t>
            </a:r>
          </a:p>
          <a:p>
            <a:r>
              <a:rPr lang="en-US" dirty="0"/>
              <a:t>An electron will not move without voltage. Voltage is electrical force that causes electrons to flow. </a:t>
            </a:r>
          </a:p>
          <a:p>
            <a:r>
              <a:rPr lang="en-US" b="1" dirty="0"/>
              <a:t>Voltage is the measure of the difference in electrical energy between two parts of a circuit. </a:t>
            </a:r>
            <a:r>
              <a:rPr lang="en-US" dirty="0"/>
              <a:t>The bigger the difference in energy, the bigger the voltage.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22326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405" y="205740"/>
            <a:ext cx="6474398" cy="6316980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Voltage</a:t>
            </a:r>
          </a:p>
          <a:p>
            <a:pPr marL="0" indent="0">
              <a:buNone/>
            </a:pPr>
            <a:r>
              <a:rPr lang="en-US" sz="3200" dirty="0"/>
              <a:t>In this circuit a voltage exists between each end of the battery. The electrons will flow along the connecting wire, lighting up the bulb i.e. a current flows through the circuit.</a:t>
            </a:r>
          </a:p>
          <a:p>
            <a:pPr marL="0" indent="0">
              <a:buNone/>
            </a:pPr>
            <a:r>
              <a:rPr lang="en-US" sz="3200" dirty="0"/>
              <a:t>The current can only flow if there is a complete circuit (no break) from the battery through the wires and back to the battery again</a:t>
            </a:r>
          </a:p>
          <a:p>
            <a:pPr marL="0" indent="0">
              <a:buNone/>
            </a:pPr>
            <a:endParaRPr lang="en-US" sz="3200" b="1" dirty="0"/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0A61F-E441-4919-A4B9-188DCE1AC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678" y="1619250"/>
            <a:ext cx="4763197" cy="268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89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876300"/>
            <a:ext cx="10953750" cy="5248275"/>
          </a:xfrm>
        </p:spPr>
        <p:txBody>
          <a:bodyPr>
            <a:normAutofit/>
          </a:bodyPr>
          <a:lstStyle/>
          <a:p>
            <a:r>
              <a:rPr lang="en-US" sz="3200" b="1" dirty="0"/>
              <a:t>Resistance</a:t>
            </a:r>
          </a:p>
          <a:p>
            <a:r>
              <a:rPr lang="en-IE" b="1" dirty="0"/>
              <a:t>Is a measure of how much a material resists (or obstructs) the flow of electrons (current).</a:t>
            </a:r>
          </a:p>
          <a:p>
            <a:r>
              <a:rPr lang="en-IE" dirty="0"/>
              <a:t>Different materials have different resistances to the flow of electrons.</a:t>
            </a:r>
          </a:p>
          <a:p>
            <a:r>
              <a:rPr lang="en-IE" dirty="0"/>
              <a:t>Copper (an electrical conductor) has very low resistance and glass (an electrical insulator) has very high resistance. Gold is an excellent conductor as it has extremely low resistance.</a:t>
            </a:r>
          </a:p>
        </p:txBody>
      </p:sp>
    </p:spTree>
    <p:extLst>
      <p:ext uri="{BB962C8B-B14F-4D97-AF65-F5344CB8AC3E}">
        <p14:creationId xmlns:p14="http://schemas.microsoft.com/office/powerpoint/2010/main" val="3033151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Basic electronic devices - Resistor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3753"/>
            <a:ext cx="9836458" cy="5848350"/>
          </a:xfrm>
        </p:spPr>
        <p:txBody>
          <a:bodyPr>
            <a:normAutofit/>
          </a:bodyPr>
          <a:lstStyle/>
          <a:p>
            <a:r>
              <a:rPr lang="en-US" sz="3200" b="1" dirty="0"/>
              <a:t>Resistors</a:t>
            </a:r>
          </a:p>
          <a:p>
            <a:r>
              <a:rPr lang="en-US" sz="3200" dirty="0"/>
              <a:t>A resistor is a device that reduces current flow</a:t>
            </a:r>
          </a:p>
          <a:p>
            <a:r>
              <a:rPr lang="en-US" sz="3200" dirty="0"/>
              <a:t>A kettle is like a big resistor. Its difficult for the electricity to flow through the kettle’s element. This creates heat that causes the water to boil.</a:t>
            </a:r>
          </a:p>
          <a:p>
            <a:r>
              <a:rPr lang="en-US" sz="3200" dirty="0"/>
              <a:t>Resistors have different values. Many resistors have </a:t>
            </a:r>
            <a:r>
              <a:rPr lang="en-US" sz="3200" dirty="0" err="1"/>
              <a:t>colour</a:t>
            </a:r>
            <a:r>
              <a:rPr lang="en-US" sz="3200" dirty="0"/>
              <a:t> bands on them that indicate their resistance value.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pic>
        <p:nvPicPr>
          <p:cNvPr id="1026" name="Picture 2" descr="When you can not recognize your resistor band code">
            <a:extLst>
              <a:ext uri="{FF2B5EF4-FFF2-40B4-BE49-F238E27FC236}">
                <a16:creationId xmlns:a16="http://schemas.microsoft.com/office/drawing/2014/main" id="{B3087FCD-A0FC-4E41-B5C4-207539966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150" y="1462642"/>
            <a:ext cx="2771769" cy="184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218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Basic electronic devices - Resistor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6300"/>
            <a:ext cx="9438640" cy="5848350"/>
          </a:xfrm>
        </p:spPr>
        <p:txBody>
          <a:bodyPr>
            <a:normAutofit/>
          </a:bodyPr>
          <a:lstStyle/>
          <a:p>
            <a:r>
              <a:rPr lang="en-US" sz="3200" b="1" dirty="0"/>
              <a:t>Resistors</a:t>
            </a:r>
          </a:p>
          <a:p>
            <a:r>
              <a:rPr lang="en-US" sz="3200" dirty="0"/>
              <a:t>A kettle is like a big resistor. Its difficult for the electricity to flow through the kettle’s element. This creates heat that causes the water to boil.</a:t>
            </a:r>
          </a:p>
          <a:p>
            <a:r>
              <a:rPr lang="en-US" sz="3200" dirty="0"/>
              <a:t>Resistors have different values. Many resistors have </a:t>
            </a:r>
            <a:r>
              <a:rPr lang="en-US" sz="3200" dirty="0" err="1"/>
              <a:t>colour</a:t>
            </a:r>
            <a:r>
              <a:rPr lang="en-US" sz="3200" dirty="0"/>
              <a:t> bands on them that indicate their resistance value.</a:t>
            </a:r>
          </a:p>
          <a:p>
            <a:endParaRPr lang="en-US" sz="3200" dirty="0"/>
          </a:p>
        </p:txBody>
      </p:sp>
      <p:pic>
        <p:nvPicPr>
          <p:cNvPr id="1026" name="Picture 2" descr="When you can not recognize your resistor band code">
            <a:extLst>
              <a:ext uri="{FF2B5EF4-FFF2-40B4-BE49-F238E27FC236}">
                <a16:creationId xmlns:a16="http://schemas.microsoft.com/office/drawing/2014/main" id="{B3087FCD-A0FC-4E41-B5C4-207539966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650" y="1462642"/>
            <a:ext cx="3049269" cy="202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125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Basic electronic devices - Transistor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876301"/>
            <a:ext cx="7439025" cy="5534024"/>
          </a:xfrm>
        </p:spPr>
        <p:txBody>
          <a:bodyPr>
            <a:normAutofit/>
          </a:bodyPr>
          <a:lstStyle/>
          <a:p>
            <a:r>
              <a:rPr lang="en-US" sz="3200" b="1" dirty="0"/>
              <a:t>Transistor</a:t>
            </a:r>
          </a:p>
          <a:p>
            <a:pPr marL="0" indent="0">
              <a:buNone/>
            </a:pPr>
            <a:r>
              <a:rPr lang="en-US" sz="3200" dirty="0"/>
              <a:t>Transistors are tiny electronic switches </a:t>
            </a:r>
          </a:p>
          <a:p>
            <a:pPr marL="0" indent="0">
              <a:buNone/>
            </a:pPr>
            <a:r>
              <a:rPr lang="en-US" sz="3200" b="1" dirty="0"/>
              <a:t>Transistor is an electronic switch within a circuit that allows a small current change to “switch” on or off a larger current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1026" name="Picture 2" descr="Transistor - Simple English Wikipedia, the free encyclopedia">
            <a:extLst>
              <a:ext uri="{FF2B5EF4-FFF2-40B4-BE49-F238E27FC236}">
                <a16:creationId xmlns:a16="http://schemas.microsoft.com/office/drawing/2014/main" id="{35ADCEB5-07C0-4901-9B1D-FE3562B11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4553" y="1409701"/>
            <a:ext cx="327088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392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Basic electronic devices - Capacitor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876300"/>
            <a:ext cx="10953750" cy="5848350"/>
          </a:xfrm>
        </p:spPr>
        <p:txBody>
          <a:bodyPr>
            <a:normAutofit/>
          </a:bodyPr>
          <a:lstStyle/>
          <a:p>
            <a:r>
              <a:rPr lang="en-US" sz="3200" dirty="0"/>
              <a:t>A capacitor stores electrical energy in the form of electrical charge. Unlike batteries, capacitors do not store electrical energy for long periods of time.</a:t>
            </a:r>
          </a:p>
          <a:p>
            <a:r>
              <a:rPr lang="en-US" sz="3200"/>
              <a:t>Capacitors are often </a:t>
            </a:r>
            <a:r>
              <a:rPr lang="en-US" sz="3200" dirty="0"/>
              <a:t>used in volatile memory (RAM)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8573A-9822-4967-B126-27813849A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640" y="4398321"/>
            <a:ext cx="5547360" cy="245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06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Basic electronic devices - Capacitor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876300"/>
            <a:ext cx="10953750" cy="5848350"/>
          </a:xfrm>
        </p:spPr>
        <p:txBody>
          <a:bodyPr>
            <a:normAutofit/>
          </a:bodyPr>
          <a:lstStyle/>
          <a:p>
            <a:r>
              <a:rPr lang="en-US" sz="3200" dirty="0"/>
              <a:t>You can see a capacitor in action when you turn off certain electronic devices. When you press the power off button, the light that tells you the system is on, stays on for a few seconds, but then dims before going out. This is the capacitor discharging.</a:t>
            </a:r>
          </a:p>
        </p:txBody>
      </p:sp>
    </p:spTree>
    <p:extLst>
      <p:ext uri="{BB962C8B-B14F-4D97-AF65-F5344CB8AC3E}">
        <p14:creationId xmlns:p14="http://schemas.microsoft.com/office/powerpoint/2010/main" val="3992099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Basic electronic devices - Capacitor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876300"/>
            <a:ext cx="10953750" cy="5248275"/>
          </a:xfrm>
        </p:spPr>
        <p:txBody>
          <a:bodyPr>
            <a:normAutofit/>
          </a:bodyPr>
          <a:lstStyle/>
          <a:p>
            <a:r>
              <a:rPr lang="en-US" dirty="0"/>
              <a:t>Capacitors also found in touchscreens. When you touch the screen, it changes the amount of charge at that point because your skin is a weak electrical conductor. The change in charge is very small but enough to be detected by the device</a:t>
            </a:r>
          </a:p>
          <a:p>
            <a:r>
              <a:rPr lang="en-US" dirty="0"/>
              <a:t>Capacitors are often used in series with resistors to achieve a time delay. The time it takes for the capacitor to become charged is related to the size of the capacitor and the value of the regulating resistor.</a:t>
            </a:r>
          </a:p>
        </p:txBody>
      </p:sp>
    </p:spTree>
    <p:extLst>
      <p:ext uri="{BB962C8B-B14F-4D97-AF65-F5344CB8AC3E}">
        <p14:creationId xmlns:p14="http://schemas.microsoft.com/office/powerpoint/2010/main" val="3114425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The CPU and logic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47775"/>
            <a:ext cx="10668000" cy="5224145"/>
          </a:xfrm>
        </p:spPr>
        <p:txBody>
          <a:bodyPr>
            <a:normAutofit fontScale="92500"/>
          </a:bodyPr>
          <a:lstStyle/>
          <a:p>
            <a:r>
              <a:rPr lang="en-IE" dirty="0"/>
              <a:t>Binary code is represented by electrical signals in the computer.</a:t>
            </a:r>
          </a:p>
          <a:p>
            <a:r>
              <a:rPr lang="en-IE" dirty="0"/>
              <a:t>Different devices (resistors, capacitors, transistors etc..) manipulate the flow of these signals in different ways</a:t>
            </a:r>
          </a:p>
          <a:p>
            <a:r>
              <a:rPr lang="en-IE" dirty="0"/>
              <a:t>In the CPU, the </a:t>
            </a:r>
            <a:r>
              <a:rPr lang="en-IE" b="1" dirty="0"/>
              <a:t>TRANSISTOR</a:t>
            </a:r>
            <a:r>
              <a:rPr lang="en-IE" dirty="0"/>
              <a:t> is responsible for manipulating the binary code (strings of 0s and 1s)</a:t>
            </a:r>
          </a:p>
          <a:p>
            <a:r>
              <a:rPr lang="en-IE" dirty="0"/>
              <a:t>The transistor acts as a switch. If the transistor is switched to “on” electrical current can flow, represented by 1.</a:t>
            </a:r>
          </a:p>
          <a:p>
            <a:r>
              <a:rPr lang="en-IE" dirty="0"/>
              <a:t>If the switch is “off”, the electrical flow stops and is represented by 0.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64889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The CPU and logic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47775"/>
            <a:ext cx="10668000" cy="5224145"/>
          </a:xfrm>
        </p:spPr>
        <p:txBody>
          <a:bodyPr>
            <a:normAutofit/>
          </a:bodyPr>
          <a:lstStyle/>
          <a:p>
            <a:r>
              <a:rPr lang="en-IE" dirty="0"/>
              <a:t>Many of the instructions that a CPU must carry out are based on Boolean operators, such as </a:t>
            </a:r>
            <a:r>
              <a:rPr lang="en-IE" b="1" dirty="0"/>
              <a:t>and, or , not</a:t>
            </a:r>
          </a:p>
          <a:p>
            <a:r>
              <a:rPr lang="en-IE" dirty="0"/>
              <a:t>Transistors can be arranged in different ways to carry out Boolean (logic) operations on data. These arrangements of transistors into circuits are known as </a:t>
            </a:r>
            <a:r>
              <a:rPr lang="en-IE" b="1" dirty="0"/>
              <a:t>Logic Gates</a:t>
            </a:r>
            <a:endParaRPr lang="en-IE" dirty="0"/>
          </a:p>
          <a:p>
            <a:r>
              <a:rPr lang="en-IE" dirty="0"/>
              <a:t>Logic gates allow the CPU to carry out Boolean operations on binary code, by controlling the flow of electricity, represented by 1s and 0s.</a:t>
            </a:r>
          </a:p>
        </p:txBody>
      </p:sp>
    </p:spTree>
    <p:extLst>
      <p:ext uri="{BB962C8B-B14F-4D97-AF65-F5344CB8AC3E}">
        <p14:creationId xmlns:p14="http://schemas.microsoft.com/office/powerpoint/2010/main" val="1185190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/>
              <a:t>The CPU and logic gates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47775"/>
            <a:ext cx="6055360" cy="5224145"/>
          </a:xfrm>
        </p:spPr>
        <p:txBody>
          <a:bodyPr>
            <a:normAutofit/>
          </a:bodyPr>
          <a:lstStyle/>
          <a:p>
            <a:r>
              <a:rPr lang="en-IE" dirty="0"/>
              <a:t>A CPU is mainly made up of lots of combinations of logic gates, with each type of gate consisting of a particular circuit of transistors. There are billions of transistors in the CPU.</a:t>
            </a:r>
          </a:p>
          <a:p>
            <a:endParaRPr lang="en-IE" dirty="0"/>
          </a:p>
        </p:txBody>
      </p:sp>
      <p:pic>
        <p:nvPicPr>
          <p:cNvPr id="1026" name="Picture 2" descr="Definition of transistor | PCMag">
            <a:extLst>
              <a:ext uri="{FF2B5EF4-FFF2-40B4-BE49-F238E27FC236}">
                <a16:creationId xmlns:a16="http://schemas.microsoft.com/office/drawing/2014/main" id="{A2625AA4-75B9-4EF8-903D-294E3DBB0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390" y="1055686"/>
            <a:ext cx="4824730" cy="551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566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Logic Gates –&gt; </a:t>
            </a:r>
            <a:r>
              <a:rPr lang="en-IE" b="1" dirty="0"/>
              <a:t>and</a:t>
            </a:r>
            <a:r>
              <a:rPr lang="en-IE" dirty="0"/>
              <a:t>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784848"/>
          </a:xfrm>
        </p:spPr>
        <p:txBody>
          <a:bodyPr>
            <a:normAutofit/>
          </a:bodyPr>
          <a:lstStyle/>
          <a:p>
            <a:r>
              <a:rPr lang="en-IE" dirty="0"/>
              <a:t>This is a diagram of an </a:t>
            </a:r>
            <a:r>
              <a:rPr lang="en-IE" b="1" dirty="0"/>
              <a:t>and </a:t>
            </a:r>
            <a:r>
              <a:rPr lang="en-IE" dirty="0"/>
              <a:t>gate, which can be constructed from a few transistors.</a:t>
            </a:r>
          </a:p>
          <a:p>
            <a:r>
              <a:rPr lang="en-IE" dirty="0"/>
              <a:t>An </a:t>
            </a:r>
            <a:r>
              <a:rPr lang="en-IE" b="1" dirty="0"/>
              <a:t>and</a:t>
            </a:r>
            <a:r>
              <a:rPr lang="en-IE" dirty="0"/>
              <a:t> gate, has 2 inputs -&gt; A &amp; B, and one output, Y. </a:t>
            </a:r>
          </a:p>
          <a:p>
            <a:r>
              <a:rPr lang="en-IE" dirty="0"/>
              <a:t>The table is called a truth table. It shows the values of Y (output), for all possible combinations of input values A and B, for an </a:t>
            </a:r>
            <a:r>
              <a:rPr lang="en-IE" b="1" dirty="0"/>
              <a:t>and</a:t>
            </a:r>
            <a:r>
              <a:rPr lang="en-IE" dirty="0"/>
              <a:t> gate.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74F02-61A5-40DB-8409-D5CA18E6C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264" y="1254124"/>
            <a:ext cx="4594803" cy="490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45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Logic Gates –&gt; </a:t>
            </a:r>
            <a:r>
              <a:rPr lang="en-IE" b="1" dirty="0"/>
              <a:t>or</a:t>
            </a:r>
            <a:r>
              <a:rPr lang="en-IE" dirty="0"/>
              <a:t>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784848"/>
          </a:xfrm>
        </p:spPr>
        <p:txBody>
          <a:bodyPr>
            <a:normAutofit/>
          </a:bodyPr>
          <a:lstStyle/>
          <a:p>
            <a:r>
              <a:rPr lang="en-IE" dirty="0"/>
              <a:t>This is a diagram of an </a:t>
            </a:r>
            <a:r>
              <a:rPr lang="en-IE" b="1" dirty="0"/>
              <a:t>or </a:t>
            </a:r>
            <a:r>
              <a:rPr lang="en-IE" dirty="0"/>
              <a:t>gate, </a:t>
            </a:r>
          </a:p>
          <a:p>
            <a:r>
              <a:rPr lang="en-IE" dirty="0"/>
              <a:t>An </a:t>
            </a:r>
            <a:r>
              <a:rPr lang="en-IE" b="1" dirty="0"/>
              <a:t>or</a:t>
            </a:r>
            <a:r>
              <a:rPr lang="en-IE" dirty="0"/>
              <a:t> gate, has 2 inputs -&gt; A &amp; B, and one output, Y. </a:t>
            </a:r>
          </a:p>
          <a:p>
            <a:r>
              <a:rPr lang="en-IE" dirty="0"/>
              <a:t>This is the truth table for an </a:t>
            </a:r>
            <a:r>
              <a:rPr lang="en-IE" b="1" dirty="0"/>
              <a:t>or </a:t>
            </a:r>
            <a:r>
              <a:rPr lang="en-IE" dirty="0"/>
              <a:t>gate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E5FB66-14D5-4F35-96AD-445CBBAE6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297" y="1384299"/>
            <a:ext cx="3248343" cy="448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2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Logic Gates –&gt; </a:t>
            </a:r>
            <a:r>
              <a:rPr lang="en-IE" b="1" dirty="0"/>
              <a:t>not</a:t>
            </a:r>
            <a:r>
              <a:rPr lang="en-IE" dirty="0"/>
              <a:t>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784848"/>
          </a:xfrm>
        </p:spPr>
        <p:txBody>
          <a:bodyPr>
            <a:normAutofit/>
          </a:bodyPr>
          <a:lstStyle/>
          <a:p>
            <a:r>
              <a:rPr lang="en-IE" dirty="0"/>
              <a:t>This is a diagram of a </a:t>
            </a:r>
            <a:r>
              <a:rPr lang="en-IE" b="1" dirty="0"/>
              <a:t>not </a:t>
            </a:r>
            <a:r>
              <a:rPr lang="en-IE" dirty="0"/>
              <a:t>gate, </a:t>
            </a:r>
          </a:p>
          <a:p>
            <a:r>
              <a:rPr lang="en-IE" dirty="0"/>
              <a:t>A </a:t>
            </a:r>
            <a:r>
              <a:rPr lang="en-IE" b="1" dirty="0"/>
              <a:t>not</a:t>
            </a:r>
            <a:r>
              <a:rPr lang="en-IE" dirty="0"/>
              <a:t> gate, has 1 inputs -&gt; A, and one output, Y. </a:t>
            </a:r>
          </a:p>
          <a:p>
            <a:r>
              <a:rPr lang="en-IE" dirty="0"/>
              <a:t>The output is the inverse (opposite) of the input.</a:t>
            </a:r>
          </a:p>
          <a:p>
            <a:r>
              <a:rPr lang="en-IE" dirty="0"/>
              <a:t>If A is 1, the output is 0</a:t>
            </a:r>
          </a:p>
          <a:p>
            <a:r>
              <a:rPr lang="en-IE" dirty="0"/>
              <a:t>This is the truth table for a </a:t>
            </a:r>
            <a:r>
              <a:rPr lang="en-IE" b="1" dirty="0"/>
              <a:t>not </a:t>
            </a:r>
            <a:r>
              <a:rPr lang="en-IE" dirty="0"/>
              <a:t>gate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A7617-8973-46A9-83A8-4C96B2F66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281" y="911297"/>
            <a:ext cx="2657792" cy="1695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05A81E-E2E1-43FB-BDAE-76D152FD8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314" y="2931157"/>
            <a:ext cx="2809858" cy="277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68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Logic Gates –&gt; </a:t>
            </a:r>
            <a:r>
              <a:rPr lang="en-IE" dirty="0" err="1"/>
              <a:t>n</a:t>
            </a:r>
            <a:r>
              <a:rPr lang="en-IE" b="1" dirty="0" err="1"/>
              <a:t>and</a:t>
            </a:r>
            <a:r>
              <a:rPr lang="en-IE" dirty="0"/>
              <a:t>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784848"/>
          </a:xfrm>
        </p:spPr>
        <p:txBody>
          <a:bodyPr>
            <a:normAutofit/>
          </a:bodyPr>
          <a:lstStyle/>
          <a:p>
            <a:r>
              <a:rPr lang="en-IE" dirty="0"/>
              <a:t>This is a diagram of an </a:t>
            </a:r>
            <a:r>
              <a:rPr lang="en-IE" b="1" dirty="0" err="1"/>
              <a:t>nand</a:t>
            </a:r>
            <a:r>
              <a:rPr lang="en-IE" b="1" dirty="0"/>
              <a:t> </a:t>
            </a:r>
            <a:r>
              <a:rPr lang="en-IE" dirty="0"/>
              <a:t>gate,</a:t>
            </a:r>
          </a:p>
          <a:p>
            <a:r>
              <a:rPr lang="en-IE" dirty="0"/>
              <a:t>A </a:t>
            </a:r>
            <a:r>
              <a:rPr lang="en-IE" b="1" dirty="0" err="1"/>
              <a:t>nand</a:t>
            </a:r>
            <a:r>
              <a:rPr lang="en-IE" dirty="0"/>
              <a:t> gate, has 2 inputs -&gt; A &amp; B, and one output, Y. </a:t>
            </a:r>
          </a:p>
          <a:p>
            <a:r>
              <a:rPr lang="en-IE" dirty="0"/>
              <a:t>A </a:t>
            </a:r>
            <a:r>
              <a:rPr lang="en-IE" b="1" dirty="0" err="1"/>
              <a:t>nand</a:t>
            </a:r>
            <a:r>
              <a:rPr lang="en-IE" b="1" dirty="0"/>
              <a:t> </a:t>
            </a:r>
            <a:r>
              <a:rPr lang="en-IE" dirty="0"/>
              <a:t>gate is the same as an </a:t>
            </a:r>
            <a:r>
              <a:rPr lang="en-IE" b="1" dirty="0"/>
              <a:t>and </a:t>
            </a:r>
            <a:r>
              <a:rPr lang="en-IE" dirty="0"/>
              <a:t>gate followed by a </a:t>
            </a:r>
            <a:r>
              <a:rPr lang="en-IE" b="1" dirty="0"/>
              <a:t>not </a:t>
            </a:r>
            <a:r>
              <a:rPr lang="en-IE" dirty="0"/>
              <a:t>gate.</a:t>
            </a:r>
          </a:p>
          <a:p>
            <a:r>
              <a:rPr lang="en-IE" dirty="0"/>
              <a:t>This means the output of a </a:t>
            </a:r>
            <a:r>
              <a:rPr lang="en-IE" b="1" dirty="0" err="1"/>
              <a:t>nand</a:t>
            </a:r>
            <a:r>
              <a:rPr lang="en-IE" b="1" dirty="0"/>
              <a:t> </a:t>
            </a:r>
            <a:r>
              <a:rPr lang="en-IE" dirty="0"/>
              <a:t>gate</a:t>
            </a:r>
            <a:r>
              <a:rPr lang="en-IE" b="1" dirty="0"/>
              <a:t> </a:t>
            </a:r>
            <a:r>
              <a:rPr lang="en-IE" dirty="0"/>
              <a:t>is the opposite of the output of an </a:t>
            </a:r>
            <a:r>
              <a:rPr lang="en-IE" b="1" dirty="0"/>
              <a:t>and </a:t>
            </a:r>
            <a:r>
              <a:rPr lang="en-IE" dirty="0"/>
              <a:t>gate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39E73F-1449-4492-9A58-FFE6C5BE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222" y="1272538"/>
            <a:ext cx="2934018" cy="445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2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Logic Gates –&gt; </a:t>
            </a:r>
            <a:r>
              <a:rPr lang="en-IE" b="1" dirty="0"/>
              <a:t>nor</a:t>
            </a:r>
            <a:r>
              <a:rPr lang="en-IE" dirty="0"/>
              <a:t>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784848"/>
          </a:xfrm>
        </p:spPr>
        <p:txBody>
          <a:bodyPr>
            <a:normAutofit/>
          </a:bodyPr>
          <a:lstStyle/>
          <a:p>
            <a:r>
              <a:rPr lang="en-IE" dirty="0"/>
              <a:t>This is a diagram of an </a:t>
            </a:r>
            <a:r>
              <a:rPr lang="en-IE" b="1" dirty="0"/>
              <a:t>nor </a:t>
            </a:r>
            <a:r>
              <a:rPr lang="en-IE" dirty="0"/>
              <a:t>gate,</a:t>
            </a:r>
          </a:p>
          <a:p>
            <a:r>
              <a:rPr lang="en-IE" dirty="0"/>
              <a:t>A </a:t>
            </a:r>
            <a:r>
              <a:rPr lang="en-IE" b="1" dirty="0"/>
              <a:t>nor</a:t>
            </a:r>
            <a:r>
              <a:rPr lang="en-IE" dirty="0"/>
              <a:t> gate, has 2 inputs -&gt; A &amp; B, and one output, Y. </a:t>
            </a:r>
          </a:p>
          <a:p>
            <a:r>
              <a:rPr lang="en-IE" dirty="0"/>
              <a:t>A </a:t>
            </a:r>
            <a:r>
              <a:rPr lang="en-IE" b="1" dirty="0"/>
              <a:t>nor </a:t>
            </a:r>
            <a:r>
              <a:rPr lang="en-IE" dirty="0"/>
              <a:t>gate is the same as an </a:t>
            </a:r>
            <a:r>
              <a:rPr lang="en-IE" b="1" dirty="0"/>
              <a:t>or </a:t>
            </a:r>
            <a:r>
              <a:rPr lang="en-IE" dirty="0"/>
              <a:t>gate followed by a </a:t>
            </a:r>
            <a:r>
              <a:rPr lang="en-IE" b="1" dirty="0"/>
              <a:t>not </a:t>
            </a:r>
            <a:r>
              <a:rPr lang="en-IE" dirty="0"/>
              <a:t>gate.</a:t>
            </a:r>
          </a:p>
          <a:p>
            <a:r>
              <a:rPr lang="en-IE" dirty="0"/>
              <a:t>This means the output of a </a:t>
            </a:r>
            <a:r>
              <a:rPr lang="en-IE" b="1" dirty="0"/>
              <a:t>nor </a:t>
            </a:r>
            <a:r>
              <a:rPr lang="en-IE" dirty="0"/>
              <a:t>gate</a:t>
            </a:r>
            <a:r>
              <a:rPr lang="en-IE" b="1" dirty="0"/>
              <a:t> </a:t>
            </a:r>
            <a:r>
              <a:rPr lang="en-IE" dirty="0"/>
              <a:t>is the opposite of the output of an </a:t>
            </a:r>
            <a:r>
              <a:rPr lang="en-IE" b="1" dirty="0"/>
              <a:t>or </a:t>
            </a:r>
            <a:r>
              <a:rPr lang="en-IE" dirty="0"/>
              <a:t>gate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29301-92DE-4310-BBD3-998876A06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044" y="1263967"/>
            <a:ext cx="3317875" cy="464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58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Combining Logic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784848"/>
          </a:xfrm>
        </p:spPr>
        <p:txBody>
          <a:bodyPr>
            <a:normAutofit/>
          </a:bodyPr>
          <a:lstStyle/>
          <a:p>
            <a:r>
              <a:rPr lang="en-IE" dirty="0"/>
              <a:t>Logic gates can be combined to make logic circuits.</a:t>
            </a:r>
          </a:p>
          <a:p>
            <a:r>
              <a:rPr lang="en-IE" dirty="0"/>
              <a:t>The logic circuit in this diagram shows the output Q from a </a:t>
            </a:r>
            <a:r>
              <a:rPr lang="en-IE" b="1" dirty="0"/>
              <a:t>not </a:t>
            </a:r>
            <a:r>
              <a:rPr lang="en-IE" dirty="0"/>
              <a:t>gate being used as one of the inputs to an </a:t>
            </a:r>
            <a:r>
              <a:rPr lang="en-IE" b="1" dirty="0"/>
              <a:t>and </a:t>
            </a:r>
            <a:r>
              <a:rPr lang="en-IE" dirty="0"/>
              <a:t>gate.</a:t>
            </a:r>
          </a:p>
          <a:p>
            <a:r>
              <a:rPr lang="en-IE" dirty="0"/>
              <a:t>This can be written as a Boolean expression :</a:t>
            </a:r>
          </a:p>
          <a:p>
            <a:r>
              <a:rPr lang="en-IE" dirty="0"/>
              <a:t>P = (not A) and 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6303E-9ED5-43C5-B0F9-6BB42A7F8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177607"/>
            <a:ext cx="487680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94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Combining Logic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587996"/>
          </a:xfrm>
        </p:spPr>
        <p:txBody>
          <a:bodyPr>
            <a:normAutofit/>
          </a:bodyPr>
          <a:lstStyle/>
          <a:p>
            <a:r>
              <a:rPr lang="en-IE" dirty="0"/>
              <a:t>Calculate the output P, for any combinations of A and B, using a Truth Table</a:t>
            </a:r>
          </a:p>
          <a:p>
            <a:r>
              <a:rPr lang="en-IE" dirty="0"/>
              <a:t>Step 1:Start with a blank Truth Table and include an intermediate output Q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9B4D6-B1B3-4138-A993-79D877BAC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25" y="1085320"/>
            <a:ext cx="5232400" cy="23436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028413-E593-44CC-B87A-24046793D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650" y="4145280"/>
            <a:ext cx="5598950" cy="218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4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Combining Logic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587996"/>
          </a:xfrm>
        </p:spPr>
        <p:txBody>
          <a:bodyPr>
            <a:normAutofit/>
          </a:bodyPr>
          <a:lstStyle/>
          <a:p>
            <a:r>
              <a:rPr lang="en-IE" dirty="0"/>
              <a:t>Step 2: Enter all the possible combinations of inputs A and B into the truth table</a:t>
            </a:r>
          </a:p>
          <a:p>
            <a:endParaRPr lang="en-IE" dirty="0"/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9B4D6-B1B3-4138-A993-79D877BAC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25" y="1085320"/>
            <a:ext cx="5232400" cy="23436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09B505-5287-4AE0-8923-C27F328CD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925" y="4033152"/>
            <a:ext cx="5598950" cy="222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2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Combining Logic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587996"/>
          </a:xfrm>
        </p:spPr>
        <p:txBody>
          <a:bodyPr>
            <a:normAutofit/>
          </a:bodyPr>
          <a:lstStyle/>
          <a:p>
            <a:r>
              <a:rPr lang="en-IE" dirty="0"/>
              <a:t>Step 3: Work out the intermediate output Q for each combination of input A to the NOT gate</a:t>
            </a:r>
          </a:p>
          <a:p>
            <a:endParaRPr lang="en-IE" dirty="0"/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9B4D6-B1B3-4138-A993-79D877BAC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25" y="1085320"/>
            <a:ext cx="5232400" cy="23436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CD4330-4D05-41AC-A22C-8B01AA7DD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410" y="4013771"/>
            <a:ext cx="5598950" cy="231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2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Combining Logic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5984240" cy="5587996"/>
          </a:xfrm>
        </p:spPr>
        <p:txBody>
          <a:bodyPr>
            <a:normAutofit/>
          </a:bodyPr>
          <a:lstStyle/>
          <a:p>
            <a:r>
              <a:rPr lang="en-IE" dirty="0"/>
              <a:t>Step 4: Use the input value B and Q, calculate the values of P.    </a:t>
            </a:r>
          </a:p>
          <a:p>
            <a:r>
              <a:rPr lang="en-IE" dirty="0"/>
              <a:t>P = B AND Q</a:t>
            </a:r>
          </a:p>
          <a:p>
            <a:endParaRPr lang="en-IE" dirty="0"/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9B4D6-B1B3-4138-A993-79D877BAC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25" y="1085320"/>
            <a:ext cx="5232400" cy="2343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6DA3A3-CE90-4517-9511-CF32D1752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28" y="3867150"/>
            <a:ext cx="5373793" cy="219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6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IE" dirty="0"/>
              <a:t>Logic Diagrams based on Boolean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10820400" cy="5587996"/>
          </a:xfrm>
        </p:spPr>
        <p:txBody>
          <a:bodyPr>
            <a:normAutofit/>
          </a:bodyPr>
          <a:lstStyle/>
          <a:p>
            <a:r>
              <a:rPr lang="en-IE" dirty="0"/>
              <a:t>Logic diagrams can be drawn based on Boolean expressions.</a:t>
            </a:r>
          </a:p>
          <a:p>
            <a:r>
              <a:rPr lang="en-IE" dirty="0"/>
              <a:t>Let’s draw :</a:t>
            </a:r>
          </a:p>
          <a:p>
            <a:pPr marL="0" indent="0">
              <a:buNone/>
            </a:pPr>
            <a:r>
              <a:rPr lang="en-IE" dirty="0"/>
              <a:t>Y = (A and B) or not C</a:t>
            </a:r>
          </a:p>
          <a:p>
            <a:pPr marL="0" indent="0">
              <a:buNone/>
            </a:pPr>
            <a:r>
              <a:rPr lang="en-IE" dirty="0"/>
              <a:t>Step 1: Working backwards from the output Y, we know that Y results from a combination of 2 inputs to an </a:t>
            </a:r>
            <a:r>
              <a:rPr lang="en-IE" b="1" dirty="0"/>
              <a:t>or </a:t>
            </a:r>
            <a:r>
              <a:rPr lang="en-IE" dirty="0"/>
              <a:t>gate.</a:t>
            </a:r>
          </a:p>
          <a:p>
            <a:pPr marL="0" indent="0">
              <a:buNone/>
            </a:pPr>
            <a:r>
              <a:rPr lang="en-IE" dirty="0"/>
              <a:t>Draw an </a:t>
            </a:r>
            <a:r>
              <a:rPr lang="en-IE" b="1" dirty="0"/>
              <a:t>or </a:t>
            </a:r>
            <a:r>
              <a:rPr lang="en-IE" dirty="0"/>
              <a:t>gate with output Y and 2 intermediate inputs P and Q. Leave room on the Lefthand side for other gates.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00406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IE" dirty="0"/>
              <a:t>Logic Diagrams based on Boolean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10820400" cy="5587996"/>
          </a:xfrm>
        </p:spPr>
        <p:txBody>
          <a:bodyPr>
            <a:normAutofit/>
          </a:bodyPr>
          <a:lstStyle/>
          <a:p>
            <a:r>
              <a:rPr lang="en-IE" dirty="0"/>
              <a:t>Logic diagrams can be drawn based on Boolean expressions.</a:t>
            </a:r>
          </a:p>
          <a:p>
            <a:r>
              <a:rPr lang="en-IE" dirty="0"/>
              <a:t>Let’s draw :</a:t>
            </a:r>
          </a:p>
          <a:p>
            <a:pPr marL="0" indent="0">
              <a:buNone/>
            </a:pPr>
            <a:r>
              <a:rPr lang="en-IE" dirty="0"/>
              <a:t>Y = (A and B) or not C</a:t>
            </a:r>
          </a:p>
          <a:p>
            <a:pPr marL="0" indent="0">
              <a:buNone/>
            </a:pPr>
            <a:r>
              <a:rPr lang="en-IE" dirty="0"/>
              <a:t>Step 1 : 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B1A78-2023-4C45-9B9C-DC40B7DE9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360" y="3867150"/>
            <a:ext cx="3315017" cy="210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374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IE" dirty="0"/>
              <a:t>Logic Diagrams based on Boolean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152"/>
            <a:ext cx="10820400" cy="5587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Y = (A and B) or not C</a:t>
            </a:r>
          </a:p>
          <a:p>
            <a:pPr marL="0" indent="0">
              <a:buNone/>
            </a:pPr>
            <a:r>
              <a:rPr lang="en-IE" dirty="0"/>
              <a:t>Step 2: Assuming that P is the output (A and B), draw an </a:t>
            </a:r>
            <a:r>
              <a:rPr lang="en-IE" b="1" dirty="0"/>
              <a:t>and </a:t>
            </a:r>
            <a:r>
              <a:rPr lang="en-IE" dirty="0"/>
              <a:t>gate with inputs A and B and output P.</a:t>
            </a:r>
          </a:p>
          <a:p>
            <a:pPr marL="0" indent="0">
              <a:buNone/>
            </a:pPr>
            <a:r>
              <a:rPr lang="en-IE" dirty="0"/>
              <a:t>Assuming that Q is the output of (</a:t>
            </a:r>
            <a:r>
              <a:rPr lang="en-IE" b="1" dirty="0"/>
              <a:t>not </a:t>
            </a:r>
            <a:r>
              <a:rPr lang="en-IE" dirty="0"/>
              <a:t>C), draw a </a:t>
            </a:r>
            <a:r>
              <a:rPr lang="en-IE" b="1" dirty="0"/>
              <a:t>not</a:t>
            </a:r>
            <a:r>
              <a:rPr lang="en-IE" dirty="0"/>
              <a:t> gate with input C and output Q.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95854-F4EC-43C3-9B6A-7DD05CB30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109" y="3629977"/>
            <a:ext cx="5093773" cy="290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234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IE" dirty="0"/>
              <a:t>Logic Diagrams based on Boolean expressions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44157B-1EE1-409C-B92E-17F54BFF5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91" y="1432560"/>
            <a:ext cx="11128664" cy="362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21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IE" dirty="0"/>
              <a:t>Logic Diagrams based on Boolean expressions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16A82-94DD-49EC-BE78-FB40AFA10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253" y="0"/>
            <a:ext cx="8821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9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IE" dirty="0"/>
              <a:t>Logic Diagrams based on Boolean expressions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C741DF-5D7A-4868-B16D-1B6B3E40A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0" y="1215389"/>
            <a:ext cx="8082280" cy="471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291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852"/>
            <a:ext cx="10668000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IE" dirty="0"/>
              <a:t>Logic Diagrams based on Boolean expressions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A51B6-235A-4CB3-B4F5-6C540F266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65" y="939802"/>
            <a:ext cx="668655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777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A37A-1DBC-4328-9B11-357A23DE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3350"/>
            <a:ext cx="10668000" cy="742950"/>
          </a:xfrm>
        </p:spPr>
        <p:txBody>
          <a:bodyPr>
            <a:normAutofit/>
          </a:bodyPr>
          <a:lstStyle/>
          <a:p>
            <a:pPr algn="ctr"/>
            <a:r>
              <a:rPr lang="en-IE" dirty="0"/>
              <a:t>Logic Gates / Truth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C12-9AA9-41A0-B937-5A66597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47775"/>
            <a:ext cx="10668000" cy="3818083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Logic Gates and truth table introduction</a:t>
            </a:r>
            <a:endParaRPr lang="en-US" dirty="0"/>
          </a:p>
          <a:p>
            <a:r>
              <a:rPr lang="en-US" dirty="0">
                <a:hlinkClick r:id="rId3"/>
              </a:rPr>
              <a:t>Making your own 4 bit computer from transistors</a:t>
            </a: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17589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bbleVTI">
  <a:themeElements>
    <a:clrScheme name="AnalogousFromRegularSeedRightStep">
      <a:dk1>
        <a:srgbClr val="000000"/>
      </a:dk1>
      <a:lt1>
        <a:srgbClr val="FFFFFF"/>
      </a:lt1>
      <a:dk2>
        <a:srgbClr val="2B301B"/>
      </a:dk2>
      <a:lt2>
        <a:srgbClr val="F3F0F3"/>
      </a:lt2>
      <a:accent1>
        <a:srgbClr val="48B75D"/>
      </a:accent1>
      <a:accent2>
        <a:srgbClr val="3BB183"/>
      </a:accent2>
      <a:accent3>
        <a:srgbClr val="45AFB1"/>
      </a:accent3>
      <a:accent4>
        <a:srgbClr val="3B7DB1"/>
      </a:accent4>
      <a:accent5>
        <a:srgbClr val="4D5EC3"/>
      </a:accent5>
      <a:accent6>
        <a:srgbClr val="6648B6"/>
      </a:accent6>
      <a:hlink>
        <a:srgbClr val="BF3FA7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59C47FF1BBBD41944C27E755792B60" ma:contentTypeVersion="13" ma:contentTypeDescription="Create a new document." ma:contentTypeScope="" ma:versionID="10712fcb74858acd939241f8f14c3c2a">
  <xsd:schema xmlns:xsd="http://www.w3.org/2001/XMLSchema" xmlns:xs="http://www.w3.org/2001/XMLSchema" xmlns:p="http://schemas.microsoft.com/office/2006/metadata/properties" xmlns:ns1="http://schemas.microsoft.com/sharepoint/v3" xmlns:ns2="2a24f1cd-5e3a-428d-a962-0c0266cdec1f" xmlns:ns3="2522d011-583a-4cec-893b-a3e4ebe7a880" targetNamespace="http://schemas.microsoft.com/office/2006/metadata/properties" ma:root="true" ma:fieldsID="762bbfe59eafa4ea92fb4b763fa075a5" ns1:_="" ns2:_="" ns3:_="">
    <xsd:import namespace="http://schemas.microsoft.com/sharepoint/v3"/>
    <xsd:import namespace="2a24f1cd-5e3a-428d-a962-0c0266cdec1f"/>
    <xsd:import namespace="2522d011-583a-4cec-893b-a3e4ebe7a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4f1cd-5e3a-428d-a962-0c0266cde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12559f9-f71b-4af0-bfaa-ab2f6ccdd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2d011-583a-4cec-893b-a3e4ebe7a88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8a40212-ea4a-4620-9c44-1250f1e428a8}" ma:internalName="TaxCatchAll" ma:showField="CatchAllData" ma:web="2522d011-583a-4cec-893b-a3e4ebe7a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2a24f1cd-5e3a-428d-a962-0c0266cdec1f">
      <Terms xmlns="http://schemas.microsoft.com/office/infopath/2007/PartnerControls"/>
    </lcf76f155ced4ddcb4097134ff3c332f>
    <_ip_UnifiedCompliancePolicyProperties xmlns="http://schemas.microsoft.com/sharepoint/v3" xsi:nil="true"/>
    <TaxCatchAll xmlns="2522d011-583a-4cec-893b-a3e4ebe7a880" xsi:nil="true"/>
  </documentManagement>
</p:properties>
</file>

<file path=customXml/itemProps1.xml><?xml version="1.0" encoding="utf-8"?>
<ds:datastoreItem xmlns:ds="http://schemas.openxmlformats.org/officeDocument/2006/customXml" ds:itemID="{D25FF713-397E-4931-8486-658CBC1F3846}"/>
</file>

<file path=customXml/itemProps2.xml><?xml version="1.0" encoding="utf-8"?>
<ds:datastoreItem xmlns:ds="http://schemas.openxmlformats.org/officeDocument/2006/customXml" ds:itemID="{FC03A90E-5E64-4638-A226-A5FB72AE618E}"/>
</file>

<file path=customXml/itemProps3.xml><?xml version="1.0" encoding="utf-8"?>
<ds:datastoreItem xmlns:ds="http://schemas.openxmlformats.org/officeDocument/2006/customXml" ds:itemID="{70DE99EB-A22F-4136-AAA0-93380A76D62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1806</Words>
  <Application>Microsoft Office PowerPoint</Application>
  <PresentationFormat>Widescreen</PresentationFormat>
  <Paragraphs>141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Avenir Next LT Pro</vt:lpstr>
      <vt:lpstr>Avenir Next LT Pro Light</vt:lpstr>
      <vt:lpstr>Calibri</vt:lpstr>
      <vt:lpstr>Calibri Light</vt:lpstr>
      <vt:lpstr>Open Sans</vt:lpstr>
      <vt:lpstr>Sitka Subheading</vt:lpstr>
      <vt:lpstr>office theme</vt:lpstr>
      <vt:lpstr>PebbleVTI</vt:lpstr>
      <vt:lpstr>Electronic Components and Logic Gates</vt:lpstr>
      <vt:lpstr>Binary Code and electrical signals</vt:lpstr>
      <vt:lpstr>Binary Code and electrical signals</vt:lpstr>
      <vt:lpstr>Binary Code and electrical signals</vt:lpstr>
      <vt:lpstr>Binary Code and electrical signals</vt:lpstr>
      <vt:lpstr>Analogue and Digital input/output on Microbits</vt:lpstr>
      <vt:lpstr>Electricity and electrons</vt:lpstr>
      <vt:lpstr>Electric Current</vt:lpstr>
      <vt:lpstr>Voltage</vt:lpstr>
      <vt:lpstr>PowerPoint Presentation</vt:lpstr>
      <vt:lpstr>Resistance</vt:lpstr>
      <vt:lpstr>Basic electronic devices - Resistor</vt:lpstr>
      <vt:lpstr>Basic electronic devices - Resistor</vt:lpstr>
      <vt:lpstr>Basic electronic devices - Transistor</vt:lpstr>
      <vt:lpstr>Basic electronic devices - Capacitor</vt:lpstr>
      <vt:lpstr>Basic electronic devices - Capacitor</vt:lpstr>
      <vt:lpstr>Basic electronic devices - Capacitor</vt:lpstr>
      <vt:lpstr>The CPU and logic gates</vt:lpstr>
      <vt:lpstr>The CPU and logic gates</vt:lpstr>
      <vt:lpstr>The CPU and logic gates</vt:lpstr>
      <vt:lpstr>Logic Gates –&gt; and gate</vt:lpstr>
      <vt:lpstr>Logic Gates –&gt; or gate</vt:lpstr>
      <vt:lpstr>Logic Gates –&gt; not gate</vt:lpstr>
      <vt:lpstr>Logic Gates –&gt; nand gate</vt:lpstr>
      <vt:lpstr>Logic Gates –&gt; nor gate</vt:lpstr>
      <vt:lpstr>Combining Logic Gates</vt:lpstr>
      <vt:lpstr>Combining Logic Gates</vt:lpstr>
      <vt:lpstr>Combining Logic Gates</vt:lpstr>
      <vt:lpstr>Combining Logic Gates</vt:lpstr>
      <vt:lpstr>Combining Logic Gates</vt:lpstr>
      <vt:lpstr>Logic Diagrams based on Boolean expressions</vt:lpstr>
      <vt:lpstr>Logic Diagrams based on Boolean expressions</vt:lpstr>
      <vt:lpstr>Logic Diagrams based on Boolean expressions</vt:lpstr>
      <vt:lpstr>Logic Diagrams based on Boolean expressions</vt:lpstr>
      <vt:lpstr>Logic Diagrams based on Boolean expressions</vt:lpstr>
      <vt:lpstr>Logic Diagrams based on Boolean expressions</vt:lpstr>
      <vt:lpstr>Logic Diagrams based on Boolean expressions</vt:lpstr>
      <vt:lpstr>Logic Gates / Truth 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Pauline Smyth</dc:creator>
  <cp:lastModifiedBy>Pauline Smyth</cp:lastModifiedBy>
  <cp:revision>8</cp:revision>
  <dcterms:created xsi:type="dcterms:W3CDTF">2023-11-06T16:06:07Z</dcterms:created>
  <dcterms:modified xsi:type="dcterms:W3CDTF">2023-11-06T16:13:15Z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0x0101008D59C47FF1BBBD41944C27E755792B60</vt:lpwstr>
  </property>
</Properties>
</file>