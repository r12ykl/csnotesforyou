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82" r:id="rId4"/>
    <p:sldId id="283" r:id="rId5"/>
    <p:sldId id="284" r:id="rId6"/>
    <p:sldId id="285" r:id="rId7"/>
    <p:sldId id="286" r:id="rId8"/>
    <p:sldId id="288" r:id="rId9"/>
    <p:sldId id="287" r:id="rId10"/>
    <p:sldId id="289" r:id="rId11"/>
    <p:sldId id="290" r:id="rId12"/>
    <p:sldId id="291" r:id="rId13"/>
    <p:sldId id="292" r:id="rId14"/>
    <p:sldId id="293" r:id="rId15"/>
    <p:sldId id="294" r:id="rId16"/>
    <p:sldId id="295" r:id="rId17"/>
    <p:sldId id="296" r:id="rId18"/>
    <p:sldId id="297" r:id="rId19"/>
    <p:sldId id="298" r:id="rId20"/>
    <p:sldId id="299" r:id="rId21"/>
    <p:sldId id="300" r:id="rId22"/>
    <p:sldId id="302" r:id="rId23"/>
    <p:sldId id="304" r:id="rId24"/>
    <p:sldId id="301" r:id="rId25"/>
    <p:sldId id="303" r:id="rId26"/>
    <p:sldId id="308" r:id="rId27"/>
    <p:sldId id="306" r:id="rId28"/>
    <p:sldId id="305" r:id="rId29"/>
    <p:sldId id="309" r:id="rId30"/>
    <p:sldId id="307" r:id="rId31"/>
    <p:sldId id="310" r:id="rId32"/>
    <p:sldId id="311" r:id="rId33"/>
    <p:sldId id="312" r:id="rId34"/>
    <p:sldId id="313" r:id="rId35"/>
    <p:sldId id="314" r:id="rId36"/>
    <p:sldId id="315" r:id="rId37"/>
    <p:sldId id="316" r:id="rId38"/>
    <p:sldId id="317" r:id="rId39"/>
    <p:sldId id="318" r:id="rId40"/>
    <p:sldId id="319" r:id="rId41"/>
    <p:sldId id="320" r:id="rId42"/>
    <p:sldId id="321" r:id="rId43"/>
    <p:sldId id="322" r:id="rId44"/>
    <p:sldId id="323" r:id="rId45"/>
    <p:sldId id="324" r:id="rId46"/>
    <p:sldId id="325" r:id="rId47"/>
    <p:sldId id="326" r:id="rId48"/>
    <p:sldId id="328" r:id="rId49"/>
    <p:sldId id="327" r:id="rId50"/>
    <p:sldId id="330" r:id="rId51"/>
    <p:sldId id="331" r:id="rId52"/>
    <p:sldId id="339" r:id="rId53"/>
    <p:sldId id="332" r:id="rId54"/>
    <p:sldId id="335" r:id="rId55"/>
    <p:sldId id="334" r:id="rId56"/>
    <p:sldId id="336" r:id="rId57"/>
    <p:sldId id="337" r:id="rId58"/>
    <p:sldId id="338" r:id="rId59"/>
    <p:sldId id="329"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customXml" Target="../customXml/item2.xml"/><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customXml" Target="../customXml/item3.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customXml" Target="../customXml/item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A34CE-6FCF-4BDA-8880-7CAF97EC03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B08AC475-5AF6-42D0-8E8E-264149DD17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7B8E2CAF-05EF-4620-9B61-C88704A4871B}"/>
              </a:ext>
            </a:extLst>
          </p:cNvPr>
          <p:cNvSpPr>
            <a:spLocks noGrp="1"/>
          </p:cNvSpPr>
          <p:nvPr>
            <p:ph type="dt" sz="half" idx="10"/>
          </p:nvPr>
        </p:nvSpPr>
        <p:spPr/>
        <p:txBody>
          <a:bodyPr/>
          <a:lstStyle/>
          <a:p>
            <a:fld id="{35A55F5C-F6E6-465B-B8C0-1C4EF7ED15E6}" type="datetimeFigureOut">
              <a:rPr lang="en-IE" smtClean="0"/>
              <a:t>22/09/2022</a:t>
            </a:fld>
            <a:endParaRPr lang="en-IE"/>
          </a:p>
        </p:txBody>
      </p:sp>
      <p:sp>
        <p:nvSpPr>
          <p:cNvPr id="5" name="Footer Placeholder 4">
            <a:extLst>
              <a:ext uri="{FF2B5EF4-FFF2-40B4-BE49-F238E27FC236}">
                <a16:creationId xmlns:a16="http://schemas.microsoft.com/office/drawing/2014/main" id="{0CB09F28-7309-46CC-AFDD-4D4AE56868FB}"/>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8CF5F7F0-4B23-4DFA-811E-ED7CAC967246}"/>
              </a:ext>
            </a:extLst>
          </p:cNvPr>
          <p:cNvSpPr>
            <a:spLocks noGrp="1"/>
          </p:cNvSpPr>
          <p:nvPr>
            <p:ph type="sldNum" sz="quarter" idx="12"/>
          </p:nvPr>
        </p:nvSpPr>
        <p:spPr/>
        <p:txBody>
          <a:bodyPr/>
          <a:lstStyle/>
          <a:p>
            <a:fld id="{67CB6112-415D-43E2-98B7-128A698645E9}" type="slidenum">
              <a:rPr lang="en-IE" smtClean="0"/>
              <a:t>‹#›</a:t>
            </a:fld>
            <a:endParaRPr lang="en-IE"/>
          </a:p>
        </p:txBody>
      </p:sp>
    </p:spTree>
    <p:extLst>
      <p:ext uri="{BB962C8B-B14F-4D97-AF65-F5344CB8AC3E}">
        <p14:creationId xmlns:p14="http://schemas.microsoft.com/office/powerpoint/2010/main" val="1464784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7F1AC-9AD0-4DC6-B276-F7A21400781B}"/>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68CF951F-8331-4931-A05E-2047AAE218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ACE24221-03B4-4D77-9B0F-771D5E1D2E32}"/>
              </a:ext>
            </a:extLst>
          </p:cNvPr>
          <p:cNvSpPr>
            <a:spLocks noGrp="1"/>
          </p:cNvSpPr>
          <p:nvPr>
            <p:ph type="dt" sz="half" idx="10"/>
          </p:nvPr>
        </p:nvSpPr>
        <p:spPr/>
        <p:txBody>
          <a:bodyPr/>
          <a:lstStyle/>
          <a:p>
            <a:fld id="{35A55F5C-F6E6-465B-B8C0-1C4EF7ED15E6}" type="datetimeFigureOut">
              <a:rPr lang="en-IE" smtClean="0"/>
              <a:t>22/09/2022</a:t>
            </a:fld>
            <a:endParaRPr lang="en-IE"/>
          </a:p>
        </p:txBody>
      </p:sp>
      <p:sp>
        <p:nvSpPr>
          <p:cNvPr id="5" name="Footer Placeholder 4">
            <a:extLst>
              <a:ext uri="{FF2B5EF4-FFF2-40B4-BE49-F238E27FC236}">
                <a16:creationId xmlns:a16="http://schemas.microsoft.com/office/drawing/2014/main" id="{329446FD-069E-4738-BC98-C6A018855715}"/>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323ECEC9-F881-4DD5-89AE-421ECB44A1E1}"/>
              </a:ext>
            </a:extLst>
          </p:cNvPr>
          <p:cNvSpPr>
            <a:spLocks noGrp="1"/>
          </p:cNvSpPr>
          <p:nvPr>
            <p:ph type="sldNum" sz="quarter" idx="12"/>
          </p:nvPr>
        </p:nvSpPr>
        <p:spPr/>
        <p:txBody>
          <a:bodyPr/>
          <a:lstStyle/>
          <a:p>
            <a:fld id="{67CB6112-415D-43E2-98B7-128A698645E9}" type="slidenum">
              <a:rPr lang="en-IE" smtClean="0"/>
              <a:t>‹#›</a:t>
            </a:fld>
            <a:endParaRPr lang="en-IE"/>
          </a:p>
        </p:txBody>
      </p:sp>
    </p:spTree>
    <p:extLst>
      <p:ext uri="{BB962C8B-B14F-4D97-AF65-F5344CB8AC3E}">
        <p14:creationId xmlns:p14="http://schemas.microsoft.com/office/powerpoint/2010/main" val="1531266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5A9F8-F5A2-448B-B2C9-E75C9476AF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C559B887-BD34-453D-AFF8-F167EF89C5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504786-2297-45DF-A8F3-A23C0236E460}"/>
              </a:ext>
            </a:extLst>
          </p:cNvPr>
          <p:cNvSpPr>
            <a:spLocks noGrp="1"/>
          </p:cNvSpPr>
          <p:nvPr>
            <p:ph type="dt" sz="half" idx="10"/>
          </p:nvPr>
        </p:nvSpPr>
        <p:spPr/>
        <p:txBody>
          <a:bodyPr/>
          <a:lstStyle/>
          <a:p>
            <a:fld id="{35A55F5C-F6E6-465B-B8C0-1C4EF7ED15E6}" type="datetimeFigureOut">
              <a:rPr lang="en-IE" smtClean="0"/>
              <a:t>22/09/2022</a:t>
            </a:fld>
            <a:endParaRPr lang="en-IE"/>
          </a:p>
        </p:txBody>
      </p:sp>
      <p:sp>
        <p:nvSpPr>
          <p:cNvPr id="5" name="Footer Placeholder 4">
            <a:extLst>
              <a:ext uri="{FF2B5EF4-FFF2-40B4-BE49-F238E27FC236}">
                <a16:creationId xmlns:a16="http://schemas.microsoft.com/office/drawing/2014/main" id="{D541F7A1-6EAA-41C2-8A10-6BF6E5897A09}"/>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9D35D4F2-B256-45A2-AE90-E5F59E0B18ED}"/>
              </a:ext>
            </a:extLst>
          </p:cNvPr>
          <p:cNvSpPr>
            <a:spLocks noGrp="1"/>
          </p:cNvSpPr>
          <p:nvPr>
            <p:ph type="sldNum" sz="quarter" idx="12"/>
          </p:nvPr>
        </p:nvSpPr>
        <p:spPr/>
        <p:txBody>
          <a:bodyPr/>
          <a:lstStyle/>
          <a:p>
            <a:fld id="{67CB6112-415D-43E2-98B7-128A698645E9}" type="slidenum">
              <a:rPr lang="en-IE" smtClean="0"/>
              <a:t>‹#›</a:t>
            </a:fld>
            <a:endParaRPr lang="en-IE"/>
          </a:p>
        </p:txBody>
      </p:sp>
    </p:spTree>
    <p:extLst>
      <p:ext uri="{BB962C8B-B14F-4D97-AF65-F5344CB8AC3E}">
        <p14:creationId xmlns:p14="http://schemas.microsoft.com/office/powerpoint/2010/main" val="314781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BDA29-58F9-425E-A1AD-919445A4C99E}"/>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71914135-898E-44E7-A256-A7DFBD5E9C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D73527A0-C6F0-489C-9BF6-C2877B7B7F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DEFC9FB5-5C82-4B16-B8BB-165D609B8677}"/>
              </a:ext>
            </a:extLst>
          </p:cNvPr>
          <p:cNvSpPr>
            <a:spLocks noGrp="1"/>
          </p:cNvSpPr>
          <p:nvPr>
            <p:ph type="dt" sz="half" idx="10"/>
          </p:nvPr>
        </p:nvSpPr>
        <p:spPr/>
        <p:txBody>
          <a:bodyPr/>
          <a:lstStyle/>
          <a:p>
            <a:fld id="{35A55F5C-F6E6-465B-B8C0-1C4EF7ED15E6}" type="datetimeFigureOut">
              <a:rPr lang="en-IE" smtClean="0"/>
              <a:t>22/09/2022</a:t>
            </a:fld>
            <a:endParaRPr lang="en-IE"/>
          </a:p>
        </p:txBody>
      </p:sp>
      <p:sp>
        <p:nvSpPr>
          <p:cNvPr id="6" name="Footer Placeholder 5">
            <a:extLst>
              <a:ext uri="{FF2B5EF4-FFF2-40B4-BE49-F238E27FC236}">
                <a16:creationId xmlns:a16="http://schemas.microsoft.com/office/drawing/2014/main" id="{6AD4AC8F-F40F-4319-AE25-4906DB09BBE3}"/>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9CDB93A7-05A9-4AEC-89A7-71B33110DCD3}"/>
              </a:ext>
            </a:extLst>
          </p:cNvPr>
          <p:cNvSpPr>
            <a:spLocks noGrp="1"/>
          </p:cNvSpPr>
          <p:nvPr>
            <p:ph type="sldNum" sz="quarter" idx="12"/>
          </p:nvPr>
        </p:nvSpPr>
        <p:spPr/>
        <p:txBody>
          <a:bodyPr/>
          <a:lstStyle/>
          <a:p>
            <a:fld id="{67CB6112-415D-43E2-98B7-128A698645E9}" type="slidenum">
              <a:rPr lang="en-IE" smtClean="0"/>
              <a:t>‹#›</a:t>
            </a:fld>
            <a:endParaRPr lang="en-IE"/>
          </a:p>
        </p:txBody>
      </p:sp>
    </p:spTree>
    <p:extLst>
      <p:ext uri="{BB962C8B-B14F-4D97-AF65-F5344CB8AC3E}">
        <p14:creationId xmlns:p14="http://schemas.microsoft.com/office/powerpoint/2010/main" val="1760582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A0B75-48B3-430D-9ECA-48B6286EB408}"/>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E9E208C1-D0ED-4A9E-ADE5-DB8A9A6FD0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02B3B0-B5E3-4391-B8A8-D40839EF58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C81807CC-7CFA-4D86-91FE-04F94F8D61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D3F6DA-A655-4617-8D20-62D65A5A5F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2F0FAF0F-EB8F-4D87-AD6E-8300A92CDEE4}"/>
              </a:ext>
            </a:extLst>
          </p:cNvPr>
          <p:cNvSpPr>
            <a:spLocks noGrp="1"/>
          </p:cNvSpPr>
          <p:nvPr>
            <p:ph type="dt" sz="half" idx="10"/>
          </p:nvPr>
        </p:nvSpPr>
        <p:spPr/>
        <p:txBody>
          <a:bodyPr/>
          <a:lstStyle/>
          <a:p>
            <a:fld id="{35A55F5C-F6E6-465B-B8C0-1C4EF7ED15E6}" type="datetimeFigureOut">
              <a:rPr lang="en-IE" smtClean="0"/>
              <a:t>22/09/2022</a:t>
            </a:fld>
            <a:endParaRPr lang="en-IE"/>
          </a:p>
        </p:txBody>
      </p:sp>
      <p:sp>
        <p:nvSpPr>
          <p:cNvPr id="8" name="Footer Placeholder 7">
            <a:extLst>
              <a:ext uri="{FF2B5EF4-FFF2-40B4-BE49-F238E27FC236}">
                <a16:creationId xmlns:a16="http://schemas.microsoft.com/office/drawing/2014/main" id="{684DE0D0-396C-4E2A-AE41-8754B4C707B5}"/>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D056C12B-F086-4B22-828E-8D500A78EC24}"/>
              </a:ext>
            </a:extLst>
          </p:cNvPr>
          <p:cNvSpPr>
            <a:spLocks noGrp="1"/>
          </p:cNvSpPr>
          <p:nvPr>
            <p:ph type="sldNum" sz="quarter" idx="12"/>
          </p:nvPr>
        </p:nvSpPr>
        <p:spPr/>
        <p:txBody>
          <a:bodyPr/>
          <a:lstStyle/>
          <a:p>
            <a:fld id="{67CB6112-415D-43E2-98B7-128A698645E9}" type="slidenum">
              <a:rPr lang="en-IE" smtClean="0"/>
              <a:t>‹#›</a:t>
            </a:fld>
            <a:endParaRPr lang="en-IE"/>
          </a:p>
        </p:txBody>
      </p:sp>
    </p:spTree>
    <p:extLst>
      <p:ext uri="{BB962C8B-B14F-4D97-AF65-F5344CB8AC3E}">
        <p14:creationId xmlns:p14="http://schemas.microsoft.com/office/powerpoint/2010/main" val="753463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81638-DFE3-441D-9F54-964DF147A3A8}"/>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60E33831-D592-4EF7-A5F8-E9A9FD6CE816}"/>
              </a:ext>
            </a:extLst>
          </p:cNvPr>
          <p:cNvSpPr>
            <a:spLocks noGrp="1"/>
          </p:cNvSpPr>
          <p:nvPr>
            <p:ph type="dt" sz="half" idx="10"/>
          </p:nvPr>
        </p:nvSpPr>
        <p:spPr/>
        <p:txBody>
          <a:bodyPr/>
          <a:lstStyle/>
          <a:p>
            <a:fld id="{35A55F5C-F6E6-465B-B8C0-1C4EF7ED15E6}" type="datetimeFigureOut">
              <a:rPr lang="en-IE" smtClean="0"/>
              <a:t>22/09/2022</a:t>
            </a:fld>
            <a:endParaRPr lang="en-IE"/>
          </a:p>
        </p:txBody>
      </p:sp>
      <p:sp>
        <p:nvSpPr>
          <p:cNvPr id="4" name="Footer Placeholder 3">
            <a:extLst>
              <a:ext uri="{FF2B5EF4-FFF2-40B4-BE49-F238E27FC236}">
                <a16:creationId xmlns:a16="http://schemas.microsoft.com/office/drawing/2014/main" id="{42FD4D87-E956-4A99-871A-5FBD91E5AC7F}"/>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648E6A15-C0E8-4345-A201-EA80B4753FB1}"/>
              </a:ext>
            </a:extLst>
          </p:cNvPr>
          <p:cNvSpPr>
            <a:spLocks noGrp="1"/>
          </p:cNvSpPr>
          <p:nvPr>
            <p:ph type="sldNum" sz="quarter" idx="12"/>
          </p:nvPr>
        </p:nvSpPr>
        <p:spPr/>
        <p:txBody>
          <a:bodyPr/>
          <a:lstStyle/>
          <a:p>
            <a:fld id="{67CB6112-415D-43E2-98B7-128A698645E9}" type="slidenum">
              <a:rPr lang="en-IE" smtClean="0"/>
              <a:t>‹#›</a:t>
            </a:fld>
            <a:endParaRPr lang="en-IE"/>
          </a:p>
        </p:txBody>
      </p:sp>
    </p:spTree>
    <p:extLst>
      <p:ext uri="{BB962C8B-B14F-4D97-AF65-F5344CB8AC3E}">
        <p14:creationId xmlns:p14="http://schemas.microsoft.com/office/powerpoint/2010/main" val="3115204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C6D4D4-3324-4682-B068-511B8D7AEF56}"/>
              </a:ext>
            </a:extLst>
          </p:cNvPr>
          <p:cNvSpPr>
            <a:spLocks noGrp="1"/>
          </p:cNvSpPr>
          <p:nvPr>
            <p:ph type="dt" sz="half" idx="10"/>
          </p:nvPr>
        </p:nvSpPr>
        <p:spPr/>
        <p:txBody>
          <a:bodyPr/>
          <a:lstStyle/>
          <a:p>
            <a:fld id="{35A55F5C-F6E6-465B-B8C0-1C4EF7ED15E6}" type="datetimeFigureOut">
              <a:rPr lang="en-IE" smtClean="0"/>
              <a:t>22/09/2022</a:t>
            </a:fld>
            <a:endParaRPr lang="en-IE"/>
          </a:p>
        </p:txBody>
      </p:sp>
      <p:sp>
        <p:nvSpPr>
          <p:cNvPr id="3" name="Footer Placeholder 2">
            <a:extLst>
              <a:ext uri="{FF2B5EF4-FFF2-40B4-BE49-F238E27FC236}">
                <a16:creationId xmlns:a16="http://schemas.microsoft.com/office/drawing/2014/main" id="{B89DDCCD-06DF-4C47-8A7C-9D8ECE36970F}"/>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E26E7B8F-C312-4AB7-89B7-6229B59C5B16}"/>
              </a:ext>
            </a:extLst>
          </p:cNvPr>
          <p:cNvSpPr>
            <a:spLocks noGrp="1"/>
          </p:cNvSpPr>
          <p:nvPr>
            <p:ph type="sldNum" sz="quarter" idx="12"/>
          </p:nvPr>
        </p:nvSpPr>
        <p:spPr/>
        <p:txBody>
          <a:bodyPr/>
          <a:lstStyle/>
          <a:p>
            <a:fld id="{67CB6112-415D-43E2-98B7-128A698645E9}" type="slidenum">
              <a:rPr lang="en-IE" smtClean="0"/>
              <a:t>‹#›</a:t>
            </a:fld>
            <a:endParaRPr lang="en-IE"/>
          </a:p>
        </p:txBody>
      </p:sp>
    </p:spTree>
    <p:extLst>
      <p:ext uri="{BB962C8B-B14F-4D97-AF65-F5344CB8AC3E}">
        <p14:creationId xmlns:p14="http://schemas.microsoft.com/office/powerpoint/2010/main" val="313509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77DA-603E-41BF-B92A-F28A198E1F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9C157297-7A9F-4C59-97BD-23945556CC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1EF44900-6DFE-4945-A9F1-85DE6D794F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91963D-9B43-4978-897D-BB6069B47659}"/>
              </a:ext>
            </a:extLst>
          </p:cNvPr>
          <p:cNvSpPr>
            <a:spLocks noGrp="1"/>
          </p:cNvSpPr>
          <p:nvPr>
            <p:ph type="dt" sz="half" idx="10"/>
          </p:nvPr>
        </p:nvSpPr>
        <p:spPr/>
        <p:txBody>
          <a:bodyPr/>
          <a:lstStyle/>
          <a:p>
            <a:fld id="{35A55F5C-F6E6-465B-B8C0-1C4EF7ED15E6}" type="datetimeFigureOut">
              <a:rPr lang="en-IE" smtClean="0"/>
              <a:t>22/09/2022</a:t>
            </a:fld>
            <a:endParaRPr lang="en-IE"/>
          </a:p>
        </p:txBody>
      </p:sp>
      <p:sp>
        <p:nvSpPr>
          <p:cNvPr id="6" name="Footer Placeholder 5">
            <a:extLst>
              <a:ext uri="{FF2B5EF4-FFF2-40B4-BE49-F238E27FC236}">
                <a16:creationId xmlns:a16="http://schemas.microsoft.com/office/drawing/2014/main" id="{CE0924D5-4416-4137-83F5-56D478E15472}"/>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2F072339-7068-49A6-9EA1-F4F339732411}"/>
              </a:ext>
            </a:extLst>
          </p:cNvPr>
          <p:cNvSpPr>
            <a:spLocks noGrp="1"/>
          </p:cNvSpPr>
          <p:nvPr>
            <p:ph type="sldNum" sz="quarter" idx="12"/>
          </p:nvPr>
        </p:nvSpPr>
        <p:spPr/>
        <p:txBody>
          <a:bodyPr/>
          <a:lstStyle/>
          <a:p>
            <a:fld id="{67CB6112-415D-43E2-98B7-128A698645E9}" type="slidenum">
              <a:rPr lang="en-IE" smtClean="0"/>
              <a:t>‹#›</a:t>
            </a:fld>
            <a:endParaRPr lang="en-IE"/>
          </a:p>
        </p:txBody>
      </p:sp>
    </p:spTree>
    <p:extLst>
      <p:ext uri="{BB962C8B-B14F-4D97-AF65-F5344CB8AC3E}">
        <p14:creationId xmlns:p14="http://schemas.microsoft.com/office/powerpoint/2010/main" val="119808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80B02-0D6D-46F2-87C1-C738161A3C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2401B6CC-4242-4E8E-A845-B91F3780AA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1D89A6DA-AA1C-46EF-8232-A3861BFBDD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8F43F1-DB07-4D10-B3F4-1B007D5E183E}"/>
              </a:ext>
            </a:extLst>
          </p:cNvPr>
          <p:cNvSpPr>
            <a:spLocks noGrp="1"/>
          </p:cNvSpPr>
          <p:nvPr>
            <p:ph type="dt" sz="half" idx="10"/>
          </p:nvPr>
        </p:nvSpPr>
        <p:spPr/>
        <p:txBody>
          <a:bodyPr/>
          <a:lstStyle/>
          <a:p>
            <a:fld id="{35A55F5C-F6E6-465B-B8C0-1C4EF7ED15E6}" type="datetimeFigureOut">
              <a:rPr lang="en-IE" smtClean="0"/>
              <a:t>22/09/2022</a:t>
            </a:fld>
            <a:endParaRPr lang="en-IE"/>
          </a:p>
        </p:txBody>
      </p:sp>
      <p:sp>
        <p:nvSpPr>
          <p:cNvPr id="6" name="Footer Placeholder 5">
            <a:extLst>
              <a:ext uri="{FF2B5EF4-FFF2-40B4-BE49-F238E27FC236}">
                <a16:creationId xmlns:a16="http://schemas.microsoft.com/office/drawing/2014/main" id="{EECB19DD-891D-4559-89A3-5068F8DCEA58}"/>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5B66FDAD-F413-4F40-8609-1B19B18D2344}"/>
              </a:ext>
            </a:extLst>
          </p:cNvPr>
          <p:cNvSpPr>
            <a:spLocks noGrp="1"/>
          </p:cNvSpPr>
          <p:nvPr>
            <p:ph type="sldNum" sz="quarter" idx="12"/>
          </p:nvPr>
        </p:nvSpPr>
        <p:spPr/>
        <p:txBody>
          <a:bodyPr/>
          <a:lstStyle/>
          <a:p>
            <a:fld id="{67CB6112-415D-43E2-98B7-128A698645E9}" type="slidenum">
              <a:rPr lang="en-IE" smtClean="0"/>
              <a:t>‹#›</a:t>
            </a:fld>
            <a:endParaRPr lang="en-IE"/>
          </a:p>
        </p:txBody>
      </p:sp>
    </p:spTree>
    <p:extLst>
      <p:ext uri="{BB962C8B-B14F-4D97-AF65-F5344CB8AC3E}">
        <p14:creationId xmlns:p14="http://schemas.microsoft.com/office/powerpoint/2010/main" val="562114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7CFCB-14CF-4608-A633-92B0BFA34892}"/>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64A2257E-10C3-4503-BB23-7026C149C5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CB87993D-7195-4E39-87A3-A02BE12370D3}"/>
              </a:ext>
            </a:extLst>
          </p:cNvPr>
          <p:cNvSpPr>
            <a:spLocks noGrp="1"/>
          </p:cNvSpPr>
          <p:nvPr>
            <p:ph type="dt" sz="half" idx="10"/>
          </p:nvPr>
        </p:nvSpPr>
        <p:spPr/>
        <p:txBody>
          <a:bodyPr/>
          <a:lstStyle/>
          <a:p>
            <a:fld id="{35A55F5C-F6E6-465B-B8C0-1C4EF7ED15E6}" type="datetimeFigureOut">
              <a:rPr lang="en-IE" smtClean="0"/>
              <a:t>22/09/2022</a:t>
            </a:fld>
            <a:endParaRPr lang="en-IE"/>
          </a:p>
        </p:txBody>
      </p:sp>
      <p:sp>
        <p:nvSpPr>
          <p:cNvPr id="5" name="Footer Placeholder 4">
            <a:extLst>
              <a:ext uri="{FF2B5EF4-FFF2-40B4-BE49-F238E27FC236}">
                <a16:creationId xmlns:a16="http://schemas.microsoft.com/office/drawing/2014/main" id="{56D552E4-A4AD-4CF7-A998-B6BE720A1BE9}"/>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F47C10BC-08C0-420B-8B15-81803D88596C}"/>
              </a:ext>
            </a:extLst>
          </p:cNvPr>
          <p:cNvSpPr>
            <a:spLocks noGrp="1"/>
          </p:cNvSpPr>
          <p:nvPr>
            <p:ph type="sldNum" sz="quarter" idx="12"/>
          </p:nvPr>
        </p:nvSpPr>
        <p:spPr/>
        <p:txBody>
          <a:bodyPr/>
          <a:lstStyle/>
          <a:p>
            <a:fld id="{67CB6112-415D-43E2-98B7-128A698645E9}" type="slidenum">
              <a:rPr lang="en-IE" smtClean="0"/>
              <a:t>‹#›</a:t>
            </a:fld>
            <a:endParaRPr lang="en-IE"/>
          </a:p>
        </p:txBody>
      </p:sp>
    </p:spTree>
    <p:extLst>
      <p:ext uri="{BB962C8B-B14F-4D97-AF65-F5344CB8AC3E}">
        <p14:creationId xmlns:p14="http://schemas.microsoft.com/office/powerpoint/2010/main" val="2943101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F08704-7C6B-47FA-B8EE-98A295CED14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82223F68-ECE2-4A51-B851-47B44502DC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C9ABA595-1E83-4DA1-941A-EB767932F5C4}"/>
              </a:ext>
            </a:extLst>
          </p:cNvPr>
          <p:cNvSpPr>
            <a:spLocks noGrp="1"/>
          </p:cNvSpPr>
          <p:nvPr>
            <p:ph type="dt" sz="half" idx="10"/>
          </p:nvPr>
        </p:nvSpPr>
        <p:spPr/>
        <p:txBody>
          <a:bodyPr/>
          <a:lstStyle/>
          <a:p>
            <a:fld id="{35A55F5C-F6E6-465B-B8C0-1C4EF7ED15E6}" type="datetimeFigureOut">
              <a:rPr lang="en-IE" smtClean="0"/>
              <a:t>22/09/2022</a:t>
            </a:fld>
            <a:endParaRPr lang="en-IE"/>
          </a:p>
        </p:txBody>
      </p:sp>
      <p:sp>
        <p:nvSpPr>
          <p:cNvPr id="5" name="Footer Placeholder 4">
            <a:extLst>
              <a:ext uri="{FF2B5EF4-FFF2-40B4-BE49-F238E27FC236}">
                <a16:creationId xmlns:a16="http://schemas.microsoft.com/office/drawing/2014/main" id="{116DAEAC-0218-4DD3-B257-C08129DFB66E}"/>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BC920F4A-7E33-4777-BD6E-DC25C3013EE2}"/>
              </a:ext>
            </a:extLst>
          </p:cNvPr>
          <p:cNvSpPr>
            <a:spLocks noGrp="1"/>
          </p:cNvSpPr>
          <p:nvPr>
            <p:ph type="sldNum" sz="quarter" idx="12"/>
          </p:nvPr>
        </p:nvSpPr>
        <p:spPr/>
        <p:txBody>
          <a:bodyPr/>
          <a:lstStyle/>
          <a:p>
            <a:fld id="{67CB6112-415D-43E2-98B7-128A698645E9}" type="slidenum">
              <a:rPr lang="en-IE" smtClean="0"/>
              <a:t>‹#›</a:t>
            </a:fld>
            <a:endParaRPr lang="en-IE"/>
          </a:p>
        </p:txBody>
      </p:sp>
    </p:spTree>
    <p:extLst>
      <p:ext uri="{BB962C8B-B14F-4D97-AF65-F5344CB8AC3E}">
        <p14:creationId xmlns:p14="http://schemas.microsoft.com/office/powerpoint/2010/main" val="11549550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rgbClr val="FFFFFF"/>
                </a:solidFill>
              </a:defRPr>
            </a:lvl1pPr>
          </a:lstStyle>
          <a:p>
            <a:fld id="{6ABED2CA-186C-4853-8F3B-71CCE86A6D6F}" type="datetimeFigureOut">
              <a:rPr lang="en-IE" smtClean="0"/>
              <a:t>22/09/2022</a:t>
            </a:fld>
            <a:endParaRPr lang="en-IE"/>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IE"/>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A2E5D9AE-F91E-4A0F-B832-641626FF009C}" type="slidenum">
              <a:rPr lang="en-IE" smtClean="0"/>
              <a:t>‹#›</a:t>
            </a:fld>
            <a:endParaRPr lang="en-IE"/>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03631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BED2CA-186C-4853-8F3B-71CCE86A6D6F}" type="datetimeFigureOut">
              <a:rPr lang="en-IE" smtClean="0"/>
              <a:t>22/09/2022</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A2E5D9AE-F91E-4A0F-B832-641626FF009C}" type="slidenum">
              <a:rPr lang="en-IE" smtClean="0"/>
              <a:t>‹#›</a:t>
            </a:fld>
            <a:endParaRPr lang="en-IE"/>
          </a:p>
        </p:txBody>
      </p:sp>
    </p:spTree>
    <p:extLst>
      <p:ext uri="{BB962C8B-B14F-4D97-AF65-F5344CB8AC3E}">
        <p14:creationId xmlns:p14="http://schemas.microsoft.com/office/powerpoint/2010/main" val="40843791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BED2CA-186C-4853-8F3B-71CCE86A6D6F}" type="datetimeFigureOut">
              <a:rPr lang="en-IE" smtClean="0"/>
              <a:t>22/09/2022</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A2E5D9AE-F91E-4A0F-B832-641626FF009C}" type="slidenum">
              <a:rPr lang="en-IE" smtClean="0"/>
              <a:t>‹#›</a:t>
            </a:fld>
            <a:endParaRPr lang="en-IE"/>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45242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ABED2CA-186C-4853-8F3B-71CCE86A6D6F}" type="datetimeFigureOut">
              <a:rPr lang="en-IE" smtClean="0"/>
              <a:t>22/09/2022</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A2E5D9AE-F91E-4A0F-B832-641626FF009C}" type="slidenum">
              <a:rPr lang="en-IE" smtClean="0"/>
              <a:t>‹#›</a:t>
            </a:fld>
            <a:endParaRPr lang="en-IE"/>
          </a:p>
        </p:txBody>
      </p:sp>
    </p:spTree>
    <p:extLst>
      <p:ext uri="{BB962C8B-B14F-4D97-AF65-F5344CB8AC3E}">
        <p14:creationId xmlns:p14="http://schemas.microsoft.com/office/powerpoint/2010/main" val="15736301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ABED2CA-186C-4853-8F3B-71CCE86A6D6F}" type="datetimeFigureOut">
              <a:rPr lang="en-IE" smtClean="0"/>
              <a:t>22/09/2022</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A2E5D9AE-F91E-4A0F-B832-641626FF009C}" type="slidenum">
              <a:rPr lang="en-IE" smtClean="0"/>
              <a:t>‹#›</a:t>
            </a:fld>
            <a:endParaRPr lang="en-IE"/>
          </a:p>
        </p:txBody>
      </p:sp>
    </p:spTree>
    <p:extLst>
      <p:ext uri="{BB962C8B-B14F-4D97-AF65-F5344CB8AC3E}">
        <p14:creationId xmlns:p14="http://schemas.microsoft.com/office/powerpoint/2010/main" val="16082413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ABED2CA-186C-4853-8F3B-71CCE86A6D6F}" type="datetimeFigureOut">
              <a:rPr lang="en-IE" smtClean="0"/>
              <a:t>22/09/2022</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A2E5D9AE-F91E-4A0F-B832-641626FF009C}" type="slidenum">
              <a:rPr lang="en-IE" smtClean="0"/>
              <a:t>‹#›</a:t>
            </a:fld>
            <a:endParaRPr lang="en-IE"/>
          </a:p>
        </p:txBody>
      </p:sp>
    </p:spTree>
    <p:extLst>
      <p:ext uri="{BB962C8B-B14F-4D97-AF65-F5344CB8AC3E}">
        <p14:creationId xmlns:p14="http://schemas.microsoft.com/office/powerpoint/2010/main" val="30844149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BED2CA-186C-4853-8F3B-71CCE86A6D6F}" type="datetimeFigureOut">
              <a:rPr lang="en-IE" smtClean="0"/>
              <a:t>22/09/2022</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A2E5D9AE-F91E-4A0F-B832-641626FF009C}" type="slidenum">
              <a:rPr lang="en-IE" smtClean="0"/>
              <a:t>‹#›</a:t>
            </a:fld>
            <a:endParaRPr lang="en-IE"/>
          </a:p>
        </p:txBody>
      </p:sp>
    </p:spTree>
    <p:extLst>
      <p:ext uri="{BB962C8B-B14F-4D97-AF65-F5344CB8AC3E}">
        <p14:creationId xmlns:p14="http://schemas.microsoft.com/office/powerpoint/2010/main" val="15801702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BED2CA-186C-4853-8F3B-71CCE86A6D6F}" type="datetimeFigureOut">
              <a:rPr lang="en-IE" smtClean="0"/>
              <a:t>22/09/2022</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A2E5D9AE-F91E-4A0F-B832-641626FF009C}" type="slidenum">
              <a:rPr lang="en-IE" smtClean="0"/>
              <a:t>‹#›</a:t>
            </a:fld>
            <a:endParaRPr lang="en-IE"/>
          </a:p>
        </p:txBody>
      </p:sp>
    </p:spTree>
    <p:extLst>
      <p:ext uri="{BB962C8B-B14F-4D97-AF65-F5344CB8AC3E}">
        <p14:creationId xmlns:p14="http://schemas.microsoft.com/office/powerpoint/2010/main" val="4841777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BED2CA-186C-4853-8F3B-71CCE86A6D6F}" type="datetimeFigureOut">
              <a:rPr lang="en-IE" smtClean="0"/>
              <a:t>22/09/2022</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A2E5D9AE-F91E-4A0F-B832-641626FF009C}" type="slidenum">
              <a:rPr lang="en-IE" smtClean="0"/>
              <a:t>‹#›</a:t>
            </a:fld>
            <a:endParaRPr lang="en-IE"/>
          </a:p>
        </p:txBody>
      </p:sp>
    </p:spTree>
    <p:extLst>
      <p:ext uri="{BB962C8B-B14F-4D97-AF65-F5344CB8AC3E}">
        <p14:creationId xmlns:p14="http://schemas.microsoft.com/office/powerpoint/2010/main" val="32277037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BED2CA-186C-4853-8F3B-71CCE86A6D6F}" type="datetimeFigureOut">
              <a:rPr lang="en-IE" smtClean="0"/>
              <a:t>22/09/2022</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A2E5D9AE-F91E-4A0F-B832-641626FF009C}" type="slidenum">
              <a:rPr lang="en-IE" smtClean="0"/>
              <a:t>‹#›</a:t>
            </a:fld>
            <a:endParaRPr lang="en-IE"/>
          </a:p>
        </p:txBody>
      </p:sp>
    </p:spTree>
    <p:extLst>
      <p:ext uri="{BB962C8B-B14F-4D97-AF65-F5344CB8AC3E}">
        <p14:creationId xmlns:p14="http://schemas.microsoft.com/office/powerpoint/2010/main" val="2479092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BED2CA-186C-4853-8F3B-71CCE86A6D6F}" type="datetimeFigureOut">
              <a:rPr lang="en-IE" smtClean="0"/>
              <a:t>22/09/2022</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A2E5D9AE-F91E-4A0F-B832-641626FF009C}" type="slidenum">
              <a:rPr lang="en-IE" smtClean="0"/>
              <a:t>‹#›</a:t>
            </a:fld>
            <a:endParaRPr lang="en-IE"/>
          </a:p>
        </p:txBody>
      </p:sp>
    </p:spTree>
    <p:extLst>
      <p:ext uri="{BB962C8B-B14F-4D97-AF65-F5344CB8AC3E}">
        <p14:creationId xmlns:p14="http://schemas.microsoft.com/office/powerpoint/2010/main" val="4114096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CF78AC-7EE6-4AE7-99FB-1953DB22D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948B60D8-F461-4F36-942D-CBA0295A6B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86AB0DF8-5848-4702-9D93-5A4927D59A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A55F5C-F6E6-465B-B8C0-1C4EF7ED15E6}" type="datetimeFigureOut">
              <a:rPr lang="en-IE" smtClean="0"/>
              <a:t>22/09/2022</a:t>
            </a:fld>
            <a:endParaRPr lang="en-IE"/>
          </a:p>
        </p:txBody>
      </p:sp>
      <p:sp>
        <p:nvSpPr>
          <p:cNvPr id="5" name="Footer Placeholder 4">
            <a:extLst>
              <a:ext uri="{FF2B5EF4-FFF2-40B4-BE49-F238E27FC236}">
                <a16:creationId xmlns:a16="http://schemas.microsoft.com/office/drawing/2014/main" id="{B290FC2A-580D-4152-9FE6-15E7A93182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BF3CDB05-2A90-44DA-98FB-6CECADC398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CB6112-415D-43E2-98B7-128A698645E9}" type="slidenum">
              <a:rPr lang="en-IE" smtClean="0"/>
              <a:t>‹#›</a:t>
            </a:fld>
            <a:endParaRPr lang="en-IE"/>
          </a:p>
        </p:txBody>
      </p:sp>
    </p:spTree>
    <p:extLst>
      <p:ext uri="{BB962C8B-B14F-4D97-AF65-F5344CB8AC3E}">
        <p14:creationId xmlns:p14="http://schemas.microsoft.com/office/powerpoint/2010/main" val="23037206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6ABED2CA-186C-4853-8F3B-71CCE86A6D6F}" type="datetimeFigureOut">
              <a:rPr lang="en-IE" smtClean="0"/>
              <a:t>22/09/2022</a:t>
            </a:fld>
            <a:endParaRPr lang="en-IE"/>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IE"/>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A2E5D9AE-F91E-4A0F-B832-641626FF009C}" type="slidenum">
              <a:rPr lang="en-IE" smtClean="0"/>
              <a:t>‹#›</a:t>
            </a:fld>
            <a:endParaRPr lang="en-IE"/>
          </a:p>
        </p:txBody>
      </p:sp>
    </p:spTree>
    <p:extLst>
      <p:ext uri="{BB962C8B-B14F-4D97-AF65-F5344CB8AC3E}">
        <p14:creationId xmlns:p14="http://schemas.microsoft.com/office/powerpoint/2010/main" val="9863045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hyperlink" Target="https://www.youtube.com/watch?v=A054Ged9suI" TargetMode="Externa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hyperlink" Target="https://www.youtube.com/watch?v=ngCos392W4w"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mazon tree boa coiled around branch">
            <a:extLst>
              <a:ext uri="{FF2B5EF4-FFF2-40B4-BE49-F238E27FC236}">
                <a16:creationId xmlns:a16="http://schemas.microsoft.com/office/drawing/2014/main" id="{4A9CE920-633E-8010-12BE-04F1E173F00F}"/>
              </a:ext>
            </a:extLst>
          </p:cNvPr>
          <p:cNvPicPr>
            <a:picLocks noChangeAspect="1"/>
          </p:cNvPicPr>
          <p:nvPr/>
        </p:nvPicPr>
        <p:blipFill rotWithShape="1">
          <a:blip r:embed="rId2"/>
          <a:srcRect l="4803" r="10824" b="-1"/>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80255E6-622B-49FE-A719-AE2C3C4BB94B}"/>
              </a:ext>
            </a:extLst>
          </p:cNvPr>
          <p:cNvSpPr>
            <a:spLocks noGrp="1"/>
          </p:cNvSpPr>
          <p:nvPr>
            <p:ph type="ctrTitle"/>
          </p:nvPr>
        </p:nvSpPr>
        <p:spPr>
          <a:xfrm>
            <a:off x="477981" y="1122363"/>
            <a:ext cx="4023360" cy="3204134"/>
          </a:xfrm>
        </p:spPr>
        <p:txBody>
          <a:bodyPr anchor="b">
            <a:normAutofit/>
          </a:bodyPr>
          <a:lstStyle/>
          <a:p>
            <a:pPr algn="l"/>
            <a:r>
              <a:rPr lang="en-IE" sz="4800"/>
              <a:t>Python </a:t>
            </a:r>
            <a:br>
              <a:rPr lang="en-IE" sz="4800"/>
            </a:br>
            <a:r>
              <a:rPr lang="en-IE" sz="4800"/>
              <a:t>Functions &amp; Recursion</a:t>
            </a:r>
          </a:p>
        </p:txBody>
      </p:sp>
      <p:sp>
        <p:nvSpPr>
          <p:cNvPr id="3" name="Subtitle 2">
            <a:extLst>
              <a:ext uri="{FF2B5EF4-FFF2-40B4-BE49-F238E27FC236}">
                <a16:creationId xmlns:a16="http://schemas.microsoft.com/office/drawing/2014/main" id="{D659967E-5DB3-40C0-817F-CE19BEC46E7B}"/>
              </a:ext>
            </a:extLst>
          </p:cNvPr>
          <p:cNvSpPr>
            <a:spLocks noGrp="1"/>
          </p:cNvSpPr>
          <p:nvPr>
            <p:ph type="subTitle" idx="1"/>
          </p:nvPr>
        </p:nvSpPr>
        <p:spPr>
          <a:xfrm>
            <a:off x="477980" y="4872922"/>
            <a:ext cx="4023359" cy="1208141"/>
          </a:xfrm>
        </p:spPr>
        <p:txBody>
          <a:bodyPr>
            <a:normAutofit/>
          </a:bodyPr>
          <a:lstStyle/>
          <a:p>
            <a:pPr algn="l"/>
            <a:r>
              <a:rPr lang="en-IE" sz="2000" dirty="0" err="1"/>
              <a:t>Chp</a:t>
            </a:r>
            <a:r>
              <a:rPr lang="en-IE" sz="2000" dirty="0"/>
              <a:t> 9 in book</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389054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95301" y="609600"/>
            <a:ext cx="11239498" cy="561975"/>
          </a:xfrm>
        </p:spPr>
        <p:txBody>
          <a:bodyPr>
            <a:normAutofit fontScale="90000"/>
          </a:bodyPr>
          <a:lstStyle/>
          <a:p>
            <a:r>
              <a:rPr lang="en-IE">
                <a:solidFill>
                  <a:schemeClr val="tx1"/>
                </a:solidFill>
              </a:rPr>
              <a:t>Functions</a:t>
            </a:r>
          </a:p>
        </p:txBody>
      </p:sp>
      <p:sp>
        <p:nvSpPr>
          <p:cNvPr id="3" name="TextBox 2">
            <a:extLst>
              <a:ext uri="{FF2B5EF4-FFF2-40B4-BE49-F238E27FC236}">
                <a16:creationId xmlns:a16="http://schemas.microsoft.com/office/drawing/2014/main" id="{2871C01E-D159-02D8-E333-B5CE43FC6005}"/>
              </a:ext>
            </a:extLst>
          </p:cNvPr>
          <p:cNvSpPr txBox="1"/>
          <p:nvPr/>
        </p:nvSpPr>
        <p:spPr>
          <a:xfrm>
            <a:off x="571500" y="1190625"/>
            <a:ext cx="10915650" cy="5898218"/>
          </a:xfrm>
          <a:prstGeom prst="rect">
            <a:avLst/>
          </a:prstGeom>
          <a:noFill/>
        </p:spPr>
        <p:txBody>
          <a:bodyPr wrap="square" rtlCol="0">
            <a:spAutoFit/>
          </a:bodyPr>
          <a:lstStyle/>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Sometimes in code we repeat the same piece of code many times</a:t>
            </a:r>
          </a:p>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We can copy &amp; paste this piece of code again and again but this is time-consuming, makes the code hard to read. </a:t>
            </a:r>
          </a:p>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It is very time-consuming to update the code if each piece has to be fixed</a:t>
            </a:r>
          </a:p>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We can overcome all these difficulties using functions</a:t>
            </a:r>
          </a:p>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IE" sz="2400" b="1" i="0" u="none" strike="noStrike" kern="1200" cap="none" spc="0" normalizeH="0" baseline="0" noProof="0">
                <a:ln>
                  <a:noFill/>
                </a:ln>
                <a:solidFill>
                  <a:prstClr val="black"/>
                </a:solidFill>
                <a:effectLst/>
                <a:highlight>
                  <a:srgbClr val="FFFF00"/>
                </a:highlight>
                <a:uLnTx/>
                <a:uFillTx/>
                <a:latin typeface="Corbel" panose="020B0503020204020204"/>
                <a:ea typeface="+mn-ea"/>
                <a:cs typeface="+mn-cs"/>
              </a:rPr>
              <a:t>A function is a self-contained piece of code that carries out a specific task. </a:t>
            </a:r>
          </a:p>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endParaRPr kumimoji="0" lang="en-IE" sz="2400" b="0" i="0" u="none" strike="noStrike" kern="1200" cap="none" spc="0" normalizeH="0" baseline="0" noProof="0">
              <a:ln>
                <a:noFill/>
              </a:ln>
              <a:solidFill>
                <a:prstClr val="black"/>
              </a:solidFill>
              <a:effectLst/>
              <a:highlight>
                <a:srgbClr val="FFFF00"/>
              </a:highlight>
              <a:uLnTx/>
              <a:uFillTx/>
              <a:latin typeface="Corbel" panose="020B0503020204020204"/>
              <a:ea typeface="+mn-ea"/>
              <a:cs typeface="+mn-cs"/>
            </a:endParaRPr>
          </a:p>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endParaRPr kumimoji="0" lang="en-IE" sz="2400" b="0" i="0" u="none" strike="noStrike" kern="1200" cap="none" spc="0" normalizeH="0" baseline="0" noProof="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2128853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95301" y="609600"/>
            <a:ext cx="11239498" cy="561975"/>
          </a:xfrm>
        </p:spPr>
        <p:txBody>
          <a:bodyPr>
            <a:normAutofit fontScale="90000"/>
          </a:bodyPr>
          <a:lstStyle/>
          <a:p>
            <a:r>
              <a:rPr lang="en-IE">
                <a:solidFill>
                  <a:schemeClr val="tx1"/>
                </a:solidFill>
              </a:rPr>
              <a:t>Functions</a:t>
            </a:r>
          </a:p>
        </p:txBody>
      </p:sp>
      <p:sp>
        <p:nvSpPr>
          <p:cNvPr id="3" name="TextBox 2">
            <a:extLst>
              <a:ext uri="{FF2B5EF4-FFF2-40B4-BE49-F238E27FC236}">
                <a16:creationId xmlns:a16="http://schemas.microsoft.com/office/drawing/2014/main" id="{2871C01E-D159-02D8-E333-B5CE43FC6005}"/>
              </a:ext>
            </a:extLst>
          </p:cNvPr>
          <p:cNvSpPr txBox="1"/>
          <p:nvPr/>
        </p:nvSpPr>
        <p:spPr>
          <a:xfrm>
            <a:off x="571500" y="1190625"/>
            <a:ext cx="10915650" cy="4420890"/>
          </a:xfrm>
          <a:prstGeom prst="rect">
            <a:avLst/>
          </a:prstGeom>
          <a:noFill/>
        </p:spPr>
        <p:txBody>
          <a:bodyPr wrap="square" rtlCol="0">
            <a:spAutoFit/>
          </a:bodyPr>
          <a:lstStyle/>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IE" sz="2400" b="1" i="0" u="none" strike="noStrike" kern="1200" cap="none" spc="0" normalizeH="0" baseline="0" noProof="0">
                <a:ln>
                  <a:noFill/>
                </a:ln>
                <a:solidFill>
                  <a:prstClr val="black"/>
                </a:solidFill>
                <a:effectLst/>
                <a:highlight>
                  <a:srgbClr val="FFFF00"/>
                </a:highlight>
                <a:uLnTx/>
                <a:uFillTx/>
                <a:latin typeface="Corbel" panose="020B0503020204020204"/>
                <a:ea typeface="+mn-ea"/>
                <a:cs typeface="+mn-cs"/>
              </a:rPr>
              <a:t>A function is a self-contained piece of code that carries out a specific task</a:t>
            </a:r>
          </a:p>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IE" sz="2400" b="0" i="0" u="none" strike="noStrike" kern="1200" cap="none" spc="0" normalizeH="0" baseline="0" noProof="0">
                <a:ln>
                  <a:noFill/>
                </a:ln>
                <a:solidFill>
                  <a:prstClr val="black"/>
                </a:solidFill>
                <a:effectLst/>
                <a:highlight>
                  <a:srgbClr val="FFFF00"/>
                </a:highlight>
                <a:uLnTx/>
                <a:uFillTx/>
                <a:latin typeface="Corbel" panose="020B0503020204020204"/>
                <a:ea typeface="+mn-ea"/>
                <a:cs typeface="+mn-cs"/>
              </a:rPr>
              <a:t>Functions allow is to do MODULAR programming where the program is separated into independent modules/pieces, each of which perform a specific task.</a:t>
            </a:r>
          </a:p>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Functions are re-usable </a:t>
            </a:r>
          </a:p>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endParaRPr kumimoji="0" lang="en-IE" sz="2400" b="0" i="0" u="none" strike="noStrike" kern="1200" cap="none" spc="0" normalizeH="0" baseline="0" noProof="0">
              <a:ln>
                <a:noFill/>
              </a:ln>
              <a:solidFill>
                <a:prstClr val="black"/>
              </a:solidFill>
              <a:effectLst/>
              <a:highlight>
                <a:srgbClr val="FFFF00"/>
              </a:highlight>
              <a:uLnTx/>
              <a:uFillTx/>
              <a:latin typeface="Corbel" panose="020B0503020204020204"/>
              <a:ea typeface="+mn-ea"/>
              <a:cs typeface="+mn-cs"/>
            </a:endParaRPr>
          </a:p>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endParaRPr kumimoji="0" lang="en-IE" sz="2400" b="0" i="0" u="none" strike="noStrike" kern="1200" cap="none" spc="0" normalizeH="0" baseline="0" noProof="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2120161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95301" y="609600"/>
            <a:ext cx="11239498" cy="561975"/>
          </a:xfrm>
        </p:spPr>
        <p:txBody>
          <a:bodyPr>
            <a:normAutofit fontScale="90000"/>
          </a:bodyPr>
          <a:lstStyle/>
          <a:p>
            <a:r>
              <a:rPr lang="en-IE">
                <a:solidFill>
                  <a:schemeClr val="tx1"/>
                </a:solidFill>
              </a:rPr>
              <a:t>Functions – Defining and calling a function</a:t>
            </a:r>
          </a:p>
        </p:txBody>
      </p:sp>
      <p:sp>
        <p:nvSpPr>
          <p:cNvPr id="3" name="TextBox 2">
            <a:extLst>
              <a:ext uri="{FF2B5EF4-FFF2-40B4-BE49-F238E27FC236}">
                <a16:creationId xmlns:a16="http://schemas.microsoft.com/office/drawing/2014/main" id="{2871C01E-D159-02D8-E333-B5CE43FC6005}"/>
              </a:ext>
            </a:extLst>
          </p:cNvPr>
          <p:cNvSpPr txBox="1"/>
          <p:nvPr/>
        </p:nvSpPr>
        <p:spPr>
          <a:xfrm>
            <a:off x="571500" y="1190625"/>
            <a:ext cx="10915650" cy="2204899"/>
          </a:xfrm>
          <a:prstGeom prst="rect">
            <a:avLst/>
          </a:prstGeom>
          <a:noFill/>
        </p:spPr>
        <p:txBody>
          <a:bodyPr wrap="square" rtlCol="0">
            <a:spAutoFit/>
          </a:bodyPr>
          <a:lstStyle/>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 </a:t>
            </a:r>
          </a:p>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endParaRPr kumimoji="0" lang="en-IE" sz="2400" b="0" i="0" u="none" strike="noStrike" kern="1200" cap="none" spc="0" normalizeH="0" baseline="0" noProof="0">
              <a:ln>
                <a:noFill/>
              </a:ln>
              <a:solidFill>
                <a:prstClr val="black"/>
              </a:solidFill>
              <a:effectLst/>
              <a:highlight>
                <a:srgbClr val="FFFF00"/>
              </a:highlight>
              <a:uLnTx/>
              <a:uFillTx/>
              <a:latin typeface="Corbel" panose="020B0503020204020204"/>
              <a:ea typeface="+mn-ea"/>
              <a:cs typeface="+mn-cs"/>
            </a:endParaRPr>
          </a:p>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endParaRPr kumimoji="0" lang="en-IE" sz="2400" b="0" i="0" u="none" strike="noStrike" kern="1200" cap="none" spc="0" normalizeH="0" baseline="0" noProof="0">
              <a:ln>
                <a:noFill/>
              </a:ln>
              <a:solidFill>
                <a:prstClr val="black"/>
              </a:solidFill>
              <a:effectLst/>
              <a:uLnTx/>
              <a:uFillTx/>
              <a:latin typeface="Corbel" panose="020B0503020204020204"/>
              <a:ea typeface="+mn-ea"/>
              <a:cs typeface="+mn-cs"/>
            </a:endParaRPr>
          </a:p>
        </p:txBody>
      </p:sp>
      <p:pic>
        <p:nvPicPr>
          <p:cNvPr id="5" name="Picture 4">
            <a:extLst>
              <a:ext uri="{FF2B5EF4-FFF2-40B4-BE49-F238E27FC236}">
                <a16:creationId xmlns:a16="http://schemas.microsoft.com/office/drawing/2014/main" id="{3977D500-011D-D659-A401-5598872A334F}"/>
              </a:ext>
            </a:extLst>
          </p:cNvPr>
          <p:cNvPicPr>
            <a:picLocks noChangeAspect="1"/>
          </p:cNvPicPr>
          <p:nvPr/>
        </p:nvPicPr>
        <p:blipFill>
          <a:blip r:embed="rId2"/>
          <a:stretch>
            <a:fillRect/>
          </a:stretch>
        </p:blipFill>
        <p:spPr>
          <a:xfrm>
            <a:off x="934560" y="1248145"/>
            <a:ext cx="6896100" cy="3343275"/>
          </a:xfrm>
          <a:prstGeom prst="rect">
            <a:avLst/>
          </a:prstGeom>
        </p:spPr>
      </p:pic>
      <p:sp>
        <p:nvSpPr>
          <p:cNvPr id="6" name="TextBox 5">
            <a:extLst>
              <a:ext uri="{FF2B5EF4-FFF2-40B4-BE49-F238E27FC236}">
                <a16:creationId xmlns:a16="http://schemas.microsoft.com/office/drawing/2014/main" id="{7EFF33EB-9FE2-C934-639F-D570AE396BC0}"/>
              </a:ext>
            </a:extLst>
          </p:cNvPr>
          <p:cNvSpPr txBox="1"/>
          <p:nvPr/>
        </p:nvSpPr>
        <p:spPr>
          <a:xfrm>
            <a:off x="8451542" y="1349406"/>
            <a:ext cx="3035608" cy="224676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000" b="0" i="0" u="none" strike="noStrike" kern="1200" cap="none" spc="0" normalizeH="0" baseline="0" noProof="0">
                <a:ln>
                  <a:noFill/>
                </a:ln>
                <a:solidFill>
                  <a:prstClr val="black"/>
                </a:solidFill>
                <a:effectLst/>
                <a:uLnTx/>
                <a:uFillTx/>
                <a:latin typeface="Corbel" panose="020B0503020204020204"/>
                <a:ea typeface="+mn-ea"/>
                <a:cs typeface="+mn-cs"/>
              </a:rPr>
              <a:t>There are many built-in functions in python e.g. print()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000" b="0" i="0" u="none" strike="noStrike" kern="1200" cap="none" spc="0" normalizeH="0" baseline="0" noProof="0">
                <a:ln>
                  <a:noFill/>
                </a:ln>
                <a:solidFill>
                  <a:prstClr val="black"/>
                </a:solidFill>
                <a:effectLst/>
                <a:uLnTx/>
                <a:uFillTx/>
                <a:latin typeface="Corbel" panose="020B0503020204020204"/>
                <a:ea typeface="+mn-ea"/>
                <a:cs typeface="+mn-cs"/>
              </a:rPr>
              <a:t>The first 3 lines of code are repeated 3 times. We can define our own function for the menu</a:t>
            </a:r>
          </a:p>
        </p:txBody>
      </p:sp>
    </p:spTree>
    <p:extLst>
      <p:ext uri="{BB962C8B-B14F-4D97-AF65-F5344CB8AC3E}">
        <p14:creationId xmlns:p14="http://schemas.microsoft.com/office/powerpoint/2010/main" val="2329931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95301" y="609600"/>
            <a:ext cx="11239498" cy="561975"/>
          </a:xfrm>
        </p:spPr>
        <p:txBody>
          <a:bodyPr>
            <a:normAutofit fontScale="90000"/>
          </a:bodyPr>
          <a:lstStyle/>
          <a:p>
            <a:r>
              <a:rPr lang="en-IE">
                <a:solidFill>
                  <a:schemeClr val="tx1"/>
                </a:solidFill>
              </a:rPr>
              <a:t>Functions – Defining and calling a function</a:t>
            </a:r>
          </a:p>
        </p:txBody>
      </p:sp>
      <p:sp>
        <p:nvSpPr>
          <p:cNvPr id="3" name="TextBox 2">
            <a:extLst>
              <a:ext uri="{FF2B5EF4-FFF2-40B4-BE49-F238E27FC236}">
                <a16:creationId xmlns:a16="http://schemas.microsoft.com/office/drawing/2014/main" id="{2871C01E-D159-02D8-E333-B5CE43FC6005}"/>
              </a:ext>
            </a:extLst>
          </p:cNvPr>
          <p:cNvSpPr txBox="1"/>
          <p:nvPr/>
        </p:nvSpPr>
        <p:spPr>
          <a:xfrm>
            <a:off x="92106" y="1190625"/>
            <a:ext cx="10915650" cy="2204899"/>
          </a:xfrm>
          <a:prstGeom prst="rect">
            <a:avLst/>
          </a:prstGeom>
          <a:noFill/>
        </p:spPr>
        <p:txBody>
          <a:bodyPr wrap="square" rtlCol="0">
            <a:spAutoFit/>
          </a:bodyPr>
          <a:lstStyle/>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 </a:t>
            </a:r>
          </a:p>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endParaRPr kumimoji="0" lang="en-IE" sz="2400" b="0" i="0" u="none" strike="noStrike" kern="1200" cap="none" spc="0" normalizeH="0" baseline="0" noProof="0">
              <a:ln>
                <a:noFill/>
              </a:ln>
              <a:solidFill>
                <a:prstClr val="black"/>
              </a:solidFill>
              <a:effectLst/>
              <a:highlight>
                <a:srgbClr val="FFFF00"/>
              </a:highlight>
              <a:uLnTx/>
              <a:uFillTx/>
              <a:latin typeface="Corbel" panose="020B0503020204020204"/>
              <a:ea typeface="+mn-ea"/>
              <a:cs typeface="+mn-cs"/>
            </a:endParaRPr>
          </a:p>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endParaRPr kumimoji="0" lang="en-IE" sz="2400"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6" name="TextBox 5">
            <a:extLst>
              <a:ext uri="{FF2B5EF4-FFF2-40B4-BE49-F238E27FC236}">
                <a16:creationId xmlns:a16="http://schemas.microsoft.com/office/drawing/2014/main" id="{7EFF33EB-9FE2-C934-639F-D570AE396BC0}"/>
              </a:ext>
            </a:extLst>
          </p:cNvPr>
          <p:cNvSpPr txBox="1"/>
          <p:nvPr/>
        </p:nvSpPr>
        <p:spPr>
          <a:xfrm>
            <a:off x="7877189" y="1198208"/>
            <a:ext cx="3920679" cy="501675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000" b="0" i="0" u="none" strike="noStrike" kern="1200" cap="none" spc="0" normalizeH="0" baseline="0" noProof="0">
                <a:ln>
                  <a:noFill/>
                </a:ln>
                <a:solidFill>
                  <a:prstClr val="black"/>
                </a:solidFill>
                <a:effectLst/>
                <a:uLnTx/>
                <a:uFillTx/>
                <a:latin typeface="Corbel" panose="020B0503020204020204"/>
                <a:ea typeface="+mn-ea"/>
                <a:cs typeface="+mn-cs"/>
              </a:rPr>
              <a:t>- The first line of code contains the keyword def, the name of the function followed by a pair of brackets and semi-colon.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000" b="0" i="0" u="none" strike="noStrike" kern="1200" cap="none" spc="0" normalizeH="0" baseline="0" noProof="0">
                <a:ln>
                  <a:noFill/>
                </a:ln>
                <a:solidFill>
                  <a:prstClr val="black"/>
                </a:solidFill>
                <a:effectLst/>
                <a:uLnTx/>
                <a:uFillTx/>
                <a:latin typeface="Corbel" panose="020B0503020204020204"/>
                <a:ea typeface="+mn-ea"/>
                <a:cs typeface="+mn-cs"/>
              </a:rPr>
              <a:t>- It is followed by an indented block of code known as the function body.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000" b="0" i="0" u="none" strike="noStrike" kern="1200" cap="none" spc="0" normalizeH="0" baseline="0" noProof="0">
                <a:ln>
                  <a:noFill/>
                </a:ln>
                <a:solidFill>
                  <a:prstClr val="black"/>
                </a:solidFill>
                <a:effectLst/>
                <a:uLnTx/>
                <a:uFillTx/>
                <a:latin typeface="Corbel" panose="020B0503020204020204"/>
                <a:ea typeface="+mn-ea"/>
                <a:cs typeface="+mn-cs"/>
              </a:rPr>
              <a:t>This definition on its own WILL NOT run UNTIL it is called elsewhere in the code.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000" b="0" i="0" u="none" strike="noStrike" kern="1200" cap="none" spc="0" normalizeH="0" baseline="0" noProof="0">
                <a:ln>
                  <a:noFill/>
                </a:ln>
                <a:solidFill>
                  <a:prstClr val="black"/>
                </a:solidFill>
                <a:effectLst/>
                <a:uLnTx/>
                <a:uFillTx/>
                <a:latin typeface="Corbel" panose="020B0503020204020204"/>
                <a:ea typeface="+mn-ea"/>
                <a:cs typeface="+mn-cs"/>
              </a:rPr>
              <a:t>- The function must be defined before it can be called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000" b="0" i="0" u="none" strike="noStrike" kern="1200" cap="none" spc="0" normalizeH="0" baseline="0" noProof="0">
                <a:ln>
                  <a:noFill/>
                </a:ln>
                <a:solidFill>
                  <a:prstClr val="black"/>
                </a:solidFill>
                <a:effectLst/>
                <a:uLnTx/>
                <a:uFillTx/>
                <a:latin typeface="Corbel" panose="020B0503020204020204"/>
                <a:ea typeface="+mn-ea"/>
                <a:cs typeface="+mn-cs"/>
              </a:rPr>
              <a:t>- To call the function, type the name of the function followed by brackets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2000" b="0" i="0" u="none" strike="noStrike" kern="1200" cap="none" spc="0" normalizeH="0" baseline="0" noProof="0">
              <a:ln>
                <a:noFill/>
              </a:ln>
              <a:solidFill>
                <a:prstClr val="black"/>
              </a:solidFill>
              <a:effectLst/>
              <a:uLnTx/>
              <a:uFillTx/>
              <a:latin typeface="Corbel" panose="020B0503020204020204"/>
              <a:ea typeface="+mn-ea"/>
              <a:cs typeface="+mn-cs"/>
            </a:endParaRPr>
          </a:p>
        </p:txBody>
      </p:sp>
      <p:pic>
        <p:nvPicPr>
          <p:cNvPr id="9" name="Picture 8">
            <a:extLst>
              <a:ext uri="{FF2B5EF4-FFF2-40B4-BE49-F238E27FC236}">
                <a16:creationId xmlns:a16="http://schemas.microsoft.com/office/drawing/2014/main" id="{1C396086-242B-5D24-7373-B081F39FF2BB}"/>
              </a:ext>
            </a:extLst>
          </p:cNvPr>
          <p:cNvPicPr>
            <a:picLocks noChangeAspect="1"/>
          </p:cNvPicPr>
          <p:nvPr/>
        </p:nvPicPr>
        <p:blipFill>
          <a:blip r:embed="rId2"/>
          <a:stretch>
            <a:fillRect/>
          </a:stretch>
        </p:blipFill>
        <p:spPr>
          <a:xfrm>
            <a:off x="821092" y="1349406"/>
            <a:ext cx="5589952" cy="1455938"/>
          </a:xfrm>
          <a:prstGeom prst="rect">
            <a:avLst/>
          </a:prstGeom>
        </p:spPr>
      </p:pic>
      <p:pic>
        <p:nvPicPr>
          <p:cNvPr id="11" name="Picture 10">
            <a:extLst>
              <a:ext uri="{FF2B5EF4-FFF2-40B4-BE49-F238E27FC236}">
                <a16:creationId xmlns:a16="http://schemas.microsoft.com/office/drawing/2014/main" id="{42198545-7497-4694-0670-9CFA80BB01B9}"/>
              </a:ext>
            </a:extLst>
          </p:cNvPr>
          <p:cNvPicPr>
            <a:picLocks noChangeAspect="1"/>
          </p:cNvPicPr>
          <p:nvPr/>
        </p:nvPicPr>
        <p:blipFill>
          <a:blip r:embed="rId3"/>
          <a:stretch>
            <a:fillRect/>
          </a:stretch>
        </p:blipFill>
        <p:spPr>
          <a:xfrm>
            <a:off x="394132" y="3032763"/>
            <a:ext cx="7418165" cy="1772482"/>
          </a:xfrm>
          <a:prstGeom prst="rect">
            <a:avLst/>
          </a:prstGeom>
        </p:spPr>
      </p:pic>
    </p:spTree>
    <p:extLst>
      <p:ext uri="{BB962C8B-B14F-4D97-AF65-F5344CB8AC3E}">
        <p14:creationId xmlns:p14="http://schemas.microsoft.com/office/powerpoint/2010/main" val="3878804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95301" y="609600"/>
            <a:ext cx="11239498" cy="561975"/>
          </a:xfrm>
        </p:spPr>
        <p:txBody>
          <a:bodyPr>
            <a:normAutofit fontScale="90000"/>
          </a:bodyPr>
          <a:lstStyle/>
          <a:p>
            <a:r>
              <a:rPr lang="en-IE">
                <a:solidFill>
                  <a:schemeClr val="tx1"/>
                </a:solidFill>
              </a:rPr>
              <a:t>Functions – with arguments</a:t>
            </a:r>
          </a:p>
        </p:txBody>
      </p:sp>
      <p:sp>
        <p:nvSpPr>
          <p:cNvPr id="3" name="TextBox 2">
            <a:extLst>
              <a:ext uri="{FF2B5EF4-FFF2-40B4-BE49-F238E27FC236}">
                <a16:creationId xmlns:a16="http://schemas.microsoft.com/office/drawing/2014/main" id="{2871C01E-D159-02D8-E333-B5CE43FC6005}"/>
              </a:ext>
            </a:extLst>
          </p:cNvPr>
          <p:cNvSpPr txBox="1"/>
          <p:nvPr/>
        </p:nvSpPr>
        <p:spPr>
          <a:xfrm>
            <a:off x="92106" y="1190625"/>
            <a:ext cx="10915650" cy="2204899"/>
          </a:xfrm>
          <a:prstGeom prst="rect">
            <a:avLst/>
          </a:prstGeom>
          <a:noFill/>
        </p:spPr>
        <p:txBody>
          <a:bodyPr wrap="square" rtlCol="0">
            <a:spAutoFit/>
          </a:bodyPr>
          <a:lstStyle/>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 </a:t>
            </a:r>
          </a:p>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endParaRPr kumimoji="0" lang="en-IE" sz="2400" b="0" i="0" u="none" strike="noStrike" kern="1200" cap="none" spc="0" normalizeH="0" baseline="0" noProof="0">
              <a:ln>
                <a:noFill/>
              </a:ln>
              <a:solidFill>
                <a:prstClr val="black"/>
              </a:solidFill>
              <a:effectLst/>
              <a:highlight>
                <a:srgbClr val="FFFF00"/>
              </a:highlight>
              <a:uLnTx/>
              <a:uFillTx/>
              <a:latin typeface="Corbel" panose="020B0503020204020204"/>
              <a:ea typeface="+mn-ea"/>
              <a:cs typeface="+mn-cs"/>
            </a:endParaRPr>
          </a:p>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endParaRPr kumimoji="0" lang="en-IE" sz="2400"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6" name="TextBox 5">
            <a:extLst>
              <a:ext uri="{FF2B5EF4-FFF2-40B4-BE49-F238E27FC236}">
                <a16:creationId xmlns:a16="http://schemas.microsoft.com/office/drawing/2014/main" id="{7EFF33EB-9FE2-C934-639F-D570AE396BC0}"/>
              </a:ext>
            </a:extLst>
          </p:cNvPr>
          <p:cNvSpPr txBox="1"/>
          <p:nvPr/>
        </p:nvSpPr>
        <p:spPr>
          <a:xfrm>
            <a:off x="495301" y="1198208"/>
            <a:ext cx="11302567" cy="6129050"/>
          </a:xfrm>
          <a:prstGeom prst="rect">
            <a:avLst/>
          </a:prstGeom>
          <a:noFill/>
        </p:spPr>
        <p:txBody>
          <a:bodyPr wrap="square" rtlCol="0">
            <a:spAutoFit/>
          </a:bodyPr>
          <a:lstStyle/>
          <a:p>
            <a:pPr marL="342900" marR="0" lvl="0" indent="-3429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An argument is a variable or constant that can be passed into the function, for manipulation or use.</a:t>
            </a:r>
          </a:p>
          <a:p>
            <a:pPr marL="342900" marR="0" lvl="0" indent="-3429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BEFORE WRITING A FUNCTION, ITS GOOD PRACTICE TO DECIDE ON THREE THINGS</a:t>
            </a:r>
          </a:p>
          <a:p>
            <a:pPr marL="914400" marR="0" lvl="1" indent="-457200" algn="l" defTabSz="457200" rtl="0" eaLnBrk="1" fontAlgn="auto" latinLnBrk="0" hangingPunct="1">
              <a:lnSpc>
                <a:spcPct val="150000"/>
              </a:lnSpc>
              <a:spcBef>
                <a:spcPts val="0"/>
              </a:spcBef>
              <a:spcAft>
                <a:spcPts val="0"/>
              </a:spcAft>
              <a:buClrTx/>
              <a:buSzTx/>
              <a:buFont typeface="+mj-lt"/>
              <a:buAutoNum type="arabicPeriod"/>
              <a:tabLst/>
              <a:defRPr/>
            </a:pP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A suitable name for the function. The function name should be meaningful and start with a lowercase letter</a:t>
            </a:r>
          </a:p>
          <a:p>
            <a:pPr marL="914400" marR="0" lvl="1" indent="-457200" algn="l" defTabSz="457200" rtl="0" eaLnBrk="1" fontAlgn="auto" latinLnBrk="0" hangingPunct="1">
              <a:lnSpc>
                <a:spcPct val="150000"/>
              </a:lnSpc>
              <a:spcBef>
                <a:spcPts val="0"/>
              </a:spcBef>
              <a:spcAft>
                <a:spcPts val="0"/>
              </a:spcAft>
              <a:buClrTx/>
              <a:buSzTx/>
              <a:buFont typeface="+mj-lt"/>
              <a:buAutoNum type="arabicPeriod"/>
              <a:tabLst/>
              <a:defRPr/>
            </a:pP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The arguments required for the function to carry out its task</a:t>
            </a:r>
          </a:p>
          <a:p>
            <a:pPr marL="914400" marR="0" lvl="1" indent="-457200" algn="l" defTabSz="457200" rtl="0" eaLnBrk="1" fontAlgn="auto" latinLnBrk="0" hangingPunct="1">
              <a:lnSpc>
                <a:spcPct val="150000"/>
              </a:lnSpc>
              <a:spcBef>
                <a:spcPts val="0"/>
              </a:spcBef>
              <a:spcAft>
                <a:spcPts val="0"/>
              </a:spcAft>
              <a:buClrTx/>
              <a:buSzTx/>
              <a:buFont typeface="+mj-lt"/>
              <a:buAutoNum type="arabicPeriod"/>
              <a:tabLst/>
              <a:defRPr/>
            </a:pP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What the code body of the function consists of. This can be written as pseudocode first</a:t>
            </a:r>
          </a:p>
          <a:p>
            <a:pPr marL="342900" marR="0" lvl="0" indent="-3429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IE" sz="2400" b="0" i="0" u="none" strike="noStrike" kern="1200" cap="none" spc="0" normalizeH="0" baseline="0" noProof="0">
              <a:ln>
                <a:noFill/>
              </a:ln>
              <a:solidFill>
                <a:prstClr val="black"/>
              </a:solidFill>
              <a:effectLst/>
              <a:uLnTx/>
              <a:uFillTx/>
              <a:latin typeface="Corbel" panose="020B0503020204020204"/>
              <a:ea typeface="+mn-ea"/>
              <a:cs typeface="+mn-cs"/>
            </a:endParaRPr>
          </a:p>
          <a:p>
            <a:pPr marL="342900" marR="0" lvl="0" indent="-3429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IE" sz="2400" b="0" i="0" u="none" strike="noStrike" kern="1200" cap="none" spc="0" normalizeH="0" baseline="0" noProof="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2494219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95301" y="609600"/>
            <a:ext cx="11239498" cy="561975"/>
          </a:xfrm>
        </p:spPr>
        <p:txBody>
          <a:bodyPr>
            <a:normAutofit fontScale="90000"/>
          </a:bodyPr>
          <a:lstStyle/>
          <a:p>
            <a:r>
              <a:rPr lang="en-IE">
                <a:solidFill>
                  <a:schemeClr val="tx1"/>
                </a:solidFill>
              </a:rPr>
              <a:t>Functions – Calculate the volume of a sphere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56055C6-F86C-D98A-F57D-59AFD8383B12}"/>
                  </a:ext>
                </a:extLst>
              </p:cNvPr>
              <p:cNvSpPr txBox="1"/>
              <p:nvPr/>
            </p:nvSpPr>
            <p:spPr>
              <a:xfrm>
                <a:off x="612559" y="1376039"/>
                <a:ext cx="10759736" cy="4031873"/>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To calculate the volume of the sphere we use the formula Volume </a:t>
                </a:r>
                <a:r>
                  <a:rPr kumimoji="0" lang="en-IE" sz="2000" b="0" i="0" u="none" strike="noStrike" kern="1200" cap="none" spc="0" normalizeH="0" baseline="0" noProof="0">
                    <a:ln>
                      <a:noFill/>
                    </a:ln>
                    <a:solidFill>
                      <a:prstClr val="black"/>
                    </a:solidFill>
                    <a:effectLst/>
                    <a:uLnTx/>
                    <a:uFillTx/>
                    <a:latin typeface="Corbel" panose="020B0503020204020204"/>
                    <a:ea typeface="+mn-ea"/>
                    <a:cs typeface="+mn-cs"/>
                  </a:rPr>
                  <a:t> = </a:t>
                </a: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(4/3)</a:t>
                </a: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sym typeface="Symbol" panose="05050102010706020507" pitchFamily="18" charset="2"/>
                  </a:rPr>
                  <a:t></a:t>
                </a:r>
                <a14:m>
                  <m:oMath xmlns:m="http://schemas.openxmlformats.org/officeDocument/2006/math">
                    <m:sSup>
                      <m:sSupPr>
                        <m:ctrlPr>
                          <a:rPr kumimoji="0" lang="en-IE"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sym typeface="Symbol" panose="05050102010706020507" pitchFamily="18" charset="2"/>
                          </a:rPr>
                        </m:ctrlPr>
                      </m:sSupPr>
                      <m:e>
                        <m:r>
                          <a:rPr kumimoji="0" lang="en-IE"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sym typeface="Symbol" panose="05050102010706020507" pitchFamily="18" charset="2"/>
                          </a:rPr>
                          <m:t>𝑟</m:t>
                        </m:r>
                      </m:e>
                      <m:sup>
                        <m:r>
                          <a:rPr kumimoji="0" lang="en-IE"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sym typeface="Symbol" panose="05050102010706020507" pitchFamily="18" charset="2"/>
                          </a:rPr>
                          <m:t>3</m:t>
                        </m:r>
                      </m:sup>
                    </m:sSup>
                  </m:oMath>
                </a14:m>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For the volume of the sphere, we might consider:</a:t>
                </a:r>
              </a:p>
              <a:p>
                <a:pPr marL="971550" marR="0" lvl="1" indent="-514350" algn="l" defTabSz="457200" rtl="0" eaLnBrk="1" fontAlgn="auto" latinLnBrk="0" hangingPunct="1">
                  <a:lnSpc>
                    <a:spcPct val="100000"/>
                  </a:lnSpc>
                  <a:spcBef>
                    <a:spcPts val="0"/>
                  </a:spcBef>
                  <a:spcAft>
                    <a:spcPts val="0"/>
                  </a:spcAft>
                  <a:buClrTx/>
                  <a:buSzTx/>
                  <a:buFont typeface="+mj-lt"/>
                  <a:buAutoNum type="arabicPeriod"/>
                  <a:tabLst/>
                  <a:defRPr/>
                </a:pPr>
                <a:r>
                  <a:rPr kumimoji="0" lang="en-IE" sz="3200" b="0" i="0" u="none" strike="noStrike" kern="1200" cap="none" spc="0" normalizeH="0" baseline="0" noProof="0" err="1">
                    <a:ln>
                      <a:noFill/>
                    </a:ln>
                    <a:solidFill>
                      <a:prstClr val="black"/>
                    </a:solidFill>
                    <a:effectLst/>
                    <a:uLnTx/>
                    <a:uFillTx/>
                    <a:latin typeface="Corbel" panose="020B0503020204020204"/>
                    <a:ea typeface="+mn-ea"/>
                    <a:cs typeface="+mn-cs"/>
                  </a:rPr>
                  <a:t>calculateVolumeOfSphere</a:t>
                </a: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 as the function name</a:t>
                </a:r>
              </a:p>
              <a:p>
                <a:pPr marL="971550" marR="0" lvl="1" indent="-514350" algn="l" defTabSz="457200" rtl="0" eaLnBrk="1" fontAlgn="auto" latinLnBrk="0" hangingPunct="1">
                  <a:lnSpc>
                    <a:spcPct val="100000"/>
                  </a:lnSpc>
                  <a:spcBef>
                    <a:spcPts val="0"/>
                  </a:spcBef>
                  <a:spcAft>
                    <a:spcPts val="0"/>
                  </a:spcAft>
                  <a:buClrTx/>
                  <a:buSzTx/>
                  <a:buFont typeface="+mj-lt"/>
                  <a:buAutoNum type="arabicPeriod"/>
                  <a:tabLst/>
                  <a:defRPr/>
                </a:pP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The radius is needed as an argument, </a:t>
                </a:r>
                <a:r>
                  <a:rPr kumimoji="0" lang="en-IE" sz="3200" b="0" i="0" u="none" strike="noStrike" kern="1200" cap="none" spc="0" normalizeH="0" baseline="0" noProof="0" err="1">
                    <a:ln>
                      <a:noFill/>
                    </a:ln>
                    <a:solidFill>
                      <a:prstClr val="black"/>
                    </a:solidFill>
                    <a:effectLst/>
                    <a:uLnTx/>
                    <a:uFillTx/>
                    <a:latin typeface="Corbel" panose="020B0503020204020204"/>
                    <a:ea typeface="+mn-ea"/>
                    <a:cs typeface="+mn-cs"/>
                  </a:rPr>
                  <a:t>radiusIn</a:t>
                </a: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a:p>
                <a:pPr marL="971550" marR="0" lvl="1" indent="-514350" algn="l" defTabSz="457200" rtl="0" eaLnBrk="1" fontAlgn="auto" latinLnBrk="0" hangingPunct="1">
                  <a:lnSpc>
                    <a:spcPct val="100000"/>
                  </a:lnSpc>
                  <a:spcBef>
                    <a:spcPts val="0"/>
                  </a:spcBef>
                  <a:spcAft>
                    <a:spcPts val="0"/>
                  </a:spcAft>
                  <a:buClrTx/>
                  <a:buSzTx/>
                  <a:buFont typeface="+mj-lt"/>
                  <a:buAutoNum type="arabicPeriod"/>
                  <a:tabLst/>
                  <a:defRPr/>
                </a:pP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Calculate and display (4/3) * 3.14 * </a:t>
                </a:r>
                <a:r>
                  <a:rPr kumimoji="0" lang="en-IE" sz="3200" b="0" i="0" u="none" strike="noStrike" kern="1200" cap="none" spc="0" normalizeH="0" baseline="0" noProof="0" err="1">
                    <a:ln>
                      <a:noFill/>
                    </a:ln>
                    <a:solidFill>
                      <a:prstClr val="black"/>
                    </a:solidFill>
                    <a:effectLst/>
                    <a:uLnTx/>
                    <a:uFillTx/>
                    <a:latin typeface="Corbel" panose="020B0503020204020204"/>
                    <a:ea typeface="+mn-ea"/>
                    <a:cs typeface="+mn-cs"/>
                  </a:rPr>
                  <a:t>radiusIn</a:t>
                </a: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 ** 3</a:t>
                </a:r>
              </a:p>
              <a:p>
                <a:pPr marL="971550" marR="0" lvl="1" indent="-51435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p:txBody>
          </p:sp>
        </mc:Choice>
        <mc:Fallback xmlns="">
          <p:sp>
            <p:nvSpPr>
              <p:cNvPr id="4" name="TextBox 3">
                <a:extLst>
                  <a:ext uri="{FF2B5EF4-FFF2-40B4-BE49-F238E27FC236}">
                    <a16:creationId xmlns:a16="http://schemas.microsoft.com/office/drawing/2014/main" id="{856055C6-F86C-D98A-F57D-59AFD8383B12}"/>
                  </a:ext>
                </a:extLst>
              </p:cNvPr>
              <p:cNvSpPr txBox="1">
                <a:spLocks noRot="1" noChangeAspect="1" noMove="1" noResize="1" noEditPoints="1" noAdjustHandles="1" noChangeArrowheads="1" noChangeShapeType="1" noTextEdit="1"/>
              </p:cNvSpPr>
              <p:nvPr/>
            </p:nvSpPr>
            <p:spPr>
              <a:xfrm>
                <a:off x="612559" y="1376039"/>
                <a:ext cx="10759736" cy="4031873"/>
              </a:xfrm>
              <a:prstGeom prst="rect">
                <a:avLst/>
              </a:prstGeom>
              <a:blipFill>
                <a:blip r:embed="rId2"/>
                <a:stretch>
                  <a:fillRect l="-1302" t="-1967"/>
                </a:stretch>
              </a:blipFill>
            </p:spPr>
            <p:txBody>
              <a:bodyPr/>
              <a:lstStyle/>
              <a:p>
                <a:r>
                  <a:rPr lang="en-US">
                    <a:noFill/>
                  </a:rPr>
                  <a:t> </a:t>
                </a:r>
              </a:p>
            </p:txBody>
          </p:sp>
        </mc:Fallback>
      </mc:AlternateContent>
    </p:spTree>
    <p:extLst>
      <p:ext uri="{BB962C8B-B14F-4D97-AF65-F5344CB8AC3E}">
        <p14:creationId xmlns:p14="http://schemas.microsoft.com/office/powerpoint/2010/main" val="2050739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95301" y="609600"/>
            <a:ext cx="11239498" cy="561975"/>
          </a:xfrm>
        </p:spPr>
        <p:txBody>
          <a:bodyPr>
            <a:normAutofit fontScale="90000"/>
          </a:bodyPr>
          <a:lstStyle/>
          <a:p>
            <a:r>
              <a:rPr lang="en-IE">
                <a:solidFill>
                  <a:schemeClr val="tx1"/>
                </a:solidFill>
              </a:rPr>
              <a:t>Functions – Calculate the volume of a sphere</a:t>
            </a:r>
          </a:p>
        </p:txBody>
      </p:sp>
      <p:sp>
        <p:nvSpPr>
          <p:cNvPr id="3" name="TextBox 2">
            <a:extLst>
              <a:ext uri="{FF2B5EF4-FFF2-40B4-BE49-F238E27FC236}">
                <a16:creationId xmlns:a16="http://schemas.microsoft.com/office/drawing/2014/main" id="{2871C01E-D159-02D8-E333-B5CE43FC6005}"/>
              </a:ext>
            </a:extLst>
          </p:cNvPr>
          <p:cNvSpPr txBox="1"/>
          <p:nvPr/>
        </p:nvSpPr>
        <p:spPr>
          <a:xfrm>
            <a:off x="92106" y="1190625"/>
            <a:ext cx="10915650" cy="2204899"/>
          </a:xfrm>
          <a:prstGeom prst="rect">
            <a:avLst/>
          </a:prstGeom>
          <a:noFill/>
        </p:spPr>
        <p:txBody>
          <a:bodyPr wrap="square" rtlCol="0">
            <a:spAutoFit/>
          </a:bodyPr>
          <a:lstStyle/>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 </a:t>
            </a:r>
          </a:p>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endParaRPr kumimoji="0" lang="en-IE" sz="2400" b="0" i="0" u="none" strike="noStrike" kern="1200" cap="none" spc="0" normalizeH="0" baseline="0" noProof="0">
              <a:ln>
                <a:noFill/>
              </a:ln>
              <a:solidFill>
                <a:prstClr val="black"/>
              </a:solidFill>
              <a:effectLst/>
              <a:highlight>
                <a:srgbClr val="FFFF00"/>
              </a:highlight>
              <a:uLnTx/>
              <a:uFillTx/>
              <a:latin typeface="Corbel" panose="020B0503020204020204"/>
              <a:ea typeface="+mn-ea"/>
              <a:cs typeface="+mn-cs"/>
            </a:endParaRPr>
          </a:p>
          <a:p>
            <a:pPr marL="285750" marR="0" lvl="0" indent="-285750" algn="l"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endParaRPr kumimoji="0" lang="en-IE" sz="2400" b="0" i="0" u="none" strike="noStrike" kern="1200" cap="none" spc="0" normalizeH="0" baseline="0" noProof="0">
              <a:ln>
                <a:noFill/>
              </a:ln>
              <a:solidFill>
                <a:prstClr val="black"/>
              </a:solidFill>
              <a:effectLst/>
              <a:uLnTx/>
              <a:uFillTx/>
              <a:latin typeface="Corbel" panose="020B0503020204020204"/>
              <a:ea typeface="+mn-ea"/>
              <a:cs typeface="+mn-cs"/>
            </a:endParaRPr>
          </a:p>
        </p:txBody>
      </p:sp>
      <p:pic>
        <p:nvPicPr>
          <p:cNvPr id="5" name="Picture 4">
            <a:extLst>
              <a:ext uri="{FF2B5EF4-FFF2-40B4-BE49-F238E27FC236}">
                <a16:creationId xmlns:a16="http://schemas.microsoft.com/office/drawing/2014/main" id="{A928D491-C796-5468-B05B-E9D0BB2E6386}"/>
              </a:ext>
            </a:extLst>
          </p:cNvPr>
          <p:cNvPicPr>
            <a:picLocks noChangeAspect="1"/>
          </p:cNvPicPr>
          <p:nvPr/>
        </p:nvPicPr>
        <p:blipFill>
          <a:blip r:embed="rId2"/>
          <a:stretch>
            <a:fillRect/>
          </a:stretch>
        </p:blipFill>
        <p:spPr>
          <a:xfrm>
            <a:off x="669940" y="1534302"/>
            <a:ext cx="9372561" cy="2645588"/>
          </a:xfrm>
          <a:prstGeom prst="rect">
            <a:avLst/>
          </a:prstGeom>
        </p:spPr>
      </p:pic>
    </p:spTree>
    <p:extLst>
      <p:ext uri="{BB962C8B-B14F-4D97-AF65-F5344CB8AC3E}">
        <p14:creationId xmlns:p14="http://schemas.microsoft.com/office/powerpoint/2010/main" val="2217963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873039"/>
            <a:ext cx="11239498" cy="561975"/>
          </a:xfrm>
        </p:spPr>
        <p:txBody>
          <a:bodyPr>
            <a:normAutofit fontScale="90000"/>
          </a:bodyPr>
          <a:lstStyle/>
          <a:p>
            <a:r>
              <a:rPr lang="en-IE">
                <a:solidFill>
                  <a:schemeClr val="tx1"/>
                </a:solidFill>
              </a:rPr>
              <a:t>Functions – with multiple arguments  -&gt; calculate volume of cylinder</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9E162AF-AD56-D960-1396-77593E28E1AE}"/>
                  </a:ext>
                </a:extLst>
              </p:cNvPr>
              <p:cNvSpPr txBox="1"/>
              <p:nvPr/>
            </p:nvSpPr>
            <p:spPr>
              <a:xfrm>
                <a:off x="495301" y="1953088"/>
                <a:ext cx="10759736" cy="4031873"/>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To calculate the volume of the cylinder we use the formula Volume </a:t>
                </a:r>
                <a:r>
                  <a:rPr kumimoji="0" lang="en-IE" sz="2000" b="0" i="0" u="none" strike="noStrike" kern="1200" cap="none" spc="0" normalizeH="0" baseline="0" noProof="0">
                    <a:ln>
                      <a:noFill/>
                    </a:ln>
                    <a:solidFill>
                      <a:prstClr val="black"/>
                    </a:solidFill>
                    <a:effectLst/>
                    <a:uLnTx/>
                    <a:uFillTx/>
                    <a:latin typeface="Corbel" panose="020B0503020204020204"/>
                    <a:ea typeface="+mn-ea"/>
                    <a:cs typeface="+mn-cs"/>
                  </a:rPr>
                  <a:t> = </a:t>
                </a: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sym typeface="Symbol" panose="05050102010706020507" pitchFamily="18" charset="2"/>
                  </a:rPr>
                  <a:t>h</a:t>
                </a:r>
                <a14:m>
                  <m:oMath xmlns:m="http://schemas.openxmlformats.org/officeDocument/2006/math">
                    <m:sSup>
                      <m:sSupPr>
                        <m:ctrlPr>
                          <a:rPr kumimoji="0" lang="en-IE"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sym typeface="Symbol" panose="05050102010706020507" pitchFamily="18" charset="2"/>
                          </a:rPr>
                        </m:ctrlPr>
                      </m:sSupPr>
                      <m:e>
                        <m:r>
                          <a:rPr kumimoji="0" lang="en-IE"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sym typeface="Symbol" panose="05050102010706020507" pitchFamily="18" charset="2"/>
                          </a:rPr>
                          <m:t>𝑟</m:t>
                        </m:r>
                      </m:e>
                      <m:sup>
                        <m:r>
                          <a:rPr kumimoji="0" lang="en-IE"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sym typeface="Symbol" panose="05050102010706020507" pitchFamily="18" charset="2"/>
                          </a:rPr>
                          <m:t>2</m:t>
                        </m:r>
                      </m:sup>
                    </m:sSup>
                  </m:oMath>
                </a14:m>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For the volume of the </a:t>
                </a:r>
                <a:r>
                  <a:rPr kumimoji="0" lang="en-IE" sz="3200" b="0" i="0" u="none" strike="noStrike" kern="1200" cap="none" spc="0" normalizeH="0" baseline="0" noProof="0" err="1">
                    <a:ln>
                      <a:noFill/>
                    </a:ln>
                    <a:solidFill>
                      <a:prstClr val="black"/>
                    </a:solidFill>
                    <a:effectLst/>
                    <a:uLnTx/>
                    <a:uFillTx/>
                    <a:latin typeface="Corbel" panose="020B0503020204020204"/>
                    <a:ea typeface="+mn-ea"/>
                    <a:cs typeface="+mn-cs"/>
                  </a:rPr>
                  <a:t>cylindr</a:t>
                </a: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 we might consider:</a:t>
                </a:r>
              </a:p>
              <a:p>
                <a:pPr marL="971550" marR="0" lvl="1" indent="-514350" algn="l" defTabSz="457200" rtl="0" eaLnBrk="1" fontAlgn="auto" latinLnBrk="0" hangingPunct="1">
                  <a:lnSpc>
                    <a:spcPct val="100000"/>
                  </a:lnSpc>
                  <a:spcBef>
                    <a:spcPts val="0"/>
                  </a:spcBef>
                  <a:spcAft>
                    <a:spcPts val="0"/>
                  </a:spcAft>
                  <a:buClrTx/>
                  <a:buSzTx/>
                  <a:buFont typeface="+mj-lt"/>
                  <a:buAutoNum type="arabicPeriod"/>
                  <a:tabLst/>
                  <a:defRPr/>
                </a:pPr>
                <a:r>
                  <a:rPr kumimoji="0" lang="en-IE" sz="3200" b="0" i="0" u="none" strike="noStrike" kern="1200" cap="none" spc="0" normalizeH="0" baseline="0" noProof="0" err="1">
                    <a:ln>
                      <a:noFill/>
                    </a:ln>
                    <a:solidFill>
                      <a:prstClr val="black"/>
                    </a:solidFill>
                    <a:effectLst/>
                    <a:uLnTx/>
                    <a:uFillTx/>
                    <a:latin typeface="Corbel" panose="020B0503020204020204"/>
                    <a:ea typeface="+mn-ea"/>
                    <a:cs typeface="+mn-cs"/>
                  </a:rPr>
                  <a:t>calculateVolumeOfCylinday</a:t>
                </a: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 as the function name</a:t>
                </a:r>
              </a:p>
              <a:p>
                <a:pPr marL="971550" marR="0" lvl="1" indent="-514350" algn="l" defTabSz="457200" rtl="0" eaLnBrk="1" fontAlgn="auto" latinLnBrk="0" hangingPunct="1">
                  <a:lnSpc>
                    <a:spcPct val="100000"/>
                  </a:lnSpc>
                  <a:spcBef>
                    <a:spcPts val="0"/>
                  </a:spcBef>
                  <a:spcAft>
                    <a:spcPts val="0"/>
                  </a:spcAft>
                  <a:buClrTx/>
                  <a:buSzTx/>
                  <a:buFont typeface="+mj-lt"/>
                  <a:buAutoNum type="arabicPeriod"/>
                  <a:tabLst/>
                  <a:defRPr/>
                </a:pP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Need 2 arguments, </a:t>
                </a:r>
                <a:r>
                  <a:rPr kumimoji="0" lang="en-IE" sz="3200" b="1" i="0" u="sng" strike="noStrike" kern="1200" cap="none" spc="0" normalizeH="0" baseline="0" noProof="0">
                    <a:ln>
                      <a:noFill/>
                    </a:ln>
                    <a:solidFill>
                      <a:prstClr val="black"/>
                    </a:solidFill>
                    <a:effectLst/>
                    <a:uLnTx/>
                    <a:uFillTx/>
                    <a:latin typeface="Corbel" panose="020B0503020204020204"/>
                    <a:ea typeface="+mn-ea"/>
                    <a:cs typeface="+mn-cs"/>
                  </a:rPr>
                  <a:t>radius</a:t>
                </a: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 and </a:t>
                </a:r>
                <a:r>
                  <a:rPr kumimoji="0" lang="en-IE" sz="3200" b="1" i="0" u="sng" strike="noStrike" kern="1200" cap="none" spc="0" normalizeH="0" baseline="0" noProof="0">
                    <a:ln>
                      <a:noFill/>
                    </a:ln>
                    <a:solidFill>
                      <a:prstClr val="black"/>
                    </a:solidFill>
                    <a:effectLst/>
                    <a:uLnTx/>
                    <a:uFillTx/>
                    <a:latin typeface="Corbel" panose="020B0503020204020204"/>
                    <a:ea typeface="+mn-ea"/>
                    <a:cs typeface="+mn-cs"/>
                  </a:rPr>
                  <a:t>height</a:t>
                </a: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 of the cylinder</a:t>
                </a:r>
              </a:p>
              <a:p>
                <a:pPr marL="971550" marR="0" lvl="1" indent="-514350" algn="l" defTabSz="457200" rtl="0" eaLnBrk="1" fontAlgn="auto" latinLnBrk="0" hangingPunct="1">
                  <a:lnSpc>
                    <a:spcPct val="100000"/>
                  </a:lnSpc>
                  <a:spcBef>
                    <a:spcPts val="0"/>
                  </a:spcBef>
                  <a:spcAft>
                    <a:spcPts val="0"/>
                  </a:spcAft>
                  <a:buClrTx/>
                  <a:buSzTx/>
                  <a:buFont typeface="+mj-lt"/>
                  <a:buAutoNum type="arabicPeriod"/>
                  <a:tabLst/>
                  <a:defRPr/>
                </a:pP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Calculate and display 3.14 *height * (radius ** 2)</a:t>
                </a:r>
              </a:p>
              <a:p>
                <a:pPr marL="971550" marR="0" lvl="1" indent="-51435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p:txBody>
          </p:sp>
        </mc:Choice>
        <mc:Fallback xmlns="">
          <p:sp>
            <p:nvSpPr>
              <p:cNvPr id="4" name="TextBox 3">
                <a:extLst>
                  <a:ext uri="{FF2B5EF4-FFF2-40B4-BE49-F238E27FC236}">
                    <a16:creationId xmlns:a16="http://schemas.microsoft.com/office/drawing/2014/main" id="{A9E162AF-AD56-D960-1396-77593E28E1AE}"/>
                  </a:ext>
                </a:extLst>
              </p:cNvPr>
              <p:cNvSpPr txBox="1">
                <a:spLocks noRot="1" noChangeAspect="1" noMove="1" noResize="1" noEditPoints="1" noAdjustHandles="1" noChangeArrowheads="1" noChangeShapeType="1" noTextEdit="1"/>
              </p:cNvSpPr>
              <p:nvPr/>
            </p:nvSpPr>
            <p:spPr>
              <a:xfrm>
                <a:off x="495301" y="1953088"/>
                <a:ext cx="10759736" cy="4031873"/>
              </a:xfrm>
              <a:prstGeom prst="rect">
                <a:avLst/>
              </a:prstGeom>
              <a:blipFill>
                <a:blip r:embed="rId2"/>
                <a:stretch>
                  <a:fillRect l="-1303" t="-1964"/>
                </a:stretch>
              </a:blipFill>
            </p:spPr>
            <p:txBody>
              <a:bodyPr/>
              <a:lstStyle/>
              <a:p>
                <a:r>
                  <a:rPr lang="en-US">
                    <a:noFill/>
                  </a:rPr>
                  <a:t> </a:t>
                </a:r>
              </a:p>
            </p:txBody>
          </p:sp>
        </mc:Fallback>
      </mc:AlternateContent>
    </p:spTree>
    <p:extLst>
      <p:ext uri="{BB962C8B-B14F-4D97-AF65-F5344CB8AC3E}">
        <p14:creationId xmlns:p14="http://schemas.microsoft.com/office/powerpoint/2010/main" val="1540916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873039"/>
            <a:ext cx="11239498" cy="561975"/>
          </a:xfrm>
        </p:spPr>
        <p:txBody>
          <a:bodyPr>
            <a:normAutofit fontScale="90000"/>
          </a:bodyPr>
          <a:lstStyle/>
          <a:p>
            <a:r>
              <a:rPr lang="en-IE">
                <a:solidFill>
                  <a:schemeClr val="tx1"/>
                </a:solidFill>
              </a:rPr>
              <a:t>Functions – with multiple arguments  -&gt; calculate volume of cylinder</a:t>
            </a:r>
          </a:p>
        </p:txBody>
      </p:sp>
      <p:pic>
        <p:nvPicPr>
          <p:cNvPr id="5" name="Picture 4">
            <a:extLst>
              <a:ext uri="{FF2B5EF4-FFF2-40B4-BE49-F238E27FC236}">
                <a16:creationId xmlns:a16="http://schemas.microsoft.com/office/drawing/2014/main" id="{27601459-2F28-1B6D-1955-EB4AD103E8AA}"/>
              </a:ext>
            </a:extLst>
          </p:cNvPr>
          <p:cNvPicPr>
            <a:picLocks noChangeAspect="1"/>
          </p:cNvPicPr>
          <p:nvPr/>
        </p:nvPicPr>
        <p:blipFill>
          <a:blip r:embed="rId2"/>
          <a:stretch>
            <a:fillRect/>
          </a:stretch>
        </p:blipFill>
        <p:spPr>
          <a:xfrm>
            <a:off x="599103" y="1854646"/>
            <a:ext cx="9702632" cy="3081338"/>
          </a:xfrm>
          <a:prstGeom prst="rect">
            <a:avLst/>
          </a:prstGeom>
        </p:spPr>
      </p:pic>
    </p:spTree>
    <p:extLst>
      <p:ext uri="{BB962C8B-B14F-4D97-AF65-F5344CB8AC3E}">
        <p14:creationId xmlns:p14="http://schemas.microsoft.com/office/powerpoint/2010/main" val="2517911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873039"/>
            <a:ext cx="11239498" cy="561975"/>
          </a:xfrm>
        </p:spPr>
        <p:txBody>
          <a:bodyPr>
            <a:normAutofit fontScale="90000"/>
          </a:bodyPr>
          <a:lstStyle/>
          <a:p>
            <a:r>
              <a:rPr lang="en-IE">
                <a:solidFill>
                  <a:schemeClr val="tx1"/>
                </a:solidFill>
              </a:rPr>
              <a:t>Functions – using arguments in different order</a:t>
            </a:r>
          </a:p>
        </p:txBody>
      </p:sp>
      <p:pic>
        <p:nvPicPr>
          <p:cNvPr id="6" name="Picture 5">
            <a:extLst>
              <a:ext uri="{FF2B5EF4-FFF2-40B4-BE49-F238E27FC236}">
                <a16:creationId xmlns:a16="http://schemas.microsoft.com/office/drawing/2014/main" id="{A43A4B62-208E-3CB0-675C-D2CD834F357D}"/>
              </a:ext>
            </a:extLst>
          </p:cNvPr>
          <p:cNvPicPr>
            <a:picLocks noChangeAspect="1"/>
          </p:cNvPicPr>
          <p:nvPr/>
        </p:nvPicPr>
        <p:blipFill>
          <a:blip r:embed="rId2"/>
          <a:stretch>
            <a:fillRect/>
          </a:stretch>
        </p:blipFill>
        <p:spPr>
          <a:xfrm>
            <a:off x="476251" y="1578098"/>
            <a:ext cx="7315199" cy="1994036"/>
          </a:xfrm>
          <a:prstGeom prst="rect">
            <a:avLst/>
          </a:prstGeom>
        </p:spPr>
      </p:pic>
      <p:pic>
        <p:nvPicPr>
          <p:cNvPr id="8" name="Picture 7">
            <a:extLst>
              <a:ext uri="{FF2B5EF4-FFF2-40B4-BE49-F238E27FC236}">
                <a16:creationId xmlns:a16="http://schemas.microsoft.com/office/drawing/2014/main" id="{4D84C5F2-CD70-83EF-5FB5-A077CACC1BB2}"/>
              </a:ext>
            </a:extLst>
          </p:cNvPr>
          <p:cNvPicPr>
            <a:picLocks noChangeAspect="1"/>
          </p:cNvPicPr>
          <p:nvPr/>
        </p:nvPicPr>
        <p:blipFill>
          <a:blip r:embed="rId3"/>
          <a:stretch>
            <a:fillRect/>
          </a:stretch>
        </p:blipFill>
        <p:spPr>
          <a:xfrm>
            <a:off x="576262" y="4395787"/>
            <a:ext cx="5261722" cy="1366838"/>
          </a:xfrm>
          <a:prstGeom prst="rect">
            <a:avLst/>
          </a:prstGeom>
        </p:spPr>
      </p:pic>
      <p:sp>
        <p:nvSpPr>
          <p:cNvPr id="9" name="TextBox 8">
            <a:extLst>
              <a:ext uri="{FF2B5EF4-FFF2-40B4-BE49-F238E27FC236}">
                <a16:creationId xmlns:a16="http://schemas.microsoft.com/office/drawing/2014/main" id="{6E3AA01A-D530-C445-0D45-DC485E47F0E4}"/>
              </a:ext>
            </a:extLst>
          </p:cNvPr>
          <p:cNvSpPr txBox="1"/>
          <p:nvPr/>
        </p:nvSpPr>
        <p:spPr>
          <a:xfrm>
            <a:off x="7995081" y="1940018"/>
            <a:ext cx="3720668" cy="286232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000" b="0" i="0" u="none" strike="noStrike" kern="1200" cap="none" spc="0" normalizeH="0" baseline="0" noProof="0">
                <a:ln>
                  <a:noFill/>
                </a:ln>
                <a:solidFill>
                  <a:prstClr val="black"/>
                </a:solidFill>
                <a:effectLst/>
                <a:uLnTx/>
                <a:uFillTx/>
                <a:latin typeface="Corbel" panose="020B0503020204020204"/>
                <a:ea typeface="+mn-ea"/>
                <a:cs typeface="+mn-cs"/>
              </a:rPr>
              <a:t>-When calling a function, the arguments MUST match the order used when defining the function.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000" b="0" i="0" u="none" strike="noStrike" kern="1200" cap="none" spc="0" normalizeH="0" baseline="0" noProof="0">
                <a:ln>
                  <a:noFill/>
                </a:ln>
                <a:solidFill>
                  <a:prstClr val="black"/>
                </a:solidFill>
                <a:effectLst/>
                <a:uLnTx/>
                <a:uFillTx/>
                <a:latin typeface="Corbel" panose="020B0503020204020204"/>
                <a:ea typeface="+mn-ea"/>
                <a:cs typeface="+mn-cs"/>
              </a:rPr>
              <a:t>We defined the function as </a:t>
            </a:r>
            <a:r>
              <a:rPr kumimoji="0" lang="en-IE" sz="2000" b="0" i="0" u="none" strike="noStrike" kern="1200" cap="none" spc="0" normalizeH="0" baseline="0" noProof="0" err="1">
                <a:ln>
                  <a:noFill/>
                </a:ln>
                <a:solidFill>
                  <a:prstClr val="black"/>
                </a:solidFill>
                <a:effectLst/>
                <a:uLnTx/>
                <a:uFillTx/>
                <a:latin typeface="Corbel" panose="020B0503020204020204"/>
                <a:ea typeface="+mn-ea"/>
                <a:cs typeface="+mn-cs"/>
              </a:rPr>
              <a:t>calculateVolumeOfCylinder</a:t>
            </a:r>
            <a:r>
              <a:rPr kumimoji="0" lang="en-IE" sz="2000" b="0" i="0" u="none" strike="noStrike" kern="1200" cap="none" spc="0" normalizeH="0" baseline="0" noProof="0">
                <a:ln>
                  <a:noFill/>
                </a:ln>
                <a:solidFill>
                  <a:prstClr val="black"/>
                </a:solidFill>
                <a:effectLst/>
                <a:uLnTx/>
                <a:uFillTx/>
                <a:latin typeface="Corbel" panose="020B0503020204020204"/>
                <a:ea typeface="+mn-ea"/>
                <a:cs typeface="+mn-cs"/>
              </a:rPr>
              <a:t>(</a:t>
            </a:r>
            <a:r>
              <a:rPr kumimoji="0" lang="en-IE" sz="2000" b="0" i="0" u="none" strike="noStrike" kern="1200" cap="none" spc="0" normalizeH="0" baseline="0" noProof="0" err="1">
                <a:ln>
                  <a:noFill/>
                </a:ln>
                <a:solidFill>
                  <a:prstClr val="black"/>
                </a:solidFill>
                <a:effectLst/>
                <a:uLnTx/>
                <a:uFillTx/>
                <a:latin typeface="Corbel" panose="020B0503020204020204"/>
                <a:ea typeface="+mn-ea"/>
                <a:cs typeface="+mn-cs"/>
              </a:rPr>
              <a:t>radius,height</a:t>
            </a:r>
            <a:r>
              <a:rPr kumimoji="0" lang="en-IE" sz="2000" b="0" i="0" u="none" strike="noStrike" kern="1200" cap="none" spc="0" normalizeH="0" baseline="0" noProof="0">
                <a:ln>
                  <a:noFill/>
                </a:ln>
                <a:solidFill>
                  <a:prstClr val="black"/>
                </a:solidFill>
                <a:effectLst/>
                <a:uLnTx/>
                <a:uFillTx/>
                <a:latin typeface="Corbel" panose="020B0503020204020204"/>
                <a:ea typeface="+mn-ea"/>
                <a:cs typeface="+mn-cs"/>
              </a:rPr>
              <a:t>). The first argument must be the radius and the second is height. </a:t>
            </a:r>
          </a:p>
        </p:txBody>
      </p:sp>
    </p:spTree>
    <p:extLst>
      <p:ext uri="{BB962C8B-B14F-4D97-AF65-F5344CB8AC3E}">
        <p14:creationId xmlns:p14="http://schemas.microsoft.com/office/powerpoint/2010/main" val="660399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209550" y="530139"/>
            <a:ext cx="11496674" cy="561975"/>
          </a:xfrm>
        </p:spPr>
        <p:txBody>
          <a:bodyPr>
            <a:normAutofit fontScale="90000"/>
          </a:bodyPr>
          <a:lstStyle/>
          <a:p>
            <a:r>
              <a:rPr lang="en-IE">
                <a:solidFill>
                  <a:schemeClr val="tx1"/>
                </a:solidFill>
              </a:rPr>
              <a:t>Functions – calling functions with keyword arguments</a:t>
            </a:r>
          </a:p>
        </p:txBody>
      </p:sp>
      <p:sp>
        <p:nvSpPr>
          <p:cNvPr id="3" name="TextBox 2">
            <a:extLst>
              <a:ext uri="{FF2B5EF4-FFF2-40B4-BE49-F238E27FC236}">
                <a16:creationId xmlns:a16="http://schemas.microsoft.com/office/drawing/2014/main" id="{C58690B2-A92D-3998-CBBF-D7BA7F310FED}"/>
              </a:ext>
            </a:extLst>
          </p:cNvPr>
          <p:cNvSpPr txBox="1"/>
          <p:nvPr/>
        </p:nvSpPr>
        <p:spPr>
          <a:xfrm>
            <a:off x="381001" y="1182244"/>
            <a:ext cx="10759736" cy="4524315"/>
          </a:xfrm>
          <a:prstGeom prst="rect">
            <a:avLst/>
          </a:prstGeom>
          <a:noFill/>
        </p:spPr>
        <p:txBody>
          <a:bodyPr wrap="square" rtlCol="0">
            <a:spAutoFit/>
          </a:bodyPr>
          <a:lstStyle/>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Using keyword arguments can help to ensure that arguments appear in the correct order when calling functions.</a:t>
            </a: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In this code, height=h and radius=r are referred to as key arguments. We use them to explicitly state which arguments the values are intended for.  This means the order of the arguments doesn’t matter</a:t>
            </a:r>
          </a:p>
          <a:p>
            <a:pPr marL="914400" marR="0" lvl="1"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p:txBody>
      </p:sp>
      <p:pic>
        <p:nvPicPr>
          <p:cNvPr id="5" name="Picture 4">
            <a:extLst>
              <a:ext uri="{FF2B5EF4-FFF2-40B4-BE49-F238E27FC236}">
                <a16:creationId xmlns:a16="http://schemas.microsoft.com/office/drawing/2014/main" id="{EB509E67-A089-B767-8E14-859AB6FBF56D}"/>
              </a:ext>
            </a:extLst>
          </p:cNvPr>
          <p:cNvPicPr>
            <a:picLocks noChangeAspect="1"/>
          </p:cNvPicPr>
          <p:nvPr/>
        </p:nvPicPr>
        <p:blipFill>
          <a:blip r:embed="rId2"/>
          <a:stretch>
            <a:fillRect/>
          </a:stretch>
        </p:blipFill>
        <p:spPr>
          <a:xfrm>
            <a:off x="800748" y="4951352"/>
            <a:ext cx="8629650" cy="1376509"/>
          </a:xfrm>
          <a:prstGeom prst="rect">
            <a:avLst/>
          </a:prstGeom>
        </p:spPr>
      </p:pic>
    </p:spTree>
    <p:extLst>
      <p:ext uri="{BB962C8B-B14F-4D97-AF65-F5344CB8AC3E}">
        <p14:creationId xmlns:p14="http://schemas.microsoft.com/office/powerpoint/2010/main" val="1715101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347663" y="379219"/>
            <a:ext cx="11496674" cy="561975"/>
          </a:xfrm>
        </p:spPr>
        <p:txBody>
          <a:bodyPr>
            <a:normAutofit fontScale="90000"/>
          </a:bodyPr>
          <a:lstStyle/>
          <a:p>
            <a:r>
              <a:rPr lang="en-IE">
                <a:solidFill>
                  <a:schemeClr val="tx1"/>
                </a:solidFill>
              </a:rPr>
              <a:t>Functions – Practice Time Pg 199 Q1 – Q5</a:t>
            </a:r>
          </a:p>
        </p:txBody>
      </p:sp>
      <p:sp>
        <p:nvSpPr>
          <p:cNvPr id="3" name="TextBox 2">
            <a:extLst>
              <a:ext uri="{FF2B5EF4-FFF2-40B4-BE49-F238E27FC236}">
                <a16:creationId xmlns:a16="http://schemas.microsoft.com/office/drawing/2014/main" id="{C58690B2-A92D-3998-CBBF-D7BA7F310FED}"/>
              </a:ext>
            </a:extLst>
          </p:cNvPr>
          <p:cNvSpPr txBox="1"/>
          <p:nvPr/>
        </p:nvSpPr>
        <p:spPr>
          <a:xfrm>
            <a:off x="347663" y="1243034"/>
            <a:ext cx="10759736" cy="6664004"/>
          </a:xfrm>
          <a:prstGeom prst="rect">
            <a:avLst/>
          </a:prstGeom>
          <a:noFill/>
        </p:spPr>
        <p:txBody>
          <a:bodyPr wrap="square" rtlCol="0">
            <a:spAutoFit/>
          </a:bodyPr>
          <a:lstStyle/>
          <a:p>
            <a:pPr marL="514350" marR="0" lvl="0" indent="-514350" algn="l" defTabSz="457200" rtl="0" eaLnBrk="1" fontAlgn="auto" latinLnBrk="0" hangingPunct="1">
              <a:lnSpc>
                <a:spcPct val="150000"/>
              </a:lnSpc>
              <a:spcBef>
                <a:spcPts val="0"/>
              </a:spcBef>
              <a:spcAft>
                <a:spcPts val="0"/>
              </a:spcAft>
              <a:buClrTx/>
              <a:buSzTx/>
              <a:buFont typeface="+mj-lt"/>
              <a:buAutoNum type="arabicPeriod"/>
              <a:tabLst/>
              <a:defRPr/>
            </a:pP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Write a python function to display a happy birthday message and call this function 3 times.</a:t>
            </a:r>
          </a:p>
          <a:p>
            <a:pPr marL="514350" marR="0" lvl="0" indent="-514350" algn="l" defTabSz="457200" rtl="0" eaLnBrk="1" fontAlgn="auto" latinLnBrk="0" hangingPunct="1">
              <a:lnSpc>
                <a:spcPct val="150000"/>
              </a:lnSpc>
              <a:spcBef>
                <a:spcPts val="0"/>
              </a:spcBef>
              <a:spcAft>
                <a:spcPts val="0"/>
              </a:spcAft>
              <a:buClrTx/>
              <a:buSzTx/>
              <a:buFont typeface="+mj-lt"/>
              <a:buAutoNum type="arabicPeriod"/>
              <a:tabLst/>
              <a:defRPr/>
            </a:pP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Write a function to calculate and display the value of pi. Use (22/7) to calculate pi</a:t>
            </a:r>
          </a:p>
          <a:p>
            <a:pPr marL="514350" marR="0" lvl="0" indent="-514350" algn="l" defTabSz="457200" rtl="0" eaLnBrk="1" fontAlgn="auto" latinLnBrk="0" hangingPunct="1">
              <a:lnSpc>
                <a:spcPct val="150000"/>
              </a:lnSpc>
              <a:spcBef>
                <a:spcPts val="0"/>
              </a:spcBef>
              <a:spcAft>
                <a:spcPts val="0"/>
              </a:spcAft>
              <a:buClrTx/>
              <a:buSzTx/>
              <a:buFont typeface="+mj-lt"/>
              <a:buAutoNum type="arabicPeriod"/>
              <a:tabLst/>
              <a:defRPr/>
            </a:pP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Write a function that takes in 2 numbers multiplies them and displays the number</a:t>
            </a:r>
          </a:p>
          <a:p>
            <a:pPr marL="457200" marR="0" lvl="0"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a:p>
            <a:pPr marL="914400" marR="0" lvl="1"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a:p>
            <a:pPr marL="457200" marR="0" lvl="0"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1347115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347663" y="379219"/>
            <a:ext cx="11496674" cy="561975"/>
          </a:xfrm>
        </p:spPr>
        <p:txBody>
          <a:bodyPr>
            <a:normAutofit fontScale="90000"/>
          </a:bodyPr>
          <a:lstStyle/>
          <a:p>
            <a:r>
              <a:rPr lang="en-IE">
                <a:solidFill>
                  <a:schemeClr val="tx1"/>
                </a:solidFill>
              </a:rPr>
              <a:t>Functions – Practice Time Pg 199 Q1 – Q5</a:t>
            </a:r>
          </a:p>
        </p:txBody>
      </p:sp>
      <p:sp>
        <p:nvSpPr>
          <p:cNvPr id="3" name="TextBox 2">
            <a:extLst>
              <a:ext uri="{FF2B5EF4-FFF2-40B4-BE49-F238E27FC236}">
                <a16:creationId xmlns:a16="http://schemas.microsoft.com/office/drawing/2014/main" id="{C58690B2-A92D-3998-CBBF-D7BA7F310FED}"/>
              </a:ext>
            </a:extLst>
          </p:cNvPr>
          <p:cNvSpPr txBox="1"/>
          <p:nvPr/>
        </p:nvSpPr>
        <p:spPr>
          <a:xfrm>
            <a:off x="347663" y="1243034"/>
            <a:ext cx="10759736" cy="6664004"/>
          </a:xfrm>
          <a:prstGeom prst="rect">
            <a:avLst/>
          </a:prstGeom>
          <a:noFill/>
        </p:spPr>
        <p:txBody>
          <a:bodyPr wrap="square" rtlCol="0">
            <a:spAutoFit/>
          </a:bodyPr>
          <a:lstStyle/>
          <a:p>
            <a:pPr marL="514350" marR="0" lvl="0" indent="-514350" algn="l" defTabSz="457200" rtl="0" eaLnBrk="1" fontAlgn="auto" latinLnBrk="0" hangingPunct="1">
              <a:lnSpc>
                <a:spcPct val="150000"/>
              </a:lnSpc>
              <a:spcBef>
                <a:spcPts val="0"/>
              </a:spcBef>
              <a:spcAft>
                <a:spcPts val="0"/>
              </a:spcAft>
              <a:buClrTx/>
              <a:buSzTx/>
              <a:buFontTx/>
              <a:buAutoNum type="arabicPeriod" startAt="4"/>
              <a:tabLst/>
              <a:defRPr/>
            </a:pP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Write a python function that take in 2 arguments, the base number and the index number. The function calculates the base number raised to the power of the index number</a:t>
            </a:r>
          </a:p>
          <a:p>
            <a:pPr marL="514350" marR="0" lvl="0" indent="-514350" algn="l" defTabSz="457200" rtl="0" eaLnBrk="1" fontAlgn="auto" latinLnBrk="0" hangingPunct="1">
              <a:lnSpc>
                <a:spcPct val="150000"/>
              </a:lnSpc>
              <a:spcBef>
                <a:spcPts val="0"/>
              </a:spcBef>
              <a:spcAft>
                <a:spcPts val="0"/>
              </a:spcAft>
              <a:buClrTx/>
              <a:buSzTx/>
              <a:buFontTx/>
              <a:buAutoNum type="arabicPeriod" startAt="4"/>
              <a:tabLst/>
              <a:defRPr/>
            </a:pP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Write a python function to take in 2 integers as arguments, check which one is larger and display the larger </a:t>
            </a:r>
            <a:r>
              <a:rPr kumimoji="0" lang="en-IE" sz="3200" b="0" i="0" u="none" strike="noStrike" kern="1200" cap="none" spc="0" normalizeH="0" baseline="0" noProof="0" err="1">
                <a:ln>
                  <a:noFill/>
                </a:ln>
                <a:solidFill>
                  <a:prstClr val="black"/>
                </a:solidFill>
                <a:effectLst/>
                <a:uLnTx/>
                <a:uFillTx/>
                <a:latin typeface="Corbel" panose="020B0503020204020204"/>
                <a:ea typeface="+mn-ea"/>
                <a:cs typeface="+mn-cs"/>
              </a:rPr>
              <a:t>valuewith</a:t>
            </a:r>
            <a:r>
              <a:rPr kumimoji="0" lang="en-IE" sz="3200" b="0" i="0" u="none" strike="noStrike" kern="1200" cap="none" spc="0" normalizeH="0" baseline="0" noProof="0">
                <a:ln>
                  <a:noFill/>
                </a:ln>
                <a:solidFill>
                  <a:prstClr val="black"/>
                </a:solidFill>
                <a:effectLst/>
                <a:uLnTx/>
                <a:uFillTx/>
                <a:latin typeface="Corbel" panose="020B0503020204020204"/>
                <a:ea typeface="+mn-ea"/>
                <a:cs typeface="+mn-cs"/>
              </a:rPr>
              <a:t> a relevant message</a:t>
            </a:r>
          </a:p>
          <a:p>
            <a:pPr marL="457200" marR="0" lvl="0"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a:p>
            <a:pPr marL="914400" marR="0" lvl="1"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a:p>
            <a:pPr marL="457200" marR="0" lvl="0"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17731483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873039"/>
            <a:ext cx="11239498" cy="561975"/>
          </a:xfrm>
        </p:spPr>
        <p:txBody>
          <a:bodyPr>
            <a:normAutofit fontScale="90000"/>
          </a:bodyPr>
          <a:lstStyle/>
          <a:p>
            <a:r>
              <a:rPr lang="en-IE">
                <a:solidFill>
                  <a:schemeClr val="tx1"/>
                </a:solidFill>
              </a:rPr>
              <a:t>Functions – that return a value</a:t>
            </a:r>
          </a:p>
        </p:txBody>
      </p:sp>
      <p:pic>
        <p:nvPicPr>
          <p:cNvPr id="3" name="Picture 2">
            <a:extLst>
              <a:ext uri="{FF2B5EF4-FFF2-40B4-BE49-F238E27FC236}">
                <a16:creationId xmlns:a16="http://schemas.microsoft.com/office/drawing/2014/main" id="{701DAC26-F07C-FCF3-9D79-2D899FC1158B}"/>
              </a:ext>
            </a:extLst>
          </p:cNvPr>
          <p:cNvPicPr>
            <a:picLocks noChangeAspect="1"/>
          </p:cNvPicPr>
          <p:nvPr/>
        </p:nvPicPr>
        <p:blipFill>
          <a:blip r:embed="rId2"/>
          <a:stretch>
            <a:fillRect/>
          </a:stretch>
        </p:blipFill>
        <p:spPr>
          <a:xfrm>
            <a:off x="476251" y="1578098"/>
            <a:ext cx="7315199" cy="1994036"/>
          </a:xfrm>
          <a:prstGeom prst="rect">
            <a:avLst/>
          </a:prstGeom>
        </p:spPr>
      </p:pic>
      <p:sp>
        <p:nvSpPr>
          <p:cNvPr id="4" name="TextBox 3">
            <a:extLst>
              <a:ext uri="{FF2B5EF4-FFF2-40B4-BE49-F238E27FC236}">
                <a16:creationId xmlns:a16="http://schemas.microsoft.com/office/drawing/2014/main" id="{25C6B909-FC3A-4945-66C6-1DA6615B3DE5}"/>
              </a:ext>
            </a:extLst>
          </p:cNvPr>
          <p:cNvSpPr txBox="1"/>
          <p:nvPr/>
        </p:nvSpPr>
        <p:spPr>
          <a:xfrm>
            <a:off x="476251" y="3861946"/>
            <a:ext cx="10759736" cy="4448013"/>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The above function uses the print() function to display the volume of the sphere.</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However, we may not want to display the result or we may want to use the result of the function for something else in the main program. To achieve this we can have the function return a value to the main program body</a:t>
            </a:r>
          </a:p>
          <a:p>
            <a:pPr marL="457200" marR="0" lvl="0"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a:p>
            <a:pPr marL="914400" marR="0" lvl="1"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a:p>
            <a:pPr marL="457200" marR="0" lvl="0"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3552688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592051"/>
            <a:ext cx="11239498" cy="561975"/>
          </a:xfrm>
        </p:spPr>
        <p:txBody>
          <a:bodyPr>
            <a:normAutofit fontScale="90000"/>
          </a:bodyPr>
          <a:lstStyle/>
          <a:p>
            <a:r>
              <a:rPr lang="en-IE">
                <a:solidFill>
                  <a:schemeClr val="tx1"/>
                </a:solidFill>
              </a:rPr>
              <a:t>Functions – that return a value</a:t>
            </a:r>
          </a:p>
        </p:txBody>
      </p:sp>
      <p:sp>
        <p:nvSpPr>
          <p:cNvPr id="4" name="TextBox 3">
            <a:extLst>
              <a:ext uri="{FF2B5EF4-FFF2-40B4-BE49-F238E27FC236}">
                <a16:creationId xmlns:a16="http://schemas.microsoft.com/office/drawing/2014/main" id="{25C6B909-FC3A-4945-66C6-1DA6615B3DE5}"/>
              </a:ext>
            </a:extLst>
          </p:cNvPr>
          <p:cNvSpPr txBox="1"/>
          <p:nvPr/>
        </p:nvSpPr>
        <p:spPr>
          <a:xfrm>
            <a:off x="396352" y="1288373"/>
            <a:ext cx="11499726" cy="3340017"/>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Sometimes we use the result of the function for something else in the main program. </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To achieve this we can have the function return a value to the main program body</a:t>
            </a:r>
          </a:p>
          <a:p>
            <a:pPr marL="457200" marR="0" lvl="0"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a:p>
            <a:pPr marL="914400" marR="0" lvl="1"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a:p>
            <a:pPr marL="457200" marR="0" lvl="0"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p:txBody>
      </p:sp>
      <p:pic>
        <p:nvPicPr>
          <p:cNvPr id="8" name="Picture 7">
            <a:extLst>
              <a:ext uri="{FF2B5EF4-FFF2-40B4-BE49-F238E27FC236}">
                <a16:creationId xmlns:a16="http://schemas.microsoft.com/office/drawing/2014/main" id="{5444E990-7E90-F79B-B89D-28CE57CB32EB}"/>
              </a:ext>
            </a:extLst>
          </p:cNvPr>
          <p:cNvPicPr>
            <a:picLocks noChangeAspect="1"/>
          </p:cNvPicPr>
          <p:nvPr/>
        </p:nvPicPr>
        <p:blipFill>
          <a:blip r:embed="rId2"/>
          <a:stretch>
            <a:fillRect/>
          </a:stretch>
        </p:blipFill>
        <p:spPr>
          <a:xfrm>
            <a:off x="476250" y="2494789"/>
            <a:ext cx="8262461" cy="3169163"/>
          </a:xfrm>
          <a:prstGeom prst="rect">
            <a:avLst/>
          </a:prstGeom>
        </p:spPr>
      </p:pic>
    </p:spTree>
    <p:extLst>
      <p:ext uri="{BB962C8B-B14F-4D97-AF65-F5344CB8AC3E}">
        <p14:creationId xmlns:p14="http://schemas.microsoft.com/office/powerpoint/2010/main" val="9988601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347663" y="379219"/>
            <a:ext cx="11496674" cy="561975"/>
          </a:xfrm>
        </p:spPr>
        <p:txBody>
          <a:bodyPr>
            <a:normAutofit fontScale="90000"/>
          </a:bodyPr>
          <a:lstStyle/>
          <a:p>
            <a:r>
              <a:rPr lang="en-IE">
                <a:solidFill>
                  <a:schemeClr val="tx1"/>
                </a:solidFill>
              </a:rPr>
              <a:t>Functions – Practice Time Pg 199 Q1 – Q5</a:t>
            </a:r>
          </a:p>
        </p:txBody>
      </p:sp>
      <p:sp>
        <p:nvSpPr>
          <p:cNvPr id="5" name="TextBox 4">
            <a:extLst>
              <a:ext uri="{FF2B5EF4-FFF2-40B4-BE49-F238E27FC236}">
                <a16:creationId xmlns:a16="http://schemas.microsoft.com/office/drawing/2014/main" id="{9DF6F791-8A5E-0B8E-1582-60A36FCD309F}"/>
              </a:ext>
            </a:extLst>
          </p:cNvPr>
          <p:cNvSpPr txBox="1"/>
          <p:nvPr/>
        </p:nvSpPr>
        <p:spPr>
          <a:xfrm>
            <a:off x="347663" y="1305018"/>
            <a:ext cx="11070455" cy="5196166"/>
          </a:xfrm>
          <a:prstGeom prst="rect">
            <a:avLst/>
          </a:prstGeom>
          <a:noFill/>
        </p:spPr>
        <p:txBody>
          <a:bodyPr wrap="square">
            <a:spAutoFit/>
          </a:bodyPr>
          <a:lstStyle/>
          <a:p>
            <a:pPr marL="914400" marR="0" lvl="1" indent="-457200" algn="l" defTabSz="457200" rtl="0" eaLnBrk="1" fontAlgn="auto" latinLnBrk="0" hangingPunct="1">
              <a:lnSpc>
                <a:spcPct val="150000"/>
              </a:lnSpc>
              <a:spcBef>
                <a:spcPts val="0"/>
              </a:spcBef>
              <a:spcAft>
                <a:spcPts val="0"/>
              </a:spcAft>
              <a:buClrTx/>
              <a:buSzTx/>
              <a:buFont typeface="+mj-lt"/>
              <a:buAutoNum type="arabicPeriod"/>
              <a:tabLst/>
              <a:defRPr/>
            </a:pPr>
            <a:r>
              <a:rPr kumimoji="0" lang="en-IE" sz="2800" b="0" i="0" u="none" strike="noStrike" kern="1200" cap="none" spc="0" normalizeH="0" baseline="0" noProof="0">
                <a:ln>
                  <a:noFill/>
                </a:ln>
                <a:solidFill>
                  <a:prstClr val="black"/>
                </a:solidFill>
                <a:effectLst/>
                <a:uLnTx/>
                <a:uFillTx/>
                <a:latin typeface="Corbel" panose="020B0503020204020204"/>
                <a:ea typeface="+mn-ea"/>
                <a:cs typeface="+mn-cs"/>
              </a:rPr>
              <a:t>A suitable name for the function. The function name should be meaningful and start with a lowercase letter</a:t>
            </a:r>
          </a:p>
          <a:p>
            <a:pPr marL="914400" marR="0" lvl="1" indent="-457200" algn="l" defTabSz="457200" rtl="0" eaLnBrk="1" fontAlgn="auto" latinLnBrk="0" hangingPunct="1">
              <a:lnSpc>
                <a:spcPct val="150000"/>
              </a:lnSpc>
              <a:spcBef>
                <a:spcPts val="0"/>
              </a:spcBef>
              <a:spcAft>
                <a:spcPts val="0"/>
              </a:spcAft>
              <a:buClrTx/>
              <a:buSzTx/>
              <a:buFont typeface="+mj-lt"/>
              <a:buAutoNum type="arabicPeriod"/>
              <a:tabLst/>
              <a:defRPr/>
            </a:pPr>
            <a:r>
              <a:rPr kumimoji="0" lang="en-IE" sz="2800" b="0" i="0" u="none" strike="noStrike" kern="1200" cap="none" spc="0" normalizeH="0" baseline="0" noProof="0">
                <a:ln>
                  <a:noFill/>
                </a:ln>
                <a:solidFill>
                  <a:prstClr val="black"/>
                </a:solidFill>
                <a:effectLst/>
                <a:uLnTx/>
                <a:uFillTx/>
                <a:latin typeface="Corbel" panose="020B0503020204020204"/>
                <a:ea typeface="+mn-ea"/>
                <a:cs typeface="+mn-cs"/>
              </a:rPr>
              <a:t>The arguments required for the function to carry out its task</a:t>
            </a:r>
          </a:p>
          <a:p>
            <a:pPr marL="914400" marR="0" lvl="1" indent="-457200" algn="l" defTabSz="457200" rtl="0" eaLnBrk="1" fontAlgn="auto" latinLnBrk="0" hangingPunct="1">
              <a:lnSpc>
                <a:spcPct val="150000"/>
              </a:lnSpc>
              <a:spcBef>
                <a:spcPts val="0"/>
              </a:spcBef>
              <a:spcAft>
                <a:spcPts val="0"/>
              </a:spcAft>
              <a:buClrTx/>
              <a:buSzTx/>
              <a:buFont typeface="+mj-lt"/>
              <a:buAutoNum type="arabicPeriod"/>
              <a:tabLst/>
              <a:defRPr/>
            </a:pPr>
            <a:r>
              <a:rPr kumimoji="0" lang="en-IE" sz="2800" b="0" i="0" u="none" strike="noStrike" kern="1200" cap="none" spc="0" normalizeH="0" baseline="0" noProof="0">
                <a:ln>
                  <a:noFill/>
                </a:ln>
                <a:solidFill>
                  <a:prstClr val="black"/>
                </a:solidFill>
                <a:effectLst/>
                <a:uLnTx/>
                <a:uFillTx/>
                <a:latin typeface="Corbel" panose="020B0503020204020204"/>
                <a:ea typeface="+mn-ea"/>
                <a:cs typeface="+mn-cs"/>
              </a:rPr>
              <a:t>What the code body of the function consists of. This can be written as pseudocode first</a:t>
            </a:r>
          </a:p>
          <a:p>
            <a:pPr marL="914400" marR="0" lvl="1" indent="-457200" algn="l" defTabSz="457200" rtl="0" eaLnBrk="1" fontAlgn="auto" latinLnBrk="0" hangingPunct="1">
              <a:lnSpc>
                <a:spcPct val="150000"/>
              </a:lnSpc>
              <a:spcBef>
                <a:spcPts val="0"/>
              </a:spcBef>
              <a:spcAft>
                <a:spcPts val="0"/>
              </a:spcAft>
              <a:buClrTx/>
              <a:buSzTx/>
              <a:buFont typeface="+mj-lt"/>
              <a:buAutoNum type="arabicPeriod"/>
              <a:tabLst/>
              <a:defRPr/>
            </a:pPr>
            <a:r>
              <a:rPr kumimoji="0" lang="en-IE" sz="2800" b="0" i="0" u="none" strike="noStrike" kern="1200" cap="none" spc="0" normalizeH="0" baseline="0" noProof="0">
                <a:ln>
                  <a:noFill/>
                </a:ln>
                <a:solidFill>
                  <a:prstClr val="black"/>
                </a:solidFill>
                <a:effectLst/>
                <a:uLnTx/>
                <a:uFillTx/>
                <a:latin typeface="Corbel" panose="020B0503020204020204"/>
                <a:ea typeface="+mn-ea"/>
                <a:cs typeface="+mn-cs"/>
              </a:rPr>
              <a:t>The value (if any) that the function will return</a:t>
            </a:r>
          </a:p>
          <a:p>
            <a:pPr marL="914400" marR="0" lvl="1" indent="-457200" algn="l" defTabSz="457200" rtl="0" eaLnBrk="1" fontAlgn="auto" latinLnBrk="0" hangingPunct="1">
              <a:lnSpc>
                <a:spcPct val="150000"/>
              </a:lnSpc>
              <a:spcBef>
                <a:spcPts val="0"/>
              </a:spcBef>
              <a:spcAft>
                <a:spcPts val="0"/>
              </a:spcAft>
              <a:buClrTx/>
              <a:buSzTx/>
              <a:buFont typeface="+mj-lt"/>
              <a:buAutoNum type="arabicPeriod"/>
              <a:tabLst/>
              <a:defRPr/>
            </a:pPr>
            <a:endParaRPr kumimoji="0" lang="en-IE" sz="2800" b="0" i="0" u="none" strike="noStrike" kern="1200" cap="none" spc="0" normalizeH="0" baseline="0" noProof="0">
              <a:ln>
                <a:noFill/>
              </a:ln>
              <a:solidFill>
                <a:prstClr val="black"/>
              </a:solidFill>
              <a:effectLst/>
              <a:uLnTx/>
              <a:uFillTx/>
              <a:latin typeface="Corbel" panose="020B0503020204020204"/>
              <a:ea typeface="+mn-ea"/>
              <a:cs typeface="+mn-cs"/>
            </a:endParaRPr>
          </a:p>
          <a:p>
            <a:pPr marL="914400" marR="0" lvl="1" indent="-457200" algn="l" defTabSz="457200" rtl="0" eaLnBrk="1" fontAlgn="auto" latinLnBrk="0" hangingPunct="1">
              <a:lnSpc>
                <a:spcPct val="150000"/>
              </a:lnSpc>
              <a:spcBef>
                <a:spcPts val="0"/>
              </a:spcBef>
              <a:spcAft>
                <a:spcPts val="0"/>
              </a:spcAft>
              <a:buClrTx/>
              <a:buSzTx/>
              <a:buFont typeface="+mj-lt"/>
              <a:buAutoNum type="arabicPeriod"/>
              <a:tabLst/>
              <a:defRPr/>
            </a:pPr>
            <a:endParaRPr kumimoji="0" lang="en-IE" sz="2800" b="0" i="0" u="none" strike="noStrike" kern="1200" cap="none" spc="0" normalizeH="0" baseline="0" noProof="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3181990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210311"/>
            <a:ext cx="11239498" cy="561975"/>
          </a:xfrm>
        </p:spPr>
        <p:txBody>
          <a:bodyPr>
            <a:normAutofit fontScale="90000"/>
          </a:bodyPr>
          <a:lstStyle/>
          <a:p>
            <a:r>
              <a:rPr lang="en-IE">
                <a:solidFill>
                  <a:schemeClr val="tx1"/>
                </a:solidFill>
              </a:rPr>
              <a:t>Functions – that return a </a:t>
            </a:r>
            <a:r>
              <a:rPr lang="en-IE" dirty="0">
                <a:solidFill>
                  <a:schemeClr val="tx1"/>
                </a:solidFill>
              </a:rPr>
              <a:t>Boolean </a:t>
            </a:r>
            <a:r>
              <a:rPr lang="en-IE">
                <a:solidFill>
                  <a:schemeClr val="tx1"/>
                </a:solidFill>
              </a:rPr>
              <a:t>value</a:t>
            </a:r>
          </a:p>
        </p:txBody>
      </p:sp>
      <p:sp>
        <p:nvSpPr>
          <p:cNvPr id="4" name="TextBox 3">
            <a:extLst>
              <a:ext uri="{FF2B5EF4-FFF2-40B4-BE49-F238E27FC236}">
                <a16:creationId xmlns:a16="http://schemas.microsoft.com/office/drawing/2014/main" id="{25C6B909-FC3A-4945-66C6-1DA6615B3DE5}"/>
              </a:ext>
            </a:extLst>
          </p:cNvPr>
          <p:cNvSpPr txBox="1"/>
          <p:nvPr/>
        </p:nvSpPr>
        <p:spPr>
          <a:xfrm>
            <a:off x="476251" y="642218"/>
            <a:ext cx="11434530" cy="9433993"/>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AN EXAMPLE – Websites often have to validate email addresses over and over again. We can write this as a </a:t>
            </a: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function in </a:t>
            </a: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python</a:t>
            </a:r>
          </a:p>
          <a:p>
            <a:pPr marL="457200" marR="0" lvl="0" indent="-457200" algn="l" defTabSz="457200" rtl="0" eaLnBrk="1" fontAlgn="auto" latinLnBrk="0" hangingPunct="1">
              <a:lnSpc>
                <a:spcPct val="150000"/>
              </a:lnSpc>
              <a:spcBef>
                <a:spcPts val="0"/>
              </a:spcBef>
              <a:spcAft>
                <a:spcPts val="0"/>
              </a:spcAft>
              <a:buClrTx/>
              <a:buSzTx/>
              <a:buFontTx/>
              <a:buAutoNum type="arabicPeriod"/>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The function name is </a:t>
            </a:r>
            <a:r>
              <a:rPr kumimoji="0" lang="en-IE" sz="2400" b="0" i="0" u="none" strike="noStrike" kern="1200" cap="none" spc="0" normalizeH="0" baseline="0" noProof="0" dirty="0" err="1">
                <a:ln>
                  <a:noFill/>
                </a:ln>
                <a:solidFill>
                  <a:prstClr val="black"/>
                </a:solidFill>
                <a:effectLst/>
                <a:uLnTx/>
                <a:uFillTx/>
                <a:latin typeface="Corbel" panose="020B0503020204020204"/>
                <a:ea typeface="+mn-ea"/>
                <a:cs typeface="+mn-cs"/>
              </a:rPr>
              <a:t>validateEmail</a:t>
            </a: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a:t>
            </a:r>
          </a:p>
          <a:p>
            <a:pPr marL="457200" marR="0" lvl="0" indent="-457200" algn="l" defTabSz="457200" rtl="0" eaLnBrk="1" fontAlgn="auto" latinLnBrk="0" hangingPunct="1">
              <a:lnSpc>
                <a:spcPct val="150000"/>
              </a:lnSpc>
              <a:spcBef>
                <a:spcPts val="0"/>
              </a:spcBef>
              <a:spcAft>
                <a:spcPts val="0"/>
              </a:spcAft>
              <a:buClrTx/>
              <a:buSzTx/>
              <a:buFontTx/>
              <a:buAutoNum type="arabicPeriod"/>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The argument is </a:t>
            </a: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the </a:t>
            </a: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email address as a string</a:t>
            </a: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a:t>
            </a:r>
            <a:endPar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l" defTabSz="457200" rtl="0" eaLnBrk="1" fontAlgn="auto" latinLnBrk="0" hangingPunct="1">
              <a:lnSpc>
                <a:spcPct val="150000"/>
              </a:lnSpc>
              <a:spcBef>
                <a:spcPts val="0"/>
              </a:spcBef>
              <a:spcAft>
                <a:spcPts val="0"/>
              </a:spcAft>
              <a:buClrTx/>
              <a:buSzTx/>
              <a:buFontTx/>
              <a:buAutoNum type="arabicPeriod"/>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The function tests that </a:t>
            </a: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the </a:t>
            </a: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email </a:t>
            </a:r>
            <a:r>
              <a:rPr kumimoji="0" lang="en-IE" sz="2400" b="0" i="0" u="none" strike="noStrike" kern="1200" cap="none" spc="0" normalizeH="0" baseline="0" noProof="0" dirty="0" err="1">
                <a:ln>
                  <a:noFill/>
                </a:ln>
                <a:solidFill>
                  <a:prstClr val="black"/>
                </a:solidFill>
                <a:effectLst/>
                <a:uLnTx/>
                <a:uFillTx/>
                <a:latin typeface="Corbel" panose="020B0503020204020204"/>
                <a:ea typeface="+mn-ea"/>
                <a:cs typeface="+mn-cs"/>
              </a:rPr>
              <a:t>adddress</a:t>
            </a: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 given contains:</a:t>
            </a:r>
          </a:p>
          <a:p>
            <a:pPr marL="914400" marR="0" lvl="1"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At least one “.”</a:t>
            </a:r>
          </a:p>
          <a:p>
            <a:pPr marL="914400" marR="0" lvl="1"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Exactly one “@”</a:t>
            </a:r>
          </a:p>
          <a:p>
            <a:pPr marL="914400" marR="0" lvl="1"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At least eight characters</a:t>
            </a:r>
          </a:p>
          <a:p>
            <a:pPr marL="457200" marR="0" lvl="0" indent="-457200" algn="l" defTabSz="457200" rtl="0" eaLnBrk="1" fontAlgn="auto" latinLnBrk="0" hangingPunct="1">
              <a:lnSpc>
                <a:spcPct val="150000"/>
              </a:lnSpc>
              <a:spcBef>
                <a:spcPts val="0"/>
              </a:spcBef>
              <a:spcAft>
                <a:spcPts val="0"/>
              </a:spcAft>
              <a:buClrTx/>
              <a:buSzTx/>
              <a:buFont typeface="+mj-lt"/>
              <a:buAutoNum type="arabicPeriod"/>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The </a:t>
            </a: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function </a:t>
            </a: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returns true or false </a:t>
            </a: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to </a:t>
            </a: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represent whether </a:t>
            </a:r>
            <a:r>
              <a:rPr kumimoji="0" lang="en-IE" sz="2400" b="0" i="0" u="none" strike="noStrike" kern="1200" cap="none" spc="0" normalizeH="0" baseline="0" noProof="0">
                <a:ln>
                  <a:noFill/>
                </a:ln>
                <a:solidFill>
                  <a:prstClr val="black"/>
                </a:solidFill>
                <a:effectLst/>
                <a:uLnTx/>
                <a:uFillTx/>
                <a:latin typeface="Corbel" panose="020B0503020204020204"/>
                <a:ea typeface="+mn-ea"/>
                <a:cs typeface="+mn-cs"/>
              </a:rPr>
              <a:t>the </a:t>
            </a: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email address is valid or not</a:t>
            </a:r>
          </a:p>
          <a:p>
            <a:pPr marL="457200" marR="0" lvl="1" indent="0" algn="l" defTabSz="457200" rtl="0" eaLnBrk="1" fontAlgn="auto" latinLnBrk="0" hangingPunct="1">
              <a:lnSpc>
                <a:spcPct val="150000"/>
              </a:lnSpc>
              <a:spcBef>
                <a:spcPts val="0"/>
              </a:spcBef>
              <a:spcAft>
                <a:spcPts val="0"/>
              </a:spcAft>
              <a:buClrTx/>
              <a:buSzTx/>
              <a:buFontTx/>
              <a:buNone/>
              <a:tabLst/>
              <a:defRPr/>
            </a:pPr>
            <a:endPar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914400" marR="0" lvl="1"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l" defTabSz="457200" rtl="0" eaLnBrk="1" fontAlgn="auto" latinLnBrk="0" hangingPunct="1">
              <a:lnSpc>
                <a:spcPct val="150000"/>
              </a:lnSpc>
              <a:spcBef>
                <a:spcPts val="0"/>
              </a:spcBef>
              <a:spcAft>
                <a:spcPts val="0"/>
              </a:spcAft>
              <a:buClrTx/>
              <a:buSzTx/>
              <a:buFontTx/>
              <a:buAutoNum type="arabicPeriod"/>
              <a:tabLst/>
              <a:defRPr/>
            </a:pPr>
            <a:endPar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a:p>
            <a:pPr marL="914400" marR="0" lvl="1"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a:p>
            <a:pPr marL="457200" marR="0" lvl="0"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IE" sz="3200" b="0" i="0" u="none" strike="noStrike" kern="1200" cap="none" spc="0" normalizeH="0" baseline="0" noProof="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140023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210311"/>
            <a:ext cx="11239498" cy="561975"/>
          </a:xfrm>
        </p:spPr>
        <p:txBody>
          <a:bodyPr>
            <a:normAutofit fontScale="90000"/>
          </a:bodyPr>
          <a:lstStyle/>
          <a:p>
            <a:r>
              <a:rPr lang="en-IE" dirty="0">
                <a:solidFill>
                  <a:schemeClr val="tx1"/>
                </a:solidFill>
              </a:rPr>
              <a:t>Functions – that return a Boolean value</a:t>
            </a:r>
          </a:p>
        </p:txBody>
      </p:sp>
      <p:pic>
        <p:nvPicPr>
          <p:cNvPr id="5" name="Picture 4">
            <a:extLst>
              <a:ext uri="{FF2B5EF4-FFF2-40B4-BE49-F238E27FC236}">
                <a16:creationId xmlns:a16="http://schemas.microsoft.com/office/drawing/2014/main" id="{402F2B48-D1C4-8EA8-B3B8-254E411028D6}"/>
              </a:ext>
            </a:extLst>
          </p:cNvPr>
          <p:cNvPicPr>
            <a:picLocks noChangeAspect="1"/>
          </p:cNvPicPr>
          <p:nvPr/>
        </p:nvPicPr>
        <p:blipFill>
          <a:blip r:embed="rId2"/>
          <a:stretch>
            <a:fillRect/>
          </a:stretch>
        </p:blipFill>
        <p:spPr>
          <a:xfrm>
            <a:off x="396352" y="941033"/>
            <a:ext cx="8610214" cy="4739567"/>
          </a:xfrm>
          <a:prstGeom prst="rect">
            <a:avLst/>
          </a:prstGeom>
        </p:spPr>
      </p:pic>
      <p:sp>
        <p:nvSpPr>
          <p:cNvPr id="6" name="TextBox 5">
            <a:extLst>
              <a:ext uri="{FF2B5EF4-FFF2-40B4-BE49-F238E27FC236}">
                <a16:creationId xmlns:a16="http://schemas.microsoft.com/office/drawing/2014/main" id="{B8521221-DE3F-DC50-BA09-8E693980BF25}"/>
              </a:ext>
            </a:extLst>
          </p:cNvPr>
          <p:cNvSpPr txBox="1"/>
          <p:nvPr/>
        </p:nvSpPr>
        <p:spPr>
          <a:xfrm>
            <a:off x="8074980" y="1177400"/>
            <a:ext cx="3720668" cy="15696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-The function returns </a:t>
            </a:r>
            <a:r>
              <a:rPr kumimoji="0" lang="en-IE" sz="2400" b="1" i="0" u="none" strike="noStrike" kern="1200" cap="none" spc="0" normalizeH="0" baseline="0" noProof="0" dirty="0">
                <a:ln>
                  <a:noFill/>
                </a:ln>
                <a:solidFill>
                  <a:prstClr val="black"/>
                </a:solidFill>
                <a:effectLst/>
                <a:uLnTx/>
                <a:uFillTx/>
                <a:latin typeface="Corbel" panose="020B0503020204020204"/>
                <a:ea typeface="+mn-ea"/>
                <a:cs typeface="+mn-cs"/>
              </a:rPr>
              <a:t>True</a:t>
            </a: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 if the argument satisfies all three requirements.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Otherwise it returns a </a:t>
            </a:r>
            <a:r>
              <a:rPr kumimoji="0" lang="en-IE" sz="2400" b="1" i="0" u="none" strike="noStrike" kern="1200" cap="none" spc="0" normalizeH="0" baseline="0" noProof="0" dirty="0">
                <a:ln>
                  <a:noFill/>
                </a:ln>
                <a:solidFill>
                  <a:prstClr val="black"/>
                </a:solidFill>
                <a:effectLst/>
                <a:uLnTx/>
                <a:uFillTx/>
                <a:latin typeface="Corbel" panose="020B0503020204020204"/>
                <a:ea typeface="+mn-ea"/>
                <a:cs typeface="+mn-cs"/>
              </a:rPr>
              <a:t>False</a:t>
            </a:r>
          </a:p>
        </p:txBody>
      </p:sp>
    </p:spTree>
    <p:extLst>
      <p:ext uri="{BB962C8B-B14F-4D97-AF65-F5344CB8AC3E}">
        <p14:creationId xmlns:p14="http://schemas.microsoft.com/office/powerpoint/2010/main" val="3622351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612560"/>
            <a:ext cx="11239498" cy="2272612"/>
          </a:xfrm>
        </p:spPr>
        <p:txBody>
          <a:bodyPr>
            <a:normAutofit/>
          </a:bodyPr>
          <a:lstStyle/>
          <a:p>
            <a:r>
              <a:rPr lang="en-IE" dirty="0">
                <a:solidFill>
                  <a:schemeClr val="tx1"/>
                </a:solidFill>
              </a:rPr>
              <a:t>Practice &amp; Homework</a:t>
            </a:r>
            <a:br>
              <a:rPr lang="en-IE" dirty="0">
                <a:solidFill>
                  <a:schemeClr val="tx1"/>
                </a:solidFill>
              </a:rPr>
            </a:br>
            <a:r>
              <a:rPr lang="en-IE" dirty="0">
                <a:solidFill>
                  <a:schemeClr val="tx1"/>
                </a:solidFill>
              </a:rPr>
              <a:t> – </a:t>
            </a:r>
            <a:r>
              <a:rPr lang="en-IE" dirty="0" err="1">
                <a:solidFill>
                  <a:schemeClr val="tx1"/>
                </a:solidFill>
              </a:rPr>
              <a:t>pg</a:t>
            </a:r>
            <a:r>
              <a:rPr lang="en-IE" dirty="0">
                <a:solidFill>
                  <a:schemeClr val="tx1"/>
                </a:solidFill>
              </a:rPr>
              <a:t> 203 Tasks 1 to 8 inclusive</a:t>
            </a:r>
          </a:p>
        </p:txBody>
      </p:sp>
      <p:sp>
        <p:nvSpPr>
          <p:cNvPr id="3" name="TextBox 2">
            <a:extLst>
              <a:ext uri="{FF2B5EF4-FFF2-40B4-BE49-F238E27FC236}">
                <a16:creationId xmlns:a16="http://schemas.microsoft.com/office/drawing/2014/main" id="{11A8329A-29E7-62C1-6D9C-A7AA7CEA5CF0}"/>
              </a:ext>
            </a:extLst>
          </p:cNvPr>
          <p:cNvSpPr txBox="1"/>
          <p:nvPr/>
        </p:nvSpPr>
        <p:spPr>
          <a:xfrm>
            <a:off x="347663" y="976704"/>
            <a:ext cx="11368086" cy="1077218"/>
          </a:xfrm>
          <a:prstGeom prst="rect">
            <a:avLst/>
          </a:prstGeom>
          <a:noFill/>
        </p:spPr>
        <p:txBody>
          <a:bodyPr wrap="square" rtlCol="0">
            <a:spAutoFit/>
          </a:bodyPr>
          <a:lstStyle/>
          <a:p>
            <a:pPr marL="514350" marR="0" lvl="0" indent="-51435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IE" sz="32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E" sz="32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465516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612560"/>
            <a:ext cx="11239498" cy="820314"/>
          </a:xfrm>
        </p:spPr>
        <p:txBody>
          <a:bodyPr>
            <a:normAutofit/>
          </a:bodyPr>
          <a:lstStyle/>
          <a:p>
            <a:r>
              <a:rPr lang="en-IE" dirty="0">
                <a:solidFill>
                  <a:schemeClr val="tx1"/>
                </a:solidFill>
              </a:rPr>
              <a:t>Local &amp; Global Variables</a:t>
            </a:r>
          </a:p>
        </p:txBody>
      </p:sp>
      <p:sp>
        <p:nvSpPr>
          <p:cNvPr id="4" name="TextBox 3">
            <a:extLst>
              <a:ext uri="{FF2B5EF4-FFF2-40B4-BE49-F238E27FC236}">
                <a16:creationId xmlns:a16="http://schemas.microsoft.com/office/drawing/2014/main" id="{36DE1A2B-18D9-9614-7455-5216111E7607}"/>
              </a:ext>
            </a:extLst>
          </p:cNvPr>
          <p:cNvSpPr txBox="1"/>
          <p:nvPr/>
        </p:nvSpPr>
        <p:spPr>
          <a:xfrm>
            <a:off x="678730" y="1432873"/>
            <a:ext cx="11037019" cy="452431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73239"/>
                </a:solidFill>
                <a:effectLst/>
                <a:uLnTx/>
                <a:uFillTx/>
                <a:latin typeface="urw-din"/>
                <a:ea typeface="+mn-ea"/>
                <a:cs typeface="+mn-cs"/>
              </a:rPr>
              <a:t>Global variables</a:t>
            </a:r>
            <a:r>
              <a:rPr kumimoji="0" lang="en-US" sz="3200" b="0" i="0" u="none" strike="noStrike" kern="1200" cap="none" spc="0" normalizeH="0" baseline="0" noProof="0" dirty="0">
                <a:ln>
                  <a:noFill/>
                </a:ln>
                <a:solidFill>
                  <a:srgbClr val="273239"/>
                </a:solidFill>
                <a:effectLst/>
                <a:uLnTx/>
                <a:uFillTx/>
                <a:latin typeface="urw-din"/>
                <a:ea typeface="+mn-ea"/>
                <a:cs typeface="+mn-cs"/>
              </a:rPr>
              <a:t> are those which are not defined inside any function and have a global scope and they are available for use throughout the program and inside every function</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273239"/>
              </a:solidFill>
              <a:effectLst/>
              <a:uLnTx/>
              <a:uFillTx/>
              <a:latin typeface="urw-din"/>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73239"/>
                </a:solidFill>
                <a:effectLst/>
                <a:uLnTx/>
                <a:uFillTx/>
                <a:latin typeface="urw-din"/>
                <a:ea typeface="+mn-ea"/>
                <a:cs typeface="+mn-cs"/>
              </a:rPr>
              <a:t>Local variables</a:t>
            </a:r>
            <a:r>
              <a:rPr kumimoji="0" lang="en-US" sz="3200" b="0" i="0" u="none" strike="noStrike" kern="1200" cap="none" spc="0" normalizeH="0" baseline="0" noProof="0" dirty="0">
                <a:ln>
                  <a:noFill/>
                </a:ln>
                <a:solidFill>
                  <a:srgbClr val="273239"/>
                </a:solidFill>
                <a:effectLst/>
                <a:uLnTx/>
                <a:uFillTx/>
                <a:latin typeface="urw-din"/>
                <a:ea typeface="+mn-ea"/>
                <a:cs typeface="+mn-cs"/>
              </a:rPr>
              <a:t> are those which are defined inside a function and its scope is limited to that function only. They belong only to that function. It cannot be accessed anywhere outside the function</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273239"/>
              </a:solidFill>
              <a:effectLst/>
              <a:uLnTx/>
              <a:uFillTx/>
              <a:latin typeface="urw-din"/>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273239"/>
                </a:solidFill>
                <a:effectLst/>
                <a:uLnTx/>
                <a:uFillTx/>
                <a:latin typeface="urw-din"/>
                <a:ea typeface="+mn-ea"/>
                <a:cs typeface="+mn-cs"/>
              </a:rPr>
              <a:t> </a:t>
            </a:r>
            <a:endParaRPr kumimoji="0" lang="en-IE" sz="32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1284199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612560"/>
            <a:ext cx="11239498" cy="820314"/>
          </a:xfrm>
        </p:spPr>
        <p:txBody>
          <a:bodyPr>
            <a:normAutofit/>
          </a:bodyPr>
          <a:lstStyle/>
          <a:p>
            <a:r>
              <a:rPr lang="en-IE" dirty="0">
                <a:solidFill>
                  <a:schemeClr val="tx1"/>
                </a:solidFill>
              </a:rPr>
              <a:t>Local &amp; Global Variables</a:t>
            </a:r>
          </a:p>
        </p:txBody>
      </p:sp>
      <p:pic>
        <p:nvPicPr>
          <p:cNvPr id="5" name="Picture 4">
            <a:extLst>
              <a:ext uri="{FF2B5EF4-FFF2-40B4-BE49-F238E27FC236}">
                <a16:creationId xmlns:a16="http://schemas.microsoft.com/office/drawing/2014/main" id="{FD2AE4A5-5C59-550D-992C-E1BAE02A501A}"/>
              </a:ext>
            </a:extLst>
          </p:cNvPr>
          <p:cNvPicPr>
            <a:picLocks noChangeAspect="1"/>
          </p:cNvPicPr>
          <p:nvPr/>
        </p:nvPicPr>
        <p:blipFill>
          <a:blip r:embed="rId2"/>
          <a:stretch>
            <a:fillRect/>
          </a:stretch>
        </p:blipFill>
        <p:spPr>
          <a:xfrm>
            <a:off x="583658" y="1395077"/>
            <a:ext cx="8241441" cy="3614667"/>
          </a:xfrm>
          <a:prstGeom prst="rect">
            <a:avLst/>
          </a:prstGeom>
        </p:spPr>
      </p:pic>
    </p:spTree>
    <p:extLst>
      <p:ext uri="{BB962C8B-B14F-4D97-AF65-F5344CB8AC3E}">
        <p14:creationId xmlns:p14="http://schemas.microsoft.com/office/powerpoint/2010/main" val="32301798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612560"/>
            <a:ext cx="11239498" cy="820314"/>
          </a:xfrm>
        </p:spPr>
        <p:txBody>
          <a:bodyPr>
            <a:normAutofit/>
          </a:bodyPr>
          <a:lstStyle/>
          <a:p>
            <a:r>
              <a:rPr lang="en-IE" dirty="0">
                <a:solidFill>
                  <a:schemeClr val="tx1"/>
                </a:solidFill>
              </a:rPr>
              <a:t>Local &amp; Global Variables</a:t>
            </a:r>
          </a:p>
        </p:txBody>
      </p:sp>
      <p:pic>
        <p:nvPicPr>
          <p:cNvPr id="5" name="Picture 4">
            <a:extLst>
              <a:ext uri="{FF2B5EF4-FFF2-40B4-BE49-F238E27FC236}">
                <a16:creationId xmlns:a16="http://schemas.microsoft.com/office/drawing/2014/main" id="{455A29F4-E36C-2A8B-3E68-43FD17104684}"/>
              </a:ext>
            </a:extLst>
          </p:cNvPr>
          <p:cNvPicPr>
            <a:picLocks noChangeAspect="1"/>
          </p:cNvPicPr>
          <p:nvPr/>
        </p:nvPicPr>
        <p:blipFill>
          <a:blip r:embed="rId2"/>
          <a:stretch>
            <a:fillRect/>
          </a:stretch>
        </p:blipFill>
        <p:spPr>
          <a:xfrm>
            <a:off x="476251" y="1351519"/>
            <a:ext cx="10520218" cy="3993479"/>
          </a:xfrm>
          <a:prstGeom prst="rect">
            <a:avLst/>
          </a:prstGeom>
        </p:spPr>
      </p:pic>
    </p:spTree>
    <p:extLst>
      <p:ext uri="{BB962C8B-B14F-4D97-AF65-F5344CB8AC3E}">
        <p14:creationId xmlns:p14="http://schemas.microsoft.com/office/powerpoint/2010/main" val="22399395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612560"/>
            <a:ext cx="11239498" cy="820314"/>
          </a:xfrm>
        </p:spPr>
        <p:txBody>
          <a:bodyPr>
            <a:normAutofit/>
          </a:bodyPr>
          <a:lstStyle/>
          <a:p>
            <a:r>
              <a:rPr lang="en-IE" dirty="0">
                <a:solidFill>
                  <a:schemeClr val="tx1"/>
                </a:solidFill>
              </a:rPr>
              <a:t>Local &amp; Global Variables</a:t>
            </a:r>
          </a:p>
        </p:txBody>
      </p:sp>
      <p:sp>
        <p:nvSpPr>
          <p:cNvPr id="4" name="TextBox 3">
            <a:extLst>
              <a:ext uri="{FF2B5EF4-FFF2-40B4-BE49-F238E27FC236}">
                <a16:creationId xmlns:a16="http://schemas.microsoft.com/office/drawing/2014/main" id="{9277EEB6-2F50-C9D9-9B21-DAC2AEEDC7C6}"/>
              </a:ext>
            </a:extLst>
          </p:cNvPr>
          <p:cNvSpPr txBox="1"/>
          <p:nvPr/>
        </p:nvSpPr>
        <p:spPr>
          <a:xfrm>
            <a:off x="850768" y="2092751"/>
            <a:ext cx="9546997" cy="2062103"/>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3200" b="0" i="0" u="none" strike="noStrike" kern="1200" cap="none" spc="0" normalizeH="0" baseline="0" noProof="0" dirty="0">
                <a:ln>
                  <a:noFill/>
                </a:ln>
                <a:solidFill>
                  <a:prstClr val="black"/>
                </a:solidFill>
                <a:effectLst/>
                <a:uLnTx/>
                <a:uFillTx/>
                <a:latin typeface="Corbel" panose="020B0503020204020204"/>
                <a:ea typeface="+mn-ea"/>
                <a:cs typeface="+mn-cs"/>
                <a:hlinkClick r:id="rId2"/>
              </a:rPr>
              <a:t>https://www.youtube.com/watch?v=A054Ged9suI</a:t>
            </a:r>
            <a:endParaRPr kumimoji="0" lang="en-IE" sz="32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32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3200" b="0" i="0" u="none" strike="noStrike" kern="1200" cap="none" spc="0" normalizeH="0" baseline="0" noProof="0" dirty="0">
                <a:ln>
                  <a:noFill/>
                </a:ln>
                <a:solidFill>
                  <a:prstClr val="black"/>
                </a:solidFill>
                <a:effectLst/>
                <a:uLnTx/>
                <a:uFillTx/>
                <a:latin typeface="Corbel" panose="020B0503020204020204"/>
                <a:ea typeface="+mn-ea"/>
                <a:cs typeface="+mn-cs"/>
              </a:rPr>
              <a:t>Video explaining the differences between local and global variables</a:t>
            </a:r>
          </a:p>
        </p:txBody>
      </p:sp>
    </p:spTree>
    <p:extLst>
      <p:ext uri="{BB962C8B-B14F-4D97-AF65-F5344CB8AC3E}">
        <p14:creationId xmlns:p14="http://schemas.microsoft.com/office/powerpoint/2010/main" val="4411399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612560"/>
            <a:ext cx="11239498" cy="820314"/>
          </a:xfrm>
        </p:spPr>
        <p:txBody>
          <a:bodyPr>
            <a:normAutofit/>
          </a:bodyPr>
          <a:lstStyle/>
          <a:p>
            <a:r>
              <a:rPr lang="en-IE" dirty="0">
                <a:solidFill>
                  <a:schemeClr val="tx1"/>
                </a:solidFill>
              </a:rPr>
              <a:t>Predict the output</a:t>
            </a:r>
          </a:p>
        </p:txBody>
      </p:sp>
      <p:pic>
        <p:nvPicPr>
          <p:cNvPr id="5" name="Picture 4">
            <a:extLst>
              <a:ext uri="{FF2B5EF4-FFF2-40B4-BE49-F238E27FC236}">
                <a16:creationId xmlns:a16="http://schemas.microsoft.com/office/drawing/2014/main" id="{B0B61D2D-3B10-F900-AF95-B927A3D52470}"/>
              </a:ext>
            </a:extLst>
          </p:cNvPr>
          <p:cNvPicPr>
            <a:picLocks noChangeAspect="1"/>
          </p:cNvPicPr>
          <p:nvPr/>
        </p:nvPicPr>
        <p:blipFill>
          <a:blip r:embed="rId2"/>
          <a:stretch>
            <a:fillRect/>
          </a:stretch>
        </p:blipFill>
        <p:spPr>
          <a:xfrm>
            <a:off x="649654" y="1462181"/>
            <a:ext cx="6360746" cy="3327159"/>
          </a:xfrm>
          <a:prstGeom prst="rect">
            <a:avLst/>
          </a:prstGeom>
        </p:spPr>
      </p:pic>
    </p:spTree>
    <p:extLst>
      <p:ext uri="{BB962C8B-B14F-4D97-AF65-F5344CB8AC3E}">
        <p14:creationId xmlns:p14="http://schemas.microsoft.com/office/powerpoint/2010/main" val="7105029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612560"/>
            <a:ext cx="11239498" cy="820314"/>
          </a:xfrm>
        </p:spPr>
        <p:txBody>
          <a:bodyPr>
            <a:normAutofit/>
          </a:bodyPr>
          <a:lstStyle/>
          <a:p>
            <a:r>
              <a:rPr lang="en-IE" dirty="0">
                <a:solidFill>
                  <a:schemeClr val="tx1"/>
                </a:solidFill>
              </a:rPr>
              <a:t>The Output</a:t>
            </a:r>
          </a:p>
        </p:txBody>
      </p:sp>
      <p:pic>
        <p:nvPicPr>
          <p:cNvPr id="4" name="Picture 3">
            <a:extLst>
              <a:ext uri="{FF2B5EF4-FFF2-40B4-BE49-F238E27FC236}">
                <a16:creationId xmlns:a16="http://schemas.microsoft.com/office/drawing/2014/main" id="{4F812C89-DE51-0524-F9AE-9EB08BB4A621}"/>
              </a:ext>
            </a:extLst>
          </p:cNvPr>
          <p:cNvPicPr>
            <a:picLocks noChangeAspect="1"/>
          </p:cNvPicPr>
          <p:nvPr/>
        </p:nvPicPr>
        <p:blipFill>
          <a:blip r:embed="rId2"/>
          <a:stretch>
            <a:fillRect/>
          </a:stretch>
        </p:blipFill>
        <p:spPr>
          <a:xfrm>
            <a:off x="708879" y="1544637"/>
            <a:ext cx="4623652" cy="1995732"/>
          </a:xfrm>
          <a:prstGeom prst="rect">
            <a:avLst/>
          </a:prstGeom>
        </p:spPr>
      </p:pic>
    </p:spTree>
    <p:extLst>
      <p:ext uri="{BB962C8B-B14F-4D97-AF65-F5344CB8AC3E}">
        <p14:creationId xmlns:p14="http://schemas.microsoft.com/office/powerpoint/2010/main" val="2080315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612560"/>
            <a:ext cx="11239498" cy="820314"/>
          </a:xfrm>
        </p:spPr>
        <p:txBody>
          <a:bodyPr>
            <a:normAutofit/>
          </a:bodyPr>
          <a:lstStyle/>
          <a:p>
            <a:r>
              <a:rPr lang="en-IE" dirty="0">
                <a:solidFill>
                  <a:schemeClr val="tx1"/>
                </a:solidFill>
              </a:rPr>
              <a:t>Type and run this code</a:t>
            </a:r>
          </a:p>
        </p:txBody>
      </p:sp>
      <p:pic>
        <p:nvPicPr>
          <p:cNvPr id="9" name="Picture 8">
            <a:extLst>
              <a:ext uri="{FF2B5EF4-FFF2-40B4-BE49-F238E27FC236}">
                <a16:creationId xmlns:a16="http://schemas.microsoft.com/office/drawing/2014/main" id="{DC3A1AED-0C81-DA47-F664-410F6716C245}"/>
              </a:ext>
            </a:extLst>
          </p:cNvPr>
          <p:cNvPicPr>
            <a:picLocks noChangeAspect="1"/>
          </p:cNvPicPr>
          <p:nvPr/>
        </p:nvPicPr>
        <p:blipFill>
          <a:blip r:embed="rId2"/>
          <a:stretch>
            <a:fillRect/>
          </a:stretch>
        </p:blipFill>
        <p:spPr>
          <a:xfrm>
            <a:off x="647700" y="1518992"/>
            <a:ext cx="5448300" cy="2428875"/>
          </a:xfrm>
          <a:prstGeom prst="rect">
            <a:avLst/>
          </a:prstGeom>
        </p:spPr>
      </p:pic>
    </p:spTree>
    <p:extLst>
      <p:ext uri="{BB962C8B-B14F-4D97-AF65-F5344CB8AC3E}">
        <p14:creationId xmlns:p14="http://schemas.microsoft.com/office/powerpoint/2010/main" val="25857137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612560"/>
            <a:ext cx="11239498" cy="820314"/>
          </a:xfrm>
        </p:spPr>
        <p:txBody>
          <a:bodyPr>
            <a:normAutofit/>
          </a:bodyPr>
          <a:lstStyle/>
          <a:p>
            <a:r>
              <a:rPr lang="en-IE" dirty="0">
                <a:solidFill>
                  <a:schemeClr val="tx1"/>
                </a:solidFill>
              </a:rPr>
              <a:t>Predict the output</a:t>
            </a:r>
          </a:p>
        </p:txBody>
      </p:sp>
      <p:pic>
        <p:nvPicPr>
          <p:cNvPr id="4" name="Picture 3">
            <a:extLst>
              <a:ext uri="{FF2B5EF4-FFF2-40B4-BE49-F238E27FC236}">
                <a16:creationId xmlns:a16="http://schemas.microsoft.com/office/drawing/2014/main" id="{1E079D38-30EE-ED2D-476B-D62E1649C237}"/>
              </a:ext>
            </a:extLst>
          </p:cNvPr>
          <p:cNvPicPr>
            <a:picLocks noChangeAspect="1"/>
          </p:cNvPicPr>
          <p:nvPr/>
        </p:nvPicPr>
        <p:blipFill>
          <a:blip r:embed="rId2"/>
          <a:stretch>
            <a:fillRect/>
          </a:stretch>
        </p:blipFill>
        <p:spPr>
          <a:xfrm>
            <a:off x="476251" y="1432873"/>
            <a:ext cx="3861287" cy="3432255"/>
          </a:xfrm>
          <a:prstGeom prst="rect">
            <a:avLst/>
          </a:prstGeom>
        </p:spPr>
      </p:pic>
    </p:spTree>
    <p:extLst>
      <p:ext uri="{BB962C8B-B14F-4D97-AF65-F5344CB8AC3E}">
        <p14:creationId xmlns:p14="http://schemas.microsoft.com/office/powerpoint/2010/main" val="23236602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612560"/>
            <a:ext cx="11239498" cy="820314"/>
          </a:xfrm>
        </p:spPr>
        <p:txBody>
          <a:bodyPr>
            <a:normAutofit/>
          </a:bodyPr>
          <a:lstStyle/>
          <a:p>
            <a:r>
              <a:rPr lang="en-IE" dirty="0">
                <a:solidFill>
                  <a:schemeClr val="tx1"/>
                </a:solidFill>
              </a:rPr>
              <a:t>The Output</a:t>
            </a:r>
          </a:p>
        </p:txBody>
      </p:sp>
      <p:pic>
        <p:nvPicPr>
          <p:cNvPr id="7" name="Picture 6">
            <a:extLst>
              <a:ext uri="{FF2B5EF4-FFF2-40B4-BE49-F238E27FC236}">
                <a16:creationId xmlns:a16="http://schemas.microsoft.com/office/drawing/2014/main" id="{EDC793E2-EE0A-39A8-85A0-ED1ADEB2ABD3}"/>
              </a:ext>
            </a:extLst>
          </p:cNvPr>
          <p:cNvPicPr>
            <a:picLocks noChangeAspect="1"/>
          </p:cNvPicPr>
          <p:nvPr/>
        </p:nvPicPr>
        <p:blipFill>
          <a:blip r:embed="rId2"/>
          <a:stretch>
            <a:fillRect/>
          </a:stretch>
        </p:blipFill>
        <p:spPr>
          <a:xfrm>
            <a:off x="541826" y="1432874"/>
            <a:ext cx="4420620" cy="2115311"/>
          </a:xfrm>
          <a:prstGeom prst="rect">
            <a:avLst/>
          </a:prstGeom>
        </p:spPr>
      </p:pic>
    </p:spTree>
    <p:extLst>
      <p:ext uri="{BB962C8B-B14F-4D97-AF65-F5344CB8AC3E}">
        <p14:creationId xmlns:p14="http://schemas.microsoft.com/office/powerpoint/2010/main" val="9375868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612560"/>
            <a:ext cx="11239498" cy="820314"/>
          </a:xfrm>
        </p:spPr>
        <p:txBody>
          <a:bodyPr>
            <a:normAutofit/>
          </a:bodyPr>
          <a:lstStyle/>
          <a:p>
            <a:r>
              <a:rPr lang="en-IE" dirty="0">
                <a:solidFill>
                  <a:schemeClr val="tx1"/>
                </a:solidFill>
              </a:rPr>
              <a:t>Predict the output</a:t>
            </a:r>
          </a:p>
        </p:txBody>
      </p:sp>
      <p:pic>
        <p:nvPicPr>
          <p:cNvPr id="5" name="Picture 4">
            <a:extLst>
              <a:ext uri="{FF2B5EF4-FFF2-40B4-BE49-F238E27FC236}">
                <a16:creationId xmlns:a16="http://schemas.microsoft.com/office/drawing/2014/main" id="{315B6515-F1AD-7ECF-A03D-61D027B304D1}"/>
              </a:ext>
            </a:extLst>
          </p:cNvPr>
          <p:cNvPicPr>
            <a:picLocks noChangeAspect="1"/>
          </p:cNvPicPr>
          <p:nvPr/>
        </p:nvPicPr>
        <p:blipFill>
          <a:blip r:embed="rId2"/>
          <a:stretch>
            <a:fillRect/>
          </a:stretch>
        </p:blipFill>
        <p:spPr>
          <a:xfrm>
            <a:off x="476251" y="1432873"/>
            <a:ext cx="4619380" cy="3244309"/>
          </a:xfrm>
          <a:prstGeom prst="rect">
            <a:avLst/>
          </a:prstGeom>
        </p:spPr>
      </p:pic>
    </p:spTree>
    <p:extLst>
      <p:ext uri="{BB962C8B-B14F-4D97-AF65-F5344CB8AC3E}">
        <p14:creationId xmlns:p14="http://schemas.microsoft.com/office/powerpoint/2010/main" val="19804781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612560"/>
            <a:ext cx="11239498" cy="820314"/>
          </a:xfrm>
        </p:spPr>
        <p:txBody>
          <a:bodyPr>
            <a:normAutofit/>
          </a:bodyPr>
          <a:lstStyle/>
          <a:p>
            <a:r>
              <a:rPr lang="en-IE" dirty="0">
                <a:solidFill>
                  <a:schemeClr val="tx1"/>
                </a:solidFill>
              </a:rPr>
              <a:t>The Output</a:t>
            </a:r>
          </a:p>
        </p:txBody>
      </p:sp>
      <p:pic>
        <p:nvPicPr>
          <p:cNvPr id="4" name="Picture 3">
            <a:extLst>
              <a:ext uri="{FF2B5EF4-FFF2-40B4-BE49-F238E27FC236}">
                <a16:creationId xmlns:a16="http://schemas.microsoft.com/office/drawing/2014/main" id="{30B8901B-8CAB-55F6-9E1A-9BE8B25415A5}"/>
              </a:ext>
            </a:extLst>
          </p:cNvPr>
          <p:cNvPicPr>
            <a:picLocks noChangeAspect="1"/>
          </p:cNvPicPr>
          <p:nvPr/>
        </p:nvPicPr>
        <p:blipFill>
          <a:blip r:embed="rId2"/>
          <a:stretch>
            <a:fillRect/>
          </a:stretch>
        </p:blipFill>
        <p:spPr>
          <a:xfrm>
            <a:off x="624375" y="1536089"/>
            <a:ext cx="3717562" cy="2199665"/>
          </a:xfrm>
          <a:prstGeom prst="rect">
            <a:avLst/>
          </a:prstGeom>
        </p:spPr>
      </p:pic>
    </p:spTree>
    <p:extLst>
      <p:ext uri="{BB962C8B-B14F-4D97-AF65-F5344CB8AC3E}">
        <p14:creationId xmlns:p14="http://schemas.microsoft.com/office/powerpoint/2010/main" val="31346692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a:bodyPr>
          <a:lstStyle/>
          <a:p>
            <a:r>
              <a:rPr lang="en-IE" dirty="0">
                <a:solidFill>
                  <a:schemeClr val="tx1"/>
                </a:solidFill>
              </a:rPr>
              <a:t>Python is Modular</a:t>
            </a:r>
          </a:p>
        </p:txBody>
      </p:sp>
      <p:sp>
        <p:nvSpPr>
          <p:cNvPr id="3" name="TextBox 2">
            <a:extLst>
              <a:ext uri="{FF2B5EF4-FFF2-40B4-BE49-F238E27FC236}">
                <a16:creationId xmlns:a16="http://schemas.microsoft.com/office/drawing/2014/main" id="{0BBC6677-78BB-810D-574F-E67FC1092768}"/>
              </a:ext>
            </a:extLst>
          </p:cNvPr>
          <p:cNvSpPr txBox="1"/>
          <p:nvPr/>
        </p:nvSpPr>
        <p:spPr>
          <a:xfrm>
            <a:off x="631596" y="1432874"/>
            <a:ext cx="10906812" cy="481256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pic>
        <p:nvPicPr>
          <p:cNvPr id="5" name="Picture 4">
            <a:extLst>
              <a:ext uri="{FF2B5EF4-FFF2-40B4-BE49-F238E27FC236}">
                <a16:creationId xmlns:a16="http://schemas.microsoft.com/office/drawing/2014/main" id="{EE0196BB-26FD-8BD3-6DA6-AABA6E8C5819}"/>
              </a:ext>
            </a:extLst>
          </p:cNvPr>
          <p:cNvPicPr>
            <a:picLocks noChangeAspect="1"/>
          </p:cNvPicPr>
          <p:nvPr/>
        </p:nvPicPr>
        <p:blipFill>
          <a:blip r:embed="rId2"/>
          <a:stretch>
            <a:fillRect/>
          </a:stretch>
        </p:blipFill>
        <p:spPr>
          <a:xfrm>
            <a:off x="226292" y="1036948"/>
            <a:ext cx="9394947" cy="5514681"/>
          </a:xfrm>
          <a:prstGeom prst="rect">
            <a:avLst/>
          </a:prstGeom>
        </p:spPr>
      </p:pic>
      <p:sp>
        <p:nvSpPr>
          <p:cNvPr id="6" name="TextBox 5">
            <a:extLst>
              <a:ext uri="{FF2B5EF4-FFF2-40B4-BE49-F238E27FC236}">
                <a16:creationId xmlns:a16="http://schemas.microsoft.com/office/drawing/2014/main" id="{6C92B45E-DDDA-CE6E-78AC-D04627920937}"/>
              </a:ext>
            </a:extLst>
          </p:cNvPr>
          <p:cNvSpPr txBox="1"/>
          <p:nvPr/>
        </p:nvSpPr>
        <p:spPr>
          <a:xfrm>
            <a:off x="9568158" y="985010"/>
            <a:ext cx="2375554" cy="378565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Python is a collection of modules.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Modules are individual python script files (files with .</a:t>
            </a:r>
            <a:r>
              <a:rPr kumimoji="0" lang="en-IE" sz="2400" b="0" i="0" u="none" strike="noStrike" kern="1200" cap="none" spc="0" normalizeH="0" baseline="0" noProof="0" dirty="0" err="1">
                <a:ln>
                  <a:noFill/>
                </a:ln>
                <a:solidFill>
                  <a:prstClr val="black"/>
                </a:solidFill>
                <a:effectLst/>
                <a:uLnTx/>
                <a:uFillTx/>
                <a:latin typeface="Corbel" panose="020B0503020204020204"/>
                <a:ea typeface="+mn-ea"/>
                <a:cs typeface="+mn-cs"/>
              </a:rPr>
              <a:t>py</a:t>
            </a: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 ending) that are made up mostly of functions</a:t>
            </a:r>
          </a:p>
        </p:txBody>
      </p:sp>
    </p:spTree>
    <p:extLst>
      <p:ext uri="{BB962C8B-B14F-4D97-AF65-F5344CB8AC3E}">
        <p14:creationId xmlns:p14="http://schemas.microsoft.com/office/powerpoint/2010/main" val="1969634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a:bodyPr>
          <a:lstStyle/>
          <a:p>
            <a:r>
              <a:rPr lang="en-IE" dirty="0">
                <a:solidFill>
                  <a:schemeClr val="tx1"/>
                </a:solidFill>
              </a:rPr>
              <a:t>Python is Modular</a:t>
            </a:r>
          </a:p>
        </p:txBody>
      </p:sp>
      <p:sp>
        <p:nvSpPr>
          <p:cNvPr id="3" name="TextBox 2">
            <a:extLst>
              <a:ext uri="{FF2B5EF4-FFF2-40B4-BE49-F238E27FC236}">
                <a16:creationId xmlns:a16="http://schemas.microsoft.com/office/drawing/2014/main" id="{0BBC6677-78BB-810D-574F-E67FC1092768}"/>
              </a:ext>
            </a:extLst>
          </p:cNvPr>
          <p:cNvSpPr txBox="1"/>
          <p:nvPr/>
        </p:nvSpPr>
        <p:spPr>
          <a:xfrm>
            <a:off x="631596" y="1432874"/>
            <a:ext cx="10906812" cy="481256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6" name="TextBox 5">
            <a:extLst>
              <a:ext uri="{FF2B5EF4-FFF2-40B4-BE49-F238E27FC236}">
                <a16:creationId xmlns:a16="http://schemas.microsoft.com/office/drawing/2014/main" id="{6C92B45E-DDDA-CE6E-78AC-D04627920937}"/>
              </a:ext>
            </a:extLst>
          </p:cNvPr>
          <p:cNvSpPr txBox="1"/>
          <p:nvPr/>
        </p:nvSpPr>
        <p:spPr>
          <a:xfrm>
            <a:off x="476250" y="1206631"/>
            <a:ext cx="11239497" cy="5196166"/>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Python is a collection of modules. Modules can be classified into 3 groups:</a:t>
            </a:r>
          </a:p>
          <a:p>
            <a:pPr marL="457200" marR="0" lvl="0" indent="-457200" algn="l" defTabSz="457200" rtl="0" eaLnBrk="1" fontAlgn="auto" latinLnBrk="0" hangingPunct="1">
              <a:lnSpc>
                <a:spcPct val="150000"/>
              </a:lnSpc>
              <a:spcBef>
                <a:spcPts val="0"/>
              </a:spcBef>
              <a:spcAft>
                <a:spcPts val="0"/>
              </a:spcAft>
              <a:buClrTx/>
              <a:buSzTx/>
              <a:buFontTx/>
              <a:buAutoNum type="arabicPeriod"/>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User-defined modules -&gt; modules written by the programmer as part of the program being developed</a:t>
            </a:r>
          </a:p>
          <a:p>
            <a:pPr marL="457200" marR="0" lvl="0" indent="-457200" algn="l" defTabSz="457200" rtl="0" eaLnBrk="1" fontAlgn="auto" latinLnBrk="0" hangingPunct="1">
              <a:lnSpc>
                <a:spcPct val="150000"/>
              </a:lnSpc>
              <a:spcBef>
                <a:spcPts val="0"/>
              </a:spcBef>
              <a:spcAft>
                <a:spcPts val="0"/>
              </a:spcAft>
              <a:buClrTx/>
              <a:buSzTx/>
              <a:buFontTx/>
              <a:buAutoNum type="arabicPeriod"/>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Standard library modules -&gt; These are modules that come preinstalled as part of python e.g. math, random, </a:t>
            </a:r>
          </a:p>
          <a:p>
            <a:pPr marL="457200" marR="0" lvl="0" indent="-457200" algn="l" defTabSz="457200" rtl="0" eaLnBrk="1" fontAlgn="auto" latinLnBrk="0" hangingPunct="1">
              <a:lnSpc>
                <a:spcPct val="150000"/>
              </a:lnSpc>
              <a:spcBef>
                <a:spcPts val="0"/>
              </a:spcBef>
              <a:spcAft>
                <a:spcPts val="0"/>
              </a:spcAft>
              <a:buClrTx/>
              <a:buSzTx/>
              <a:buFontTx/>
              <a:buAutoNum type="arabicPeriod"/>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3</a:t>
            </a:r>
            <a:r>
              <a:rPr kumimoji="0" lang="en-IE" sz="2800" b="0" i="0" u="none" strike="noStrike" kern="1200" cap="none" spc="0" normalizeH="0" baseline="30000" noProof="0" dirty="0">
                <a:ln>
                  <a:noFill/>
                </a:ln>
                <a:solidFill>
                  <a:prstClr val="black"/>
                </a:solidFill>
                <a:effectLst/>
                <a:uLnTx/>
                <a:uFillTx/>
                <a:latin typeface="Corbel" panose="020B0503020204020204"/>
                <a:ea typeface="+mn-ea"/>
                <a:cs typeface="+mn-cs"/>
              </a:rPr>
              <a:t>rd</a:t>
            </a: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 party modules -&gt; These are developed by an external source either for commercial purposes or as open source. There are literally thousands of these </a:t>
            </a:r>
            <a:r>
              <a:rPr kumimoji="0" lang="en-IE" sz="2800" b="0" i="0" u="none" strike="noStrike" kern="1200" cap="none" spc="0" normalizeH="0" baseline="0" noProof="0" dirty="0" err="1">
                <a:ln>
                  <a:noFill/>
                </a:ln>
                <a:solidFill>
                  <a:prstClr val="black"/>
                </a:solidFill>
                <a:effectLst/>
                <a:uLnTx/>
                <a:uFillTx/>
                <a:latin typeface="Corbel" panose="020B0503020204020204"/>
                <a:ea typeface="+mn-ea"/>
                <a:cs typeface="+mn-cs"/>
              </a:rPr>
              <a:t>e.g</a:t>
            </a: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 </a:t>
            </a:r>
            <a:r>
              <a:rPr kumimoji="0" lang="en-IE" sz="2800" b="0" i="0" u="none" strike="noStrike" kern="1200" cap="none" spc="0" normalizeH="0" baseline="0" noProof="0" dirty="0" err="1">
                <a:ln>
                  <a:noFill/>
                </a:ln>
                <a:solidFill>
                  <a:prstClr val="black"/>
                </a:solidFill>
                <a:effectLst/>
                <a:uLnTx/>
                <a:uFillTx/>
                <a:latin typeface="Corbel" panose="020B0503020204020204"/>
                <a:ea typeface="+mn-ea"/>
                <a:cs typeface="+mn-cs"/>
              </a:rPr>
              <a:t>numpy</a:t>
            </a: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 </a:t>
            </a:r>
            <a:r>
              <a:rPr kumimoji="0" lang="en-IE" sz="2800" b="0" i="0" u="none" strike="noStrike" kern="1200" cap="none" spc="0" normalizeH="0" baseline="0" noProof="0" dirty="0" err="1">
                <a:ln>
                  <a:noFill/>
                </a:ln>
                <a:solidFill>
                  <a:prstClr val="black"/>
                </a:solidFill>
                <a:effectLst/>
                <a:uLnTx/>
                <a:uFillTx/>
                <a:latin typeface="Corbel" panose="020B0503020204020204"/>
                <a:ea typeface="+mn-ea"/>
                <a:cs typeface="+mn-cs"/>
              </a:rPr>
              <a:t>plotly</a:t>
            </a: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 </a:t>
            </a:r>
            <a:r>
              <a:rPr kumimoji="0" lang="en-IE" sz="2800" b="0" i="0" u="none" strike="noStrike" kern="1200" cap="none" spc="0" normalizeH="0" baseline="0" noProof="0" dirty="0" err="1">
                <a:ln>
                  <a:noFill/>
                </a:ln>
                <a:solidFill>
                  <a:prstClr val="black"/>
                </a:solidFill>
                <a:effectLst/>
                <a:uLnTx/>
                <a:uFillTx/>
                <a:latin typeface="Corbel" panose="020B0503020204020204"/>
                <a:ea typeface="+mn-ea"/>
                <a:cs typeface="+mn-cs"/>
              </a:rPr>
              <a:t>django</a:t>
            </a: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22243798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a:bodyPr>
          <a:lstStyle/>
          <a:p>
            <a:r>
              <a:rPr lang="en-IE" dirty="0">
                <a:solidFill>
                  <a:schemeClr val="tx1"/>
                </a:solidFill>
              </a:rPr>
              <a:t>Python file organisation</a:t>
            </a:r>
          </a:p>
        </p:txBody>
      </p:sp>
      <p:sp>
        <p:nvSpPr>
          <p:cNvPr id="3" name="TextBox 2">
            <a:extLst>
              <a:ext uri="{FF2B5EF4-FFF2-40B4-BE49-F238E27FC236}">
                <a16:creationId xmlns:a16="http://schemas.microsoft.com/office/drawing/2014/main" id="{0BBC6677-78BB-810D-574F-E67FC1092768}"/>
              </a:ext>
            </a:extLst>
          </p:cNvPr>
          <p:cNvSpPr txBox="1"/>
          <p:nvPr/>
        </p:nvSpPr>
        <p:spPr>
          <a:xfrm>
            <a:off x="631596" y="1432874"/>
            <a:ext cx="10906812" cy="481256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6" name="TextBox 5">
            <a:extLst>
              <a:ext uri="{FF2B5EF4-FFF2-40B4-BE49-F238E27FC236}">
                <a16:creationId xmlns:a16="http://schemas.microsoft.com/office/drawing/2014/main" id="{6C92B45E-DDDA-CE6E-78AC-D04627920937}"/>
              </a:ext>
            </a:extLst>
          </p:cNvPr>
          <p:cNvSpPr txBox="1"/>
          <p:nvPr/>
        </p:nvSpPr>
        <p:spPr>
          <a:xfrm>
            <a:off x="476250" y="1206631"/>
            <a:ext cx="11239497" cy="2610843"/>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Python files are typically organised into 3 sections</a:t>
            </a:r>
          </a:p>
          <a:p>
            <a:pPr marL="514350" marR="0" lvl="0" indent="-514350" algn="l" defTabSz="457200" rtl="0" eaLnBrk="1" fontAlgn="auto" latinLnBrk="0" hangingPunct="1">
              <a:lnSpc>
                <a:spcPct val="150000"/>
              </a:lnSpc>
              <a:spcBef>
                <a:spcPts val="0"/>
              </a:spcBef>
              <a:spcAft>
                <a:spcPts val="0"/>
              </a:spcAft>
              <a:buClrTx/>
              <a:buSzTx/>
              <a:buFontTx/>
              <a:buAutoNum type="arabicPeriod"/>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Import section at the top </a:t>
            </a:r>
          </a:p>
          <a:p>
            <a:pPr marL="514350" marR="0" lvl="0" indent="-514350" algn="l" defTabSz="457200" rtl="0" eaLnBrk="1" fontAlgn="auto" latinLnBrk="0" hangingPunct="1">
              <a:lnSpc>
                <a:spcPct val="150000"/>
              </a:lnSpc>
              <a:spcBef>
                <a:spcPts val="0"/>
              </a:spcBef>
              <a:spcAft>
                <a:spcPts val="0"/>
              </a:spcAft>
              <a:buClrTx/>
              <a:buSzTx/>
              <a:buFontTx/>
              <a:buAutoNum type="arabicPeriod"/>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Function section where all the functions are defined</a:t>
            </a:r>
          </a:p>
          <a:p>
            <a:pPr marL="514350" marR="0" lvl="0" indent="-514350" algn="l" defTabSz="457200" rtl="0" eaLnBrk="1" fontAlgn="auto" latinLnBrk="0" hangingPunct="1">
              <a:lnSpc>
                <a:spcPct val="150000"/>
              </a:lnSpc>
              <a:spcBef>
                <a:spcPts val="0"/>
              </a:spcBef>
              <a:spcAft>
                <a:spcPts val="0"/>
              </a:spcAft>
              <a:buClrTx/>
              <a:buSzTx/>
              <a:buFontTx/>
              <a:buAutoNum type="arabicPeriod"/>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The main program  -&gt; where the program execution begins</a:t>
            </a:r>
          </a:p>
        </p:txBody>
      </p:sp>
    </p:spTree>
    <p:extLst>
      <p:ext uri="{BB962C8B-B14F-4D97-AF65-F5344CB8AC3E}">
        <p14:creationId xmlns:p14="http://schemas.microsoft.com/office/powerpoint/2010/main" val="2780801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a:bodyPr>
          <a:lstStyle/>
          <a:p>
            <a:r>
              <a:rPr lang="en-IE" dirty="0">
                <a:solidFill>
                  <a:schemeClr val="tx1"/>
                </a:solidFill>
              </a:rPr>
              <a:t>Python file organisation</a:t>
            </a:r>
          </a:p>
        </p:txBody>
      </p:sp>
      <p:sp>
        <p:nvSpPr>
          <p:cNvPr id="3" name="TextBox 2">
            <a:extLst>
              <a:ext uri="{FF2B5EF4-FFF2-40B4-BE49-F238E27FC236}">
                <a16:creationId xmlns:a16="http://schemas.microsoft.com/office/drawing/2014/main" id="{0BBC6677-78BB-810D-574F-E67FC1092768}"/>
              </a:ext>
            </a:extLst>
          </p:cNvPr>
          <p:cNvSpPr txBox="1"/>
          <p:nvPr/>
        </p:nvSpPr>
        <p:spPr>
          <a:xfrm>
            <a:off x="631596" y="1432874"/>
            <a:ext cx="10906812" cy="481256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6" name="TextBox 5">
            <a:extLst>
              <a:ext uri="{FF2B5EF4-FFF2-40B4-BE49-F238E27FC236}">
                <a16:creationId xmlns:a16="http://schemas.microsoft.com/office/drawing/2014/main" id="{6C92B45E-DDDA-CE6E-78AC-D04627920937}"/>
              </a:ext>
            </a:extLst>
          </p:cNvPr>
          <p:cNvSpPr txBox="1"/>
          <p:nvPr/>
        </p:nvSpPr>
        <p:spPr>
          <a:xfrm>
            <a:off x="476250" y="1206631"/>
            <a:ext cx="11239497" cy="2610843"/>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Python files are typically organised into 3 sections</a:t>
            </a:r>
          </a:p>
          <a:p>
            <a:pPr marL="514350" marR="0" lvl="0" indent="-514350" algn="l" defTabSz="457200" rtl="0" eaLnBrk="1" fontAlgn="auto" latinLnBrk="0" hangingPunct="1">
              <a:lnSpc>
                <a:spcPct val="150000"/>
              </a:lnSpc>
              <a:spcBef>
                <a:spcPts val="0"/>
              </a:spcBef>
              <a:spcAft>
                <a:spcPts val="0"/>
              </a:spcAft>
              <a:buClrTx/>
              <a:buSzTx/>
              <a:buFontTx/>
              <a:buAutoNum type="arabicPeriod"/>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Import section at the top </a:t>
            </a:r>
          </a:p>
          <a:p>
            <a:pPr marL="514350" marR="0" lvl="0" indent="-514350" algn="l" defTabSz="457200" rtl="0" eaLnBrk="1" fontAlgn="auto" latinLnBrk="0" hangingPunct="1">
              <a:lnSpc>
                <a:spcPct val="150000"/>
              </a:lnSpc>
              <a:spcBef>
                <a:spcPts val="0"/>
              </a:spcBef>
              <a:spcAft>
                <a:spcPts val="0"/>
              </a:spcAft>
              <a:buClrTx/>
              <a:buSzTx/>
              <a:buFontTx/>
              <a:buAutoNum type="arabicPeriod"/>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Function section where all the functions are defined</a:t>
            </a:r>
          </a:p>
          <a:p>
            <a:pPr marL="514350" marR="0" lvl="0" indent="-514350" algn="l" defTabSz="457200" rtl="0" eaLnBrk="1" fontAlgn="auto" latinLnBrk="0" hangingPunct="1">
              <a:lnSpc>
                <a:spcPct val="150000"/>
              </a:lnSpc>
              <a:spcBef>
                <a:spcPts val="0"/>
              </a:spcBef>
              <a:spcAft>
                <a:spcPts val="0"/>
              </a:spcAft>
              <a:buClrTx/>
              <a:buSzTx/>
              <a:buFontTx/>
              <a:buAutoNum type="arabicPeriod"/>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The main program  -&gt; where the program execution begins</a:t>
            </a:r>
          </a:p>
        </p:txBody>
      </p:sp>
    </p:spTree>
    <p:extLst>
      <p:ext uri="{BB962C8B-B14F-4D97-AF65-F5344CB8AC3E}">
        <p14:creationId xmlns:p14="http://schemas.microsoft.com/office/powerpoint/2010/main" val="35729356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a:bodyPr>
          <a:lstStyle/>
          <a:p>
            <a:r>
              <a:rPr lang="en-IE" dirty="0">
                <a:solidFill>
                  <a:schemeClr val="tx1"/>
                </a:solidFill>
              </a:rPr>
              <a:t>Function Return Values</a:t>
            </a:r>
          </a:p>
        </p:txBody>
      </p:sp>
      <p:sp>
        <p:nvSpPr>
          <p:cNvPr id="3" name="TextBox 2">
            <a:extLst>
              <a:ext uri="{FF2B5EF4-FFF2-40B4-BE49-F238E27FC236}">
                <a16:creationId xmlns:a16="http://schemas.microsoft.com/office/drawing/2014/main" id="{0BBC6677-78BB-810D-574F-E67FC1092768}"/>
              </a:ext>
            </a:extLst>
          </p:cNvPr>
          <p:cNvSpPr txBox="1"/>
          <p:nvPr/>
        </p:nvSpPr>
        <p:spPr>
          <a:xfrm>
            <a:off x="631596" y="1432874"/>
            <a:ext cx="10906812" cy="481256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pic>
        <p:nvPicPr>
          <p:cNvPr id="8" name="Picture 7">
            <a:extLst>
              <a:ext uri="{FF2B5EF4-FFF2-40B4-BE49-F238E27FC236}">
                <a16:creationId xmlns:a16="http://schemas.microsoft.com/office/drawing/2014/main" id="{ACBEA024-D79C-B0EB-0B97-9C7DBA045A88}"/>
              </a:ext>
            </a:extLst>
          </p:cNvPr>
          <p:cNvPicPr>
            <a:picLocks noChangeAspect="1"/>
          </p:cNvPicPr>
          <p:nvPr/>
        </p:nvPicPr>
        <p:blipFill>
          <a:blip r:embed="rId2"/>
          <a:stretch>
            <a:fillRect/>
          </a:stretch>
        </p:blipFill>
        <p:spPr>
          <a:xfrm>
            <a:off x="631596" y="1295498"/>
            <a:ext cx="9931652" cy="3323636"/>
          </a:xfrm>
          <a:prstGeom prst="rect">
            <a:avLst/>
          </a:prstGeom>
        </p:spPr>
      </p:pic>
      <p:sp>
        <p:nvSpPr>
          <p:cNvPr id="9" name="TextBox 8">
            <a:extLst>
              <a:ext uri="{FF2B5EF4-FFF2-40B4-BE49-F238E27FC236}">
                <a16:creationId xmlns:a16="http://schemas.microsoft.com/office/drawing/2014/main" id="{434C9E79-AEE3-59F2-7846-8A39584F1D7F}"/>
              </a:ext>
            </a:extLst>
          </p:cNvPr>
          <p:cNvSpPr txBox="1"/>
          <p:nvPr/>
        </p:nvSpPr>
        <p:spPr>
          <a:xfrm>
            <a:off x="631596" y="4788816"/>
            <a:ext cx="10209229"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Data is passed into the function through the use of arguments. Data is passed out of the function by use of the return statement</a:t>
            </a:r>
          </a:p>
        </p:txBody>
      </p:sp>
    </p:spTree>
    <p:extLst>
      <p:ext uri="{BB962C8B-B14F-4D97-AF65-F5344CB8AC3E}">
        <p14:creationId xmlns:p14="http://schemas.microsoft.com/office/powerpoint/2010/main" val="18229530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a:bodyPr>
          <a:lstStyle/>
          <a:p>
            <a:r>
              <a:rPr lang="en-IE" dirty="0">
                <a:solidFill>
                  <a:schemeClr val="tx1"/>
                </a:solidFill>
              </a:rPr>
              <a:t>Function Return Values</a:t>
            </a:r>
          </a:p>
        </p:txBody>
      </p:sp>
      <p:sp>
        <p:nvSpPr>
          <p:cNvPr id="3" name="TextBox 2">
            <a:extLst>
              <a:ext uri="{FF2B5EF4-FFF2-40B4-BE49-F238E27FC236}">
                <a16:creationId xmlns:a16="http://schemas.microsoft.com/office/drawing/2014/main" id="{0BBC6677-78BB-810D-574F-E67FC1092768}"/>
              </a:ext>
            </a:extLst>
          </p:cNvPr>
          <p:cNvSpPr txBox="1"/>
          <p:nvPr/>
        </p:nvSpPr>
        <p:spPr>
          <a:xfrm>
            <a:off x="476251" y="1300899"/>
            <a:ext cx="10906812" cy="455939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Why does nothing appear to happen when you run this code?</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Edit to code to make the total appear on screen.</a:t>
            </a:r>
          </a:p>
        </p:txBody>
      </p:sp>
      <p:pic>
        <p:nvPicPr>
          <p:cNvPr id="5" name="Picture 4">
            <a:extLst>
              <a:ext uri="{FF2B5EF4-FFF2-40B4-BE49-F238E27FC236}">
                <a16:creationId xmlns:a16="http://schemas.microsoft.com/office/drawing/2014/main" id="{42F6A9B1-C925-28EB-744D-FE128D9400BB}"/>
              </a:ext>
            </a:extLst>
          </p:cNvPr>
          <p:cNvPicPr>
            <a:picLocks noChangeAspect="1"/>
          </p:cNvPicPr>
          <p:nvPr/>
        </p:nvPicPr>
        <p:blipFill>
          <a:blip r:embed="rId2"/>
          <a:stretch>
            <a:fillRect/>
          </a:stretch>
        </p:blipFill>
        <p:spPr>
          <a:xfrm>
            <a:off x="596539" y="1206631"/>
            <a:ext cx="4993375" cy="3412503"/>
          </a:xfrm>
          <a:prstGeom prst="rect">
            <a:avLst/>
          </a:prstGeom>
        </p:spPr>
      </p:pic>
      <p:sp>
        <p:nvSpPr>
          <p:cNvPr id="6" name="TextBox 5">
            <a:extLst>
              <a:ext uri="{FF2B5EF4-FFF2-40B4-BE49-F238E27FC236}">
                <a16:creationId xmlns:a16="http://schemas.microsoft.com/office/drawing/2014/main" id="{C9415C34-B032-0C90-1B10-FF3EFE2DB234}"/>
              </a:ext>
            </a:extLst>
          </p:cNvPr>
          <p:cNvSpPr txBox="1"/>
          <p:nvPr/>
        </p:nvSpPr>
        <p:spPr>
          <a:xfrm>
            <a:off x="6952175" y="1206631"/>
            <a:ext cx="4551176" cy="15696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srgbClr val="0070C0"/>
                </a:solidFill>
                <a:effectLst/>
                <a:uLnTx/>
                <a:uFillTx/>
                <a:latin typeface="Corbel" panose="020B0503020204020204"/>
                <a:ea typeface="+mn-ea"/>
                <a:cs typeface="+mn-cs"/>
              </a:rPr>
              <a:t>The return value of a function can be saved for further processing by making the function call part of an assignment statement</a:t>
            </a:r>
          </a:p>
        </p:txBody>
      </p:sp>
    </p:spTree>
    <p:extLst>
      <p:ext uri="{BB962C8B-B14F-4D97-AF65-F5344CB8AC3E}">
        <p14:creationId xmlns:p14="http://schemas.microsoft.com/office/powerpoint/2010/main" val="37162738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a:bodyPr>
          <a:lstStyle/>
          <a:p>
            <a:r>
              <a:rPr lang="en-IE" dirty="0">
                <a:solidFill>
                  <a:schemeClr val="tx1"/>
                </a:solidFill>
              </a:rPr>
              <a:t>Function Return Values</a:t>
            </a:r>
          </a:p>
        </p:txBody>
      </p:sp>
      <p:sp>
        <p:nvSpPr>
          <p:cNvPr id="3" name="TextBox 2">
            <a:extLst>
              <a:ext uri="{FF2B5EF4-FFF2-40B4-BE49-F238E27FC236}">
                <a16:creationId xmlns:a16="http://schemas.microsoft.com/office/drawing/2014/main" id="{0BBC6677-78BB-810D-574F-E67FC1092768}"/>
              </a:ext>
            </a:extLst>
          </p:cNvPr>
          <p:cNvSpPr txBox="1"/>
          <p:nvPr/>
        </p:nvSpPr>
        <p:spPr>
          <a:xfrm>
            <a:off x="476251" y="1300899"/>
            <a:ext cx="10906812" cy="369331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6" name="TextBox 5">
            <a:extLst>
              <a:ext uri="{FF2B5EF4-FFF2-40B4-BE49-F238E27FC236}">
                <a16:creationId xmlns:a16="http://schemas.microsoft.com/office/drawing/2014/main" id="{C9415C34-B032-0C90-1B10-FF3EFE2DB234}"/>
              </a:ext>
            </a:extLst>
          </p:cNvPr>
          <p:cNvSpPr txBox="1"/>
          <p:nvPr/>
        </p:nvSpPr>
        <p:spPr>
          <a:xfrm>
            <a:off x="688649" y="4572000"/>
            <a:ext cx="9963640"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srgbClr val="0070C0"/>
                </a:solidFill>
                <a:effectLst/>
                <a:uLnTx/>
                <a:uFillTx/>
                <a:latin typeface="Corbel" panose="020B0503020204020204"/>
                <a:ea typeface="+mn-ea"/>
                <a:cs typeface="+mn-cs"/>
              </a:rPr>
              <a:t>When you want to save the return value of a  function, the function call should be part of an assignment statement </a:t>
            </a:r>
            <a:r>
              <a:rPr kumimoji="0" lang="en-IE" sz="2400" b="0" i="0" u="none" strike="noStrike" kern="1200" cap="none" spc="0" normalizeH="0" baseline="0" noProof="0" dirty="0" err="1">
                <a:ln>
                  <a:noFill/>
                </a:ln>
                <a:solidFill>
                  <a:srgbClr val="0070C0"/>
                </a:solidFill>
                <a:effectLst/>
                <a:uLnTx/>
                <a:uFillTx/>
                <a:latin typeface="Corbel" panose="020B0503020204020204"/>
                <a:ea typeface="+mn-ea"/>
                <a:cs typeface="+mn-cs"/>
              </a:rPr>
              <a:t>variable_name</a:t>
            </a:r>
            <a:r>
              <a:rPr kumimoji="0" lang="en-IE" sz="2400" b="0" i="0" u="none" strike="noStrike" kern="1200" cap="none" spc="0" normalizeH="0" baseline="0" noProof="0" dirty="0">
                <a:ln>
                  <a:noFill/>
                </a:ln>
                <a:solidFill>
                  <a:srgbClr val="0070C0"/>
                </a:solidFill>
                <a:effectLst/>
                <a:uLnTx/>
                <a:uFillTx/>
                <a:latin typeface="Corbel" panose="020B0503020204020204"/>
                <a:ea typeface="+mn-ea"/>
                <a:cs typeface="+mn-cs"/>
              </a:rPr>
              <a:t> = </a:t>
            </a:r>
            <a:r>
              <a:rPr kumimoji="0" lang="en-IE" sz="2400" b="0" i="0" u="none" strike="noStrike" kern="1200" cap="none" spc="0" normalizeH="0" baseline="0" noProof="0" dirty="0" err="1">
                <a:ln>
                  <a:noFill/>
                </a:ln>
                <a:solidFill>
                  <a:srgbClr val="0070C0"/>
                </a:solidFill>
                <a:effectLst/>
                <a:uLnTx/>
                <a:uFillTx/>
                <a:latin typeface="Corbel" panose="020B0503020204020204"/>
                <a:ea typeface="+mn-ea"/>
                <a:cs typeface="+mn-cs"/>
              </a:rPr>
              <a:t>function_call</a:t>
            </a:r>
            <a:r>
              <a:rPr kumimoji="0" lang="en-IE" sz="2400" b="0" i="0" u="none" strike="noStrike" kern="1200" cap="none" spc="0" normalizeH="0" baseline="0" noProof="0" dirty="0">
                <a:ln>
                  <a:noFill/>
                </a:ln>
                <a:solidFill>
                  <a:srgbClr val="0070C0"/>
                </a:solidFill>
                <a:effectLst/>
                <a:uLnTx/>
                <a:uFillTx/>
                <a:latin typeface="Corbel" panose="020B0503020204020204"/>
                <a:ea typeface="+mn-ea"/>
                <a:cs typeface="+mn-cs"/>
              </a:rPr>
              <a:t>()</a:t>
            </a:r>
          </a:p>
        </p:txBody>
      </p:sp>
      <p:pic>
        <p:nvPicPr>
          <p:cNvPr id="7" name="Picture 6">
            <a:extLst>
              <a:ext uri="{FF2B5EF4-FFF2-40B4-BE49-F238E27FC236}">
                <a16:creationId xmlns:a16="http://schemas.microsoft.com/office/drawing/2014/main" id="{8AA40377-C721-9243-699C-EE86E9DFE2AC}"/>
              </a:ext>
            </a:extLst>
          </p:cNvPr>
          <p:cNvPicPr>
            <a:picLocks noChangeAspect="1"/>
          </p:cNvPicPr>
          <p:nvPr/>
        </p:nvPicPr>
        <p:blipFill>
          <a:blip r:embed="rId2"/>
          <a:stretch>
            <a:fillRect/>
          </a:stretch>
        </p:blipFill>
        <p:spPr>
          <a:xfrm>
            <a:off x="688649" y="1152278"/>
            <a:ext cx="9363075" cy="3248025"/>
          </a:xfrm>
          <a:prstGeom prst="rect">
            <a:avLst/>
          </a:prstGeom>
        </p:spPr>
      </p:pic>
    </p:spTree>
    <p:extLst>
      <p:ext uri="{BB962C8B-B14F-4D97-AF65-F5344CB8AC3E}">
        <p14:creationId xmlns:p14="http://schemas.microsoft.com/office/powerpoint/2010/main" val="20387249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a:bodyPr>
          <a:lstStyle/>
          <a:p>
            <a:r>
              <a:rPr lang="en-IE" dirty="0">
                <a:solidFill>
                  <a:schemeClr val="tx1"/>
                </a:solidFill>
              </a:rPr>
              <a:t>Function Return Values</a:t>
            </a:r>
          </a:p>
        </p:txBody>
      </p:sp>
      <p:sp>
        <p:nvSpPr>
          <p:cNvPr id="3" name="TextBox 2">
            <a:extLst>
              <a:ext uri="{FF2B5EF4-FFF2-40B4-BE49-F238E27FC236}">
                <a16:creationId xmlns:a16="http://schemas.microsoft.com/office/drawing/2014/main" id="{0BBC6677-78BB-810D-574F-E67FC1092768}"/>
              </a:ext>
            </a:extLst>
          </p:cNvPr>
          <p:cNvSpPr txBox="1"/>
          <p:nvPr/>
        </p:nvSpPr>
        <p:spPr>
          <a:xfrm>
            <a:off x="476251" y="1300899"/>
            <a:ext cx="10906812" cy="369331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pic>
        <p:nvPicPr>
          <p:cNvPr id="5" name="Picture 4">
            <a:extLst>
              <a:ext uri="{FF2B5EF4-FFF2-40B4-BE49-F238E27FC236}">
                <a16:creationId xmlns:a16="http://schemas.microsoft.com/office/drawing/2014/main" id="{19EB571C-BAE4-A87F-D5A9-9E91EB1305B7}"/>
              </a:ext>
            </a:extLst>
          </p:cNvPr>
          <p:cNvPicPr>
            <a:picLocks noChangeAspect="1"/>
          </p:cNvPicPr>
          <p:nvPr/>
        </p:nvPicPr>
        <p:blipFill>
          <a:blip r:embed="rId2"/>
          <a:stretch>
            <a:fillRect/>
          </a:stretch>
        </p:blipFill>
        <p:spPr>
          <a:xfrm>
            <a:off x="363129" y="1113147"/>
            <a:ext cx="8328384" cy="5343525"/>
          </a:xfrm>
          <a:prstGeom prst="rect">
            <a:avLst/>
          </a:prstGeom>
        </p:spPr>
      </p:pic>
      <p:sp>
        <p:nvSpPr>
          <p:cNvPr id="8" name="TextBox 7">
            <a:extLst>
              <a:ext uri="{FF2B5EF4-FFF2-40B4-BE49-F238E27FC236}">
                <a16:creationId xmlns:a16="http://schemas.microsoft.com/office/drawing/2014/main" id="{5F5C4D51-1A80-E216-403D-752E2A4925D6}"/>
              </a:ext>
            </a:extLst>
          </p:cNvPr>
          <p:cNvSpPr txBox="1"/>
          <p:nvPr/>
        </p:nvSpPr>
        <p:spPr>
          <a:xfrm>
            <a:off x="8691513" y="1589010"/>
            <a:ext cx="3005382" cy="132343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000" b="0" i="0" u="none" strike="noStrike" kern="1200" cap="none" spc="0" normalizeH="0" baseline="0" noProof="0" dirty="0">
                <a:ln>
                  <a:noFill/>
                </a:ln>
                <a:solidFill>
                  <a:prstClr val="black"/>
                </a:solidFill>
                <a:effectLst/>
                <a:uLnTx/>
                <a:uFillTx/>
                <a:latin typeface="Corbel" panose="020B0503020204020204"/>
                <a:ea typeface="+mn-ea"/>
                <a:cs typeface="+mn-cs"/>
              </a:rPr>
              <a:t>1 - Modify the program so that the constant values </a:t>
            </a:r>
            <a:r>
              <a:rPr kumimoji="0" lang="en-IE" sz="2000" b="0" i="0" u="none" strike="noStrike" kern="1200" cap="none" spc="0" normalizeH="0" baseline="0" noProof="0" dirty="0" err="1">
                <a:ln>
                  <a:noFill/>
                </a:ln>
                <a:solidFill>
                  <a:prstClr val="black"/>
                </a:solidFill>
                <a:effectLst/>
                <a:uLnTx/>
                <a:uFillTx/>
                <a:latin typeface="Corbel" panose="020B0503020204020204"/>
                <a:ea typeface="+mn-ea"/>
                <a:cs typeface="+mn-cs"/>
              </a:rPr>
              <a:t>e.g</a:t>
            </a:r>
            <a:r>
              <a:rPr kumimoji="0" lang="en-IE" sz="2000" b="0" i="0" u="none" strike="noStrike" kern="1200" cap="none" spc="0" normalizeH="0" baseline="0" noProof="0" dirty="0">
                <a:ln>
                  <a:noFill/>
                </a:ln>
                <a:solidFill>
                  <a:prstClr val="black"/>
                </a:solidFill>
                <a:effectLst/>
                <a:uLnTx/>
                <a:uFillTx/>
                <a:latin typeface="Corbel" panose="020B0503020204020204"/>
                <a:ea typeface="+mn-ea"/>
                <a:cs typeface="+mn-cs"/>
              </a:rPr>
              <a:t> 9/5, 32 and 0.62 are stored in variables</a:t>
            </a:r>
          </a:p>
        </p:txBody>
      </p:sp>
      <p:sp>
        <p:nvSpPr>
          <p:cNvPr id="9" name="TextBox 8">
            <a:extLst>
              <a:ext uri="{FF2B5EF4-FFF2-40B4-BE49-F238E27FC236}">
                <a16:creationId xmlns:a16="http://schemas.microsoft.com/office/drawing/2014/main" id="{B5DCACE3-E3C0-EA89-68B5-5DF9A08B861D}"/>
              </a:ext>
            </a:extLst>
          </p:cNvPr>
          <p:cNvSpPr txBox="1"/>
          <p:nvPr/>
        </p:nvSpPr>
        <p:spPr>
          <a:xfrm>
            <a:off x="8710367" y="3200560"/>
            <a:ext cx="3005382" cy="163121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000" b="0" i="0" u="none" strike="noStrike" kern="1200" cap="none" spc="0" normalizeH="0" baseline="0" noProof="0" dirty="0">
                <a:ln>
                  <a:noFill/>
                </a:ln>
                <a:solidFill>
                  <a:prstClr val="black"/>
                </a:solidFill>
                <a:effectLst/>
                <a:uLnTx/>
                <a:uFillTx/>
                <a:latin typeface="Corbel" panose="020B0503020204020204"/>
                <a:ea typeface="+mn-ea"/>
                <a:cs typeface="+mn-cs"/>
              </a:rPr>
              <a:t>2 – Extend the program with functions to convert from a) miles to km</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000" b="0" i="0" u="none" strike="noStrike" kern="1200" cap="none" spc="0" normalizeH="0" baseline="0" noProof="0" dirty="0">
                <a:ln>
                  <a:noFill/>
                </a:ln>
                <a:solidFill>
                  <a:prstClr val="black"/>
                </a:solidFill>
                <a:effectLst/>
                <a:uLnTx/>
                <a:uFillTx/>
                <a:latin typeface="Corbel" panose="020B0503020204020204"/>
                <a:ea typeface="+mn-ea"/>
                <a:cs typeface="+mn-cs"/>
              </a:rPr>
              <a:t>b) Fahrenheit to centigrade</a:t>
            </a:r>
          </a:p>
        </p:txBody>
      </p:sp>
    </p:spTree>
    <p:extLst>
      <p:ext uri="{BB962C8B-B14F-4D97-AF65-F5344CB8AC3E}">
        <p14:creationId xmlns:p14="http://schemas.microsoft.com/office/powerpoint/2010/main" val="9108188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a:bodyPr>
          <a:lstStyle/>
          <a:p>
            <a:r>
              <a:rPr lang="en-IE" dirty="0">
                <a:solidFill>
                  <a:schemeClr val="tx1"/>
                </a:solidFill>
              </a:rPr>
              <a:t>Function Return Values</a:t>
            </a:r>
          </a:p>
        </p:txBody>
      </p:sp>
      <p:sp>
        <p:nvSpPr>
          <p:cNvPr id="3" name="TextBox 2">
            <a:extLst>
              <a:ext uri="{FF2B5EF4-FFF2-40B4-BE49-F238E27FC236}">
                <a16:creationId xmlns:a16="http://schemas.microsoft.com/office/drawing/2014/main" id="{0BBC6677-78BB-810D-574F-E67FC1092768}"/>
              </a:ext>
            </a:extLst>
          </p:cNvPr>
          <p:cNvSpPr txBox="1"/>
          <p:nvPr/>
        </p:nvSpPr>
        <p:spPr>
          <a:xfrm>
            <a:off x="476251" y="1300899"/>
            <a:ext cx="10906812" cy="369331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8" name="TextBox 7">
            <a:extLst>
              <a:ext uri="{FF2B5EF4-FFF2-40B4-BE49-F238E27FC236}">
                <a16:creationId xmlns:a16="http://schemas.microsoft.com/office/drawing/2014/main" id="{5F5C4D51-1A80-E216-403D-752E2A4925D6}"/>
              </a:ext>
            </a:extLst>
          </p:cNvPr>
          <p:cNvSpPr txBox="1"/>
          <p:nvPr/>
        </p:nvSpPr>
        <p:spPr>
          <a:xfrm>
            <a:off x="8029230" y="1164149"/>
            <a:ext cx="3839265" cy="15696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srgbClr val="0070C0"/>
                </a:solidFill>
                <a:effectLst/>
                <a:uLnTx/>
                <a:uFillTx/>
                <a:latin typeface="Corbel" panose="020B0503020204020204"/>
                <a:ea typeface="+mn-ea"/>
                <a:cs typeface="+mn-cs"/>
              </a:rPr>
              <a:t>Which will give greater return: €10,000 at a rate of 5% for 10cyears OR €10,000 at a rate of 10% for 5 years</a:t>
            </a:r>
          </a:p>
        </p:txBody>
      </p:sp>
      <p:sp>
        <p:nvSpPr>
          <p:cNvPr id="9" name="TextBox 8">
            <a:extLst>
              <a:ext uri="{FF2B5EF4-FFF2-40B4-BE49-F238E27FC236}">
                <a16:creationId xmlns:a16="http://schemas.microsoft.com/office/drawing/2014/main" id="{B5DCACE3-E3C0-EA89-68B5-5DF9A08B861D}"/>
              </a:ext>
            </a:extLst>
          </p:cNvPr>
          <p:cNvSpPr txBox="1"/>
          <p:nvPr/>
        </p:nvSpPr>
        <p:spPr>
          <a:xfrm>
            <a:off x="8029230" y="3055226"/>
            <a:ext cx="3588667" cy="193899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srgbClr val="0070C0"/>
                </a:solidFill>
                <a:effectLst/>
                <a:uLnTx/>
                <a:uFillTx/>
                <a:latin typeface="Corbel" panose="020B0503020204020204"/>
                <a:ea typeface="+mn-ea"/>
                <a:cs typeface="+mn-cs"/>
              </a:rPr>
              <a:t>- The formula FV=p(1+i)**t is used to calculate the compound interest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srgbClr val="0070C0"/>
                </a:solidFill>
                <a:effectLst/>
                <a:uLnTx/>
                <a:uFillTx/>
                <a:latin typeface="Corbel" panose="020B0503020204020204"/>
                <a:ea typeface="+mn-ea"/>
                <a:cs typeface="+mn-cs"/>
              </a:rPr>
              <a:t>- pow(</a:t>
            </a:r>
            <a:r>
              <a:rPr kumimoji="0" lang="en-IE" sz="2400" b="0" i="0" u="none" strike="noStrike" kern="1200" cap="none" spc="0" normalizeH="0" baseline="0" noProof="0" dirty="0" err="1">
                <a:ln>
                  <a:noFill/>
                </a:ln>
                <a:solidFill>
                  <a:srgbClr val="0070C0"/>
                </a:solidFill>
                <a:effectLst/>
                <a:uLnTx/>
                <a:uFillTx/>
                <a:latin typeface="Corbel" panose="020B0503020204020204"/>
                <a:ea typeface="+mn-ea"/>
                <a:cs typeface="+mn-cs"/>
              </a:rPr>
              <a:t>x,y</a:t>
            </a:r>
            <a:r>
              <a:rPr kumimoji="0" lang="en-IE" sz="2400" b="0" i="0" u="none" strike="noStrike" kern="1200" cap="none" spc="0" normalizeH="0" baseline="0" noProof="0" dirty="0">
                <a:ln>
                  <a:noFill/>
                </a:ln>
                <a:solidFill>
                  <a:srgbClr val="0070C0"/>
                </a:solidFill>
                <a:effectLst/>
                <a:uLnTx/>
                <a:uFillTx/>
                <a:latin typeface="Corbel" panose="020B0503020204020204"/>
                <a:ea typeface="+mn-ea"/>
                <a:cs typeface="+mn-cs"/>
              </a:rPr>
              <a:t>)is a built-in function</a:t>
            </a:r>
          </a:p>
        </p:txBody>
      </p:sp>
      <p:pic>
        <p:nvPicPr>
          <p:cNvPr id="6" name="Picture 5">
            <a:extLst>
              <a:ext uri="{FF2B5EF4-FFF2-40B4-BE49-F238E27FC236}">
                <a16:creationId xmlns:a16="http://schemas.microsoft.com/office/drawing/2014/main" id="{5630AD1A-0D8F-5F59-53D5-19B07F2E749C}"/>
              </a:ext>
            </a:extLst>
          </p:cNvPr>
          <p:cNvPicPr>
            <a:picLocks noChangeAspect="1"/>
          </p:cNvPicPr>
          <p:nvPr/>
        </p:nvPicPr>
        <p:blipFill>
          <a:blip r:embed="rId2"/>
          <a:stretch>
            <a:fillRect/>
          </a:stretch>
        </p:blipFill>
        <p:spPr>
          <a:xfrm>
            <a:off x="323505" y="1206631"/>
            <a:ext cx="7705725" cy="3000375"/>
          </a:xfrm>
          <a:prstGeom prst="rect">
            <a:avLst/>
          </a:prstGeom>
        </p:spPr>
      </p:pic>
      <p:sp>
        <p:nvSpPr>
          <p:cNvPr id="7" name="TextBox 6">
            <a:extLst>
              <a:ext uri="{FF2B5EF4-FFF2-40B4-BE49-F238E27FC236}">
                <a16:creationId xmlns:a16="http://schemas.microsoft.com/office/drawing/2014/main" id="{4C95D08F-F593-BA6A-82E5-4F3A57710164}"/>
              </a:ext>
            </a:extLst>
          </p:cNvPr>
          <p:cNvSpPr txBox="1"/>
          <p:nvPr/>
        </p:nvSpPr>
        <p:spPr>
          <a:xfrm>
            <a:off x="476251" y="4249488"/>
            <a:ext cx="7318144" cy="15696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srgbClr val="0070C0"/>
                </a:solidFill>
                <a:effectLst/>
                <a:uLnTx/>
                <a:uFillTx/>
                <a:latin typeface="Corbel" panose="020B0503020204020204"/>
                <a:ea typeface="+mn-ea"/>
                <a:cs typeface="+mn-cs"/>
              </a:rPr>
              <a:t>1- Modify the code to take in user input for principal, time and rate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srgbClr val="0070C0"/>
                </a:solidFill>
                <a:effectLst/>
                <a:uLnTx/>
                <a:uFillTx/>
                <a:latin typeface="Corbel" panose="020B0503020204020204"/>
                <a:ea typeface="+mn-ea"/>
                <a:cs typeface="+mn-cs"/>
              </a:rPr>
              <a:t>2 – Extend the program to compare compound interest with simple interest</a:t>
            </a:r>
          </a:p>
        </p:txBody>
      </p:sp>
    </p:spTree>
    <p:extLst>
      <p:ext uri="{BB962C8B-B14F-4D97-AF65-F5344CB8AC3E}">
        <p14:creationId xmlns:p14="http://schemas.microsoft.com/office/powerpoint/2010/main" val="28720338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a:bodyPr>
          <a:lstStyle/>
          <a:p>
            <a:r>
              <a:rPr lang="en-IE" dirty="0">
                <a:solidFill>
                  <a:schemeClr val="tx1"/>
                </a:solidFill>
              </a:rPr>
              <a:t>Function Return Values</a:t>
            </a:r>
          </a:p>
        </p:txBody>
      </p:sp>
      <p:sp>
        <p:nvSpPr>
          <p:cNvPr id="3" name="TextBox 2">
            <a:extLst>
              <a:ext uri="{FF2B5EF4-FFF2-40B4-BE49-F238E27FC236}">
                <a16:creationId xmlns:a16="http://schemas.microsoft.com/office/drawing/2014/main" id="{0BBC6677-78BB-810D-574F-E67FC1092768}"/>
              </a:ext>
            </a:extLst>
          </p:cNvPr>
          <p:cNvSpPr txBox="1"/>
          <p:nvPr/>
        </p:nvSpPr>
        <p:spPr>
          <a:xfrm>
            <a:off x="642594" y="264944"/>
            <a:ext cx="10906812" cy="369331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7" name="TextBox 6">
            <a:extLst>
              <a:ext uri="{FF2B5EF4-FFF2-40B4-BE49-F238E27FC236}">
                <a16:creationId xmlns:a16="http://schemas.microsoft.com/office/drawing/2014/main" id="{4C95D08F-F593-BA6A-82E5-4F3A57710164}"/>
              </a:ext>
            </a:extLst>
          </p:cNvPr>
          <p:cNvSpPr txBox="1"/>
          <p:nvPr/>
        </p:nvSpPr>
        <p:spPr>
          <a:xfrm>
            <a:off x="7135497" y="1057704"/>
            <a:ext cx="4150936" cy="15696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srgbClr val="0070C0"/>
                </a:solidFill>
                <a:effectLst/>
                <a:uLnTx/>
                <a:uFillTx/>
                <a:latin typeface="Corbel" panose="020B0503020204020204"/>
                <a:ea typeface="+mn-ea"/>
                <a:cs typeface="+mn-cs"/>
              </a:rPr>
              <a:t>1- Modify the code to take in 3 numbers from the user, displays the maximum in a meaningful message</a:t>
            </a:r>
          </a:p>
        </p:txBody>
      </p:sp>
      <p:pic>
        <p:nvPicPr>
          <p:cNvPr id="5" name="Picture 4">
            <a:extLst>
              <a:ext uri="{FF2B5EF4-FFF2-40B4-BE49-F238E27FC236}">
                <a16:creationId xmlns:a16="http://schemas.microsoft.com/office/drawing/2014/main" id="{5F030691-5F95-BBBB-D336-FBB93F7BE9C8}"/>
              </a:ext>
            </a:extLst>
          </p:cNvPr>
          <p:cNvPicPr>
            <a:picLocks noChangeAspect="1"/>
          </p:cNvPicPr>
          <p:nvPr/>
        </p:nvPicPr>
        <p:blipFill>
          <a:blip r:embed="rId2"/>
          <a:stretch>
            <a:fillRect/>
          </a:stretch>
        </p:blipFill>
        <p:spPr>
          <a:xfrm>
            <a:off x="476251" y="1038852"/>
            <a:ext cx="6581470" cy="3955366"/>
          </a:xfrm>
          <a:prstGeom prst="rect">
            <a:avLst/>
          </a:prstGeom>
        </p:spPr>
      </p:pic>
      <p:sp>
        <p:nvSpPr>
          <p:cNvPr id="10" name="TextBox 9">
            <a:extLst>
              <a:ext uri="{FF2B5EF4-FFF2-40B4-BE49-F238E27FC236}">
                <a16:creationId xmlns:a16="http://schemas.microsoft.com/office/drawing/2014/main" id="{77DB279C-4611-215D-3CB4-80BF66F4481A}"/>
              </a:ext>
            </a:extLst>
          </p:cNvPr>
          <p:cNvSpPr txBox="1"/>
          <p:nvPr/>
        </p:nvSpPr>
        <p:spPr>
          <a:xfrm>
            <a:off x="7224064" y="3059990"/>
            <a:ext cx="4150936" cy="15696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srgbClr val="0070C0"/>
                </a:solidFill>
                <a:effectLst/>
                <a:uLnTx/>
                <a:uFillTx/>
                <a:latin typeface="Corbel" panose="020B0503020204020204"/>
                <a:ea typeface="+mn-ea"/>
                <a:cs typeface="+mn-cs"/>
              </a:rPr>
              <a:t>2- Modify the code to take in 3 numbers from the user, display the </a:t>
            </a:r>
            <a:r>
              <a:rPr kumimoji="0" lang="en-IE" sz="2400" b="0" i="0" u="none" strike="noStrike" kern="1200" cap="none" spc="0" normalizeH="0" baseline="0" noProof="0" dirty="0" err="1">
                <a:ln>
                  <a:noFill/>
                </a:ln>
                <a:solidFill>
                  <a:srgbClr val="0070C0"/>
                </a:solidFill>
                <a:effectLst/>
                <a:uLnTx/>
                <a:uFillTx/>
                <a:latin typeface="Corbel" panose="020B0503020204020204"/>
                <a:ea typeface="+mn-ea"/>
                <a:cs typeface="+mn-cs"/>
              </a:rPr>
              <a:t>minimium</a:t>
            </a:r>
            <a:r>
              <a:rPr kumimoji="0" lang="en-IE" sz="2400" b="0" i="0" u="none" strike="noStrike" kern="1200" cap="none" spc="0" normalizeH="0" baseline="0" noProof="0" dirty="0">
                <a:ln>
                  <a:noFill/>
                </a:ln>
                <a:solidFill>
                  <a:srgbClr val="0070C0"/>
                </a:solidFill>
                <a:effectLst/>
                <a:uLnTx/>
                <a:uFillTx/>
                <a:latin typeface="Corbel" panose="020B0503020204020204"/>
                <a:ea typeface="+mn-ea"/>
                <a:cs typeface="+mn-cs"/>
              </a:rPr>
              <a:t> in a meaningful message</a:t>
            </a:r>
          </a:p>
        </p:txBody>
      </p:sp>
    </p:spTree>
    <p:extLst>
      <p:ext uri="{BB962C8B-B14F-4D97-AF65-F5344CB8AC3E}">
        <p14:creationId xmlns:p14="http://schemas.microsoft.com/office/powerpoint/2010/main" val="33012908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a:bodyPr>
          <a:lstStyle/>
          <a:p>
            <a:r>
              <a:rPr lang="en-IE" dirty="0">
                <a:solidFill>
                  <a:schemeClr val="tx1"/>
                </a:solidFill>
              </a:rPr>
              <a:t>Function Return Values</a:t>
            </a:r>
          </a:p>
        </p:txBody>
      </p:sp>
      <p:sp>
        <p:nvSpPr>
          <p:cNvPr id="3" name="TextBox 2">
            <a:extLst>
              <a:ext uri="{FF2B5EF4-FFF2-40B4-BE49-F238E27FC236}">
                <a16:creationId xmlns:a16="http://schemas.microsoft.com/office/drawing/2014/main" id="{0BBC6677-78BB-810D-574F-E67FC1092768}"/>
              </a:ext>
            </a:extLst>
          </p:cNvPr>
          <p:cNvSpPr txBox="1"/>
          <p:nvPr/>
        </p:nvSpPr>
        <p:spPr>
          <a:xfrm>
            <a:off x="642594" y="264944"/>
            <a:ext cx="10906812" cy="369331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pic>
        <p:nvPicPr>
          <p:cNvPr id="6" name="Picture 5">
            <a:extLst>
              <a:ext uri="{FF2B5EF4-FFF2-40B4-BE49-F238E27FC236}">
                <a16:creationId xmlns:a16="http://schemas.microsoft.com/office/drawing/2014/main" id="{07223C26-5F67-48F0-9FA1-CBD214811210}"/>
              </a:ext>
            </a:extLst>
          </p:cNvPr>
          <p:cNvPicPr>
            <a:picLocks noChangeAspect="1"/>
          </p:cNvPicPr>
          <p:nvPr/>
        </p:nvPicPr>
        <p:blipFill>
          <a:blip r:embed="rId2"/>
          <a:stretch>
            <a:fillRect/>
          </a:stretch>
        </p:blipFill>
        <p:spPr>
          <a:xfrm>
            <a:off x="291177" y="325630"/>
            <a:ext cx="6976098" cy="6206739"/>
          </a:xfrm>
          <a:prstGeom prst="rect">
            <a:avLst/>
          </a:prstGeom>
        </p:spPr>
      </p:pic>
    </p:spTree>
    <p:extLst>
      <p:ext uri="{BB962C8B-B14F-4D97-AF65-F5344CB8AC3E}">
        <p14:creationId xmlns:p14="http://schemas.microsoft.com/office/powerpoint/2010/main" val="25150986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a:bodyPr>
          <a:lstStyle/>
          <a:p>
            <a:r>
              <a:rPr lang="en-IE" dirty="0">
                <a:solidFill>
                  <a:schemeClr val="tx1"/>
                </a:solidFill>
              </a:rPr>
              <a:t>A Prime Example Questions</a:t>
            </a:r>
          </a:p>
        </p:txBody>
      </p:sp>
      <p:sp>
        <p:nvSpPr>
          <p:cNvPr id="4" name="TextBox 3">
            <a:extLst>
              <a:ext uri="{FF2B5EF4-FFF2-40B4-BE49-F238E27FC236}">
                <a16:creationId xmlns:a16="http://schemas.microsoft.com/office/drawing/2014/main" id="{065E7AB0-9982-720E-5EFF-7E3929E4FAD2}"/>
              </a:ext>
            </a:extLst>
          </p:cNvPr>
          <p:cNvSpPr txBox="1"/>
          <p:nvPr/>
        </p:nvSpPr>
        <p:spPr>
          <a:xfrm>
            <a:off x="476251" y="1206631"/>
            <a:ext cx="11118718" cy="5142305"/>
          </a:xfrm>
          <a:prstGeom prst="rect">
            <a:avLst/>
          </a:prstGeom>
          <a:noFill/>
        </p:spPr>
        <p:txBody>
          <a:bodyPr wrap="square" rtlCol="0">
            <a:spAutoFit/>
          </a:bodyPr>
          <a:lstStyle/>
          <a:p>
            <a:pPr marL="342900" marR="0" lvl="0" indent="-342900" algn="l" defTabSz="457200" rtl="0" eaLnBrk="1" fontAlgn="auto" latinLnBrk="0" hangingPunct="1">
              <a:lnSpc>
                <a:spcPct val="200000"/>
              </a:lnSpc>
              <a:spcBef>
                <a:spcPts val="0"/>
              </a:spcBef>
              <a:spcAft>
                <a:spcPts val="0"/>
              </a:spcAft>
              <a:buClrTx/>
              <a:buSzTx/>
              <a:buFont typeface="+mj-lt"/>
              <a:buAutoNum type="arabicPeriod"/>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Predict what the test harness would do</a:t>
            </a:r>
          </a:p>
          <a:p>
            <a:pPr marL="342900" marR="0" lvl="0" indent="-342900" algn="l" defTabSz="457200" rtl="0" eaLnBrk="1" fontAlgn="auto" latinLnBrk="0" hangingPunct="1">
              <a:lnSpc>
                <a:spcPct val="200000"/>
              </a:lnSpc>
              <a:spcBef>
                <a:spcPts val="0"/>
              </a:spcBef>
              <a:spcAft>
                <a:spcPts val="0"/>
              </a:spcAft>
              <a:buClrTx/>
              <a:buSzTx/>
              <a:buFont typeface="+mj-lt"/>
              <a:buAutoNum type="arabicPeriod"/>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The program looks for factors up to half the number being checked. What would happen if the program stopped at the square root?</a:t>
            </a:r>
          </a:p>
          <a:p>
            <a:pPr marL="342900" marR="0" lvl="0" indent="-342900" algn="l" defTabSz="457200" rtl="0" eaLnBrk="1" fontAlgn="auto" latinLnBrk="0" hangingPunct="1">
              <a:lnSpc>
                <a:spcPct val="200000"/>
              </a:lnSpc>
              <a:spcBef>
                <a:spcPts val="0"/>
              </a:spcBef>
              <a:spcAft>
                <a:spcPts val="0"/>
              </a:spcAft>
              <a:buClrTx/>
              <a:buSzTx/>
              <a:buFont typeface="+mj-lt"/>
              <a:buAutoNum type="arabicPeriod"/>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Modify the test harness so it displays the first 100 prime numbers</a:t>
            </a:r>
          </a:p>
          <a:p>
            <a:pPr marL="342900" marR="0" lvl="0" indent="-342900" algn="l" defTabSz="457200" rtl="0" eaLnBrk="1" fontAlgn="auto" latinLnBrk="0" hangingPunct="1">
              <a:lnSpc>
                <a:spcPct val="200000"/>
              </a:lnSpc>
              <a:spcBef>
                <a:spcPts val="0"/>
              </a:spcBef>
              <a:spcAft>
                <a:spcPts val="0"/>
              </a:spcAft>
              <a:buClrTx/>
              <a:buSzTx/>
              <a:buFont typeface="+mj-lt"/>
              <a:buAutoNum type="arabicPeriod"/>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Make a program that displays the nth prime number entered by the end prime user </a:t>
            </a:r>
          </a:p>
        </p:txBody>
      </p:sp>
    </p:spTree>
    <p:extLst>
      <p:ext uri="{BB962C8B-B14F-4D97-AF65-F5344CB8AC3E}">
        <p14:creationId xmlns:p14="http://schemas.microsoft.com/office/powerpoint/2010/main" val="20121839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a:bodyPr>
          <a:lstStyle/>
          <a:p>
            <a:r>
              <a:rPr lang="en-IE" dirty="0">
                <a:solidFill>
                  <a:schemeClr val="tx1"/>
                </a:solidFill>
              </a:rPr>
              <a:t>Recursion (Higher Level)</a:t>
            </a:r>
          </a:p>
        </p:txBody>
      </p:sp>
      <p:sp>
        <p:nvSpPr>
          <p:cNvPr id="4" name="TextBox 3">
            <a:extLst>
              <a:ext uri="{FF2B5EF4-FFF2-40B4-BE49-F238E27FC236}">
                <a16:creationId xmlns:a16="http://schemas.microsoft.com/office/drawing/2014/main" id="{065E7AB0-9982-720E-5EFF-7E3929E4FAD2}"/>
              </a:ext>
            </a:extLst>
          </p:cNvPr>
          <p:cNvSpPr txBox="1"/>
          <p:nvPr/>
        </p:nvSpPr>
        <p:spPr>
          <a:xfrm>
            <a:off x="476251" y="1206631"/>
            <a:ext cx="11118718" cy="6865854"/>
          </a:xfrm>
          <a:prstGeom prst="rect">
            <a:avLst/>
          </a:prstGeom>
          <a:noFill/>
        </p:spPr>
        <p:txBody>
          <a:bodyPr wrap="square" rtlCol="0">
            <a:spAutoFit/>
          </a:bodyPr>
          <a:lstStyle/>
          <a:p>
            <a:pPr marL="0" marR="0" lvl="0" indent="0" algn="l" defTabSz="457200" rtl="0" eaLnBrk="1" fontAlgn="auto" latinLnBrk="0" hangingPunct="1">
              <a:lnSpc>
                <a:spcPct val="200000"/>
              </a:lnSpc>
              <a:spcBef>
                <a:spcPts val="0"/>
              </a:spcBef>
              <a:spcAft>
                <a:spcPts val="0"/>
              </a:spcAft>
              <a:buClrTx/>
              <a:buSzTx/>
              <a:buFontTx/>
              <a:buNone/>
              <a:tabLst/>
              <a:defRPr/>
            </a:pPr>
            <a:r>
              <a:rPr kumimoji="0" lang="en-IE" sz="2800" b="1" i="0" u="none" strike="noStrike" kern="1200" cap="none" spc="0" normalizeH="0" baseline="0" noProof="0" dirty="0">
                <a:ln>
                  <a:noFill/>
                </a:ln>
                <a:solidFill>
                  <a:prstClr val="black"/>
                </a:solidFill>
                <a:effectLst/>
                <a:highlight>
                  <a:srgbClr val="FFFF00"/>
                </a:highlight>
                <a:uLnTx/>
                <a:uFillTx/>
                <a:latin typeface="Corbel" panose="020B0503020204020204"/>
                <a:ea typeface="+mn-ea"/>
                <a:cs typeface="+mn-cs"/>
              </a:rPr>
              <a:t>A recursive function is a function that is defined in terms of itself </a:t>
            </a:r>
          </a:p>
          <a:p>
            <a:pPr marL="0" marR="0" lvl="0" indent="0" algn="l" defTabSz="457200" rtl="0" eaLnBrk="1" fontAlgn="auto" latinLnBrk="0" hangingPunct="1">
              <a:lnSpc>
                <a:spcPct val="20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In maths there are many examples of expressions written in terms of themselves, such as factorial n or n! </a:t>
            </a:r>
          </a:p>
          <a:p>
            <a:pPr marL="0" marR="0" lvl="0" indent="0" algn="l" defTabSz="457200" rtl="0" eaLnBrk="1" fontAlgn="auto" latinLnBrk="0" hangingPunct="1">
              <a:lnSpc>
                <a:spcPct val="20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factorial (n) = n x factorial(n-1)</a:t>
            </a:r>
          </a:p>
          <a:p>
            <a:pPr marL="0" marR="0" lvl="0" indent="0" algn="l" defTabSz="457200" rtl="0" eaLnBrk="1" fontAlgn="auto" latinLnBrk="0" hangingPunct="1">
              <a:lnSpc>
                <a:spcPct val="20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Recursion is a method of solving a problem where the solution depends on the solutions to smaller subsets of the same problem</a:t>
            </a:r>
          </a:p>
          <a:p>
            <a:pPr marL="0" marR="0" lvl="0" indent="0" algn="l" defTabSz="457200" rtl="0" eaLnBrk="1" fontAlgn="auto" latinLnBrk="0" hangingPunct="1">
              <a:lnSpc>
                <a:spcPct val="200000"/>
              </a:lnSpc>
              <a:spcBef>
                <a:spcPts val="0"/>
              </a:spcBef>
              <a:spcAft>
                <a:spcPts val="0"/>
              </a:spcAft>
              <a:buClrTx/>
              <a:buSzTx/>
              <a:buFontTx/>
              <a:buNone/>
              <a:tabLst/>
              <a:defRPr/>
            </a:pP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200000"/>
              </a:lnSpc>
              <a:spcBef>
                <a:spcPts val="0"/>
              </a:spcBef>
              <a:spcAft>
                <a:spcPts val="0"/>
              </a:spcAft>
              <a:buClrTx/>
              <a:buSzTx/>
              <a:buFontTx/>
              <a:buNone/>
              <a:tabLst/>
              <a:defRPr/>
            </a:pP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41759502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a:bodyPr>
          <a:lstStyle/>
          <a:p>
            <a:r>
              <a:rPr lang="en-IE" dirty="0">
                <a:solidFill>
                  <a:schemeClr val="tx1"/>
                </a:solidFill>
              </a:rPr>
              <a:t>Recursion (Higher Level)</a:t>
            </a:r>
          </a:p>
        </p:txBody>
      </p:sp>
      <p:sp>
        <p:nvSpPr>
          <p:cNvPr id="4" name="TextBox 3">
            <a:extLst>
              <a:ext uri="{FF2B5EF4-FFF2-40B4-BE49-F238E27FC236}">
                <a16:creationId xmlns:a16="http://schemas.microsoft.com/office/drawing/2014/main" id="{065E7AB0-9982-720E-5EFF-7E3929E4FAD2}"/>
              </a:ext>
            </a:extLst>
          </p:cNvPr>
          <p:cNvSpPr txBox="1"/>
          <p:nvPr/>
        </p:nvSpPr>
        <p:spPr>
          <a:xfrm>
            <a:off x="476251" y="1206631"/>
            <a:ext cx="11118718" cy="7727628"/>
          </a:xfrm>
          <a:prstGeom prst="rect">
            <a:avLst/>
          </a:prstGeom>
          <a:noFill/>
        </p:spPr>
        <p:txBody>
          <a:bodyPr wrap="square" rtlCol="0">
            <a:spAutoFit/>
          </a:bodyPr>
          <a:lstStyle/>
          <a:p>
            <a:pPr marL="0" marR="0" lvl="0" indent="0" algn="l" defTabSz="457200" rtl="0" eaLnBrk="1" fontAlgn="auto" latinLnBrk="0" hangingPunct="1">
              <a:lnSpc>
                <a:spcPct val="200000"/>
              </a:lnSpc>
              <a:spcBef>
                <a:spcPts val="0"/>
              </a:spcBef>
              <a:spcAft>
                <a:spcPts val="0"/>
              </a:spcAft>
              <a:buClrTx/>
              <a:buSzTx/>
              <a:buFontTx/>
              <a:buNone/>
              <a:tabLst/>
              <a:defRPr/>
            </a:pPr>
            <a:r>
              <a:rPr kumimoji="0" lang="en-IE" sz="2800" b="1" i="0" u="none" strike="noStrike" kern="1200" cap="none" spc="0" normalizeH="0" baseline="0" noProof="0" dirty="0">
                <a:ln>
                  <a:noFill/>
                </a:ln>
                <a:solidFill>
                  <a:prstClr val="black"/>
                </a:solidFill>
                <a:effectLst/>
                <a:highlight>
                  <a:srgbClr val="FFFF00"/>
                </a:highlight>
                <a:uLnTx/>
                <a:uFillTx/>
                <a:latin typeface="Corbel" panose="020B0503020204020204"/>
                <a:ea typeface="+mn-ea"/>
                <a:cs typeface="+mn-cs"/>
              </a:rPr>
              <a:t>A recursive function is a function that is defined in terms of itself </a:t>
            </a:r>
          </a:p>
          <a:p>
            <a:pPr marL="0" marR="0" lvl="0" indent="0" algn="l" defTabSz="457200" rtl="0" eaLnBrk="1" fontAlgn="auto" latinLnBrk="0" hangingPunct="1">
              <a:lnSpc>
                <a:spcPct val="20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Example -&gt; . It is the product of all integers from </a:t>
            </a:r>
            <a:r>
              <a:rPr kumimoji="0" lang="en-IE" sz="2800" b="0" i="1" u="none" strike="noStrike" kern="1200" cap="none" spc="0" normalizeH="0" baseline="0" noProof="0" dirty="0">
                <a:ln>
                  <a:noFill/>
                </a:ln>
                <a:solidFill>
                  <a:prstClr val="black"/>
                </a:solidFill>
                <a:effectLst/>
                <a:uLnTx/>
                <a:uFillTx/>
                <a:latin typeface="Corbel" panose="020B0503020204020204"/>
                <a:ea typeface="+mn-ea"/>
                <a:cs typeface="+mn-cs"/>
              </a:rPr>
              <a:t>n </a:t>
            </a: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down to 1 where 0! has the value 1.</a:t>
            </a:r>
          </a:p>
          <a:p>
            <a:pPr marL="0" marR="0" lvl="0" indent="0" algn="l" defTabSz="457200" rtl="0" eaLnBrk="1" fontAlgn="auto" latinLnBrk="0" hangingPunct="1">
              <a:lnSpc>
                <a:spcPct val="20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n!  = n x (n-1) x (n-2) x (n-3) x (n-4)…..x 3 x 2 x 1 for all n &gt; 0 and 0! = 1</a:t>
            </a:r>
          </a:p>
          <a:p>
            <a:pPr marL="0" marR="0" lvl="0" indent="0" algn="l" defTabSz="457200" rtl="0" eaLnBrk="1" fontAlgn="auto" latinLnBrk="0" hangingPunct="1">
              <a:lnSpc>
                <a:spcPct val="20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5! = 5 x 4 x 3 x 2 x 1 =120</a:t>
            </a:r>
          </a:p>
          <a:p>
            <a:pPr marL="0" marR="0" lvl="0" indent="0" algn="l" defTabSz="457200" rtl="0" eaLnBrk="1" fontAlgn="auto" latinLnBrk="0" hangingPunct="1">
              <a:lnSpc>
                <a:spcPct val="200000"/>
              </a:lnSpc>
              <a:spcBef>
                <a:spcPts val="0"/>
              </a:spcBef>
              <a:spcAft>
                <a:spcPts val="0"/>
              </a:spcAft>
              <a:buClrTx/>
              <a:buSzTx/>
              <a:buFontTx/>
              <a:buNone/>
              <a:tabLst/>
              <a:defRPr/>
            </a:pP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200000"/>
              </a:lnSpc>
              <a:spcBef>
                <a:spcPts val="0"/>
              </a:spcBef>
              <a:spcAft>
                <a:spcPts val="0"/>
              </a:spcAft>
              <a:buClrTx/>
              <a:buSzTx/>
              <a:buFontTx/>
              <a:buNone/>
              <a:tabLst/>
              <a:defRPr/>
            </a:pP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200000"/>
              </a:lnSpc>
              <a:spcBef>
                <a:spcPts val="0"/>
              </a:spcBef>
              <a:spcAft>
                <a:spcPts val="0"/>
              </a:spcAft>
              <a:buClrTx/>
              <a:buSzTx/>
              <a:buFontTx/>
              <a:buNone/>
              <a:tabLst/>
              <a:defRPr/>
            </a:pP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200000"/>
              </a:lnSpc>
              <a:spcBef>
                <a:spcPts val="0"/>
              </a:spcBef>
              <a:spcAft>
                <a:spcPts val="0"/>
              </a:spcAft>
              <a:buClrTx/>
              <a:buSzTx/>
              <a:buFontTx/>
              <a:buNone/>
              <a:tabLst/>
              <a:defRPr/>
            </a:pP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20599893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a:bodyPr>
          <a:lstStyle/>
          <a:p>
            <a:r>
              <a:rPr lang="en-IE" dirty="0">
                <a:solidFill>
                  <a:schemeClr val="tx1"/>
                </a:solidFill>
              </a:rPr>
              <a:t>Recursion (Higher Level)</a:t>
            </a:r>
          </a:p>
        </p:txBody>
      </p:sp>
      <p:sp>
        <p:nvSpPr>
          <p:cNvPr id="4" name="TextBox 3">
            <a:extLst>
              <a:ext uri="{FF2B5EF4-FFF2-40B4-BE49-F238E27FC236}">
                <a16:creationId xmlns:a16="http://schemas.microsoft.com/office/drawing/2014/main" id="{065E7AB0-9982-720E-5EFF-7E3929E4FAD2}"/>
              </a:ext>
            </a:extLst>
          </p:cNvPr>
          <p:cNvSpPr txBox="1"/>
          <p:nvPr/>
        </p:nvSpPr>
        <p:spPr>
          <a:xfrm>
            <a:off x="476251" y="1206631"/>
            <a:ext cx="11118718" cy="5142305"/>
          </a:xfrm>
          <a:prstGeom prst="rect">
            <a:avLst/>
          </a:prstGeom>
          <a:noFill/>
        </p:spPr>
        <p:txBody>
          <a:bodyPr wrap="square" rtlCol="0">
            <a:spAutoFit/>
          </a:bodyPr>
          <a:lstStyle/>
          <a:p>
            <a:pPr marL="0" marR="0" lvl="0" indent="0" algn="l" defTabSz="457200" rtl="0" eaLnBrk="1" fontAlgn="auto" latinLnBrk="0" hangingPunct="1">
              <a:lnSpc>
                <a:spcPct val="20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factorial (n) = n x factorial(n-1)</a:t>
            </a:r>
          </a:p>
          <a:p>
            <a:pPr marL="0" marR="0" lvl="0" indent="0" algn="l" defTabSz="457200" rtl="0" eaLnBrk="1" fontAlgn="auto" latinLnBrk="0" hangingPunct="1">
              <a:lnSpc>
                <a:spcPct val="20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n! = n x (n-1)!</a:t>
            </a:r>
          </a:p>
          <a:p>
            <a:pPr marL="0" marR="0" lvl="0" indent="0" algn="l" defTabSz="457200" rtl="0" eaLnBrk="1" fontAlgn="auto" latinLnBrk="0" hangingPunct="1">
              <a:lnSpc>
                <a:spcPct val="20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A recursive function is a function that calls itself. The problem is continuously broken down into smaller subsets of itself, until a stopping point is reached. This is the base case. Every chain of recursive calls MUST reach a base case</a:t>
            </a:r>
          </a:p>
        </p:txBody>
      </p:sp>
    </p:spTree>
    <p:extLst>
      <p:ext uri="{BB962C8B-B14F-4D97-AF65-F5344CB8AC3E}">
        <p14:creationId xmlns:p14="http://schemas.microsoft.com/office/powerpoint/2010/main" val="41198407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65E7AB0-9982-720E-5EFF-7E3929E4FAD2}"/>
              </a:ext>
            </a:extLst>
          </p:cNvPr>
          <p:cNvSpPr txBox="1"/>
          <p:nvPr/>
        </p:nvSpPr>
        <p:spPr>
          <a:xfrm>
            <a:off x="476251" y="94267"/>
            <a:ext cx="11118718" cy="3418756"/>
          </a:xfrm>
          <a:prstGeom prst="rect">
            <a:avLst/>
          </a:prstGeom>
          <a:noFill/>
        </p:spPr>
        <p:txBody>
          <a:bodyPr wrap="square" rtlCol="0">
            <a:spAutoFit/>
          </a:bodyPr>
          <a:lstStyle/>
          <a:p>
            <a:pPr marL="0" marR="0" lvl="0" indent="0" algn="l" defTabSz="457200" rtl="0" eaLnBrk="1" fontAlgn="auto" latinLnBrk="0" hangingPunct="1">
              <a:lnSpc>
                <a:spcPct val="20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Lets see how 5! would be evaluated recursively</a:t>
            </a:r>
          </a:p>
          <a:p>
            <a:pPr marL="0" marR="0" lvl="0" indent="0" algn="l" defTabSz="457200" rtl="0" eaLnBrk="1" fontAlgn="auto" latinLnBrk="0" hangingPunct="1">
              <a:lnSpc>
                <a:spcPct val="200000"/>
              </a:lnSpc>
              <a:spcBef>
                <a:spcPts val="0"/>
              </a:spcBef>
              <a:spcAft>
                <a:spcPts val="0"/>
              </a:spcAft>
              <a:buClrTx/>
              <a:buSzTx/>
              <a:buFontTx/>
              <a:buNone/>
              <a:tabLst/>
              <a:defRPr/>
            </a:pP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200000"/>
              </a:lnSpc>
              <a:spcBef>
                <a:spcPts val="0"/>
              </a:spcBef>
              <a:spcAft>
                <a:spcPts val="0"/>
              </a:spcAft>
              <a:buClrTx/>
              <a:buSzTx/>
              <a:buFontTx/>
              <a:buNone/>
              <a:tabLst/>
              <a:defRPr/>
            </a:pP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20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 </a:t>
            </a:r>
          </a:p>
        </p:txBody>
      </p:sp>
      <p:pic>
        <p:nvPicPr>
          <p:cNvPr id="5" name="Picture 4">
            <a:extLst>
              <a:ext uri="{FF2B5EF4-FFF2-40B4-BE49-F238E27FC236}">
                <a16:creationId xmlns:a16="http://schemas.microsoft.com/office/drawing/2014/main" id="{E1FC87E8-C49D-9178-F635-8A912F1A5358}"/>
              </a:ext>
            </a:extLst>
          </p:cNvPr>
          <p:cNvPicPr>
            <a:picLocks noChangeAspect="1"/>
          </p:cNvPicPr>
          <p:nvPr/>
        </p:nvPicPr>
        <p:blipFill>
          <a:blip r:embed="rId2"/>
          <a:stretch>
            <a:fillRect/>
          </a:stretch>
        </p:blipFill>
        <p:spPr>
          <a:xfrm>
            <a:off x="476250" y="1095375"/>
            <a:ext cx="10482793" cy="5126316"/>
          </a:xfrm>
          <a:prstGeom prst="rect">
            <a:avLst/>
          </a:prstGeom>
        </p:spPr>
      </p:pic>
    </p:spTree>
    <p:extLst>
      <p:ext uri="{BB962C8B-B14F-4D97-AF65-F5344CB8AC3E}">
        <p14:creationId xmlns:p14="http://schemas.microsoft.com/office/powerpoint/2010/main" val="38248539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a:bodyPr>
          <a:lstStyle/>
          <a:p>
            <a:r>
              <a:rPr lang="en-IE" dirty="0">
                <a:solidFill>
                  <a:schemeClr val="tx1"/>
                </a:solidFill>
              </a:rPr>
              <a:t>Recursion (Higher Level)</a:t>
            </a:r>
          </a:p>
        </p:txBody>
      </p:sp>
      <p:sp>
        <p:nvSpPr>
          <p:cNvPr id="4" name="TextBox 3">
            <a:extLst>
              <a:ext uri="{FF2B5EF4-FFF2-40B4-BE49-F238E27FC236}">
                <a16:creationId xmlns:a16="http://schemas.microsoft.com/office/drawing/2014/main" id="{065E7AB0-9982-720E-5EFF-7E3929E4FAD2}"/>
              </a:ext>
            </a:extLst>
          </p:cNvPr>
          <p:cNvSpPr txBox="1"/>
          <p:nvPr/>
        </p:nvSpPr>
        <p:spPr>
          <a:xfrm>
            <a:off x="7466029" y="1206631"/>
            <a:ext cx="4128939" cy="6129050"/>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Evaluating 5! Can be considered in 2 stages. In the </a:t>
            </a:r>
            <a:r>
              <a:rPr kumimoji="0" lang="en-IE" sz="2400" b="1" i="0" u="sng" strike="noStrike" kern="1200" cap="none" spc="0" normalizeH="0" baseline="0" noProof="0" dirty="0">
                <a:ln>
                  <a:noFill/>
                </a:ln>
                <a:solidFill>
                  <a:prstClr val="black"/>
                </a:solidFill>
                <a:effectLst/>
                <a:uLnTx/>
                <a:uFillTx/>
                <a:latin typeface="Corbel" panose="020B0503020204020204"/>
                <a:ea typeface="+mn-ea"/>
                <a:cs typeface="+mn-cs"/>
              </a:rPr>
              <a:t>first stage</a:t>
            </a: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 the number whose factorial is being sought is being multiplied by the factorial of the previous number. The chain of operations continues until 0! is reached</a:t>
            </a: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 </a:t>
            </a:r>
          </a:p>
        </p:txBody>
      </p:sp>
      <p:pic>
        <p:nvPicPr>
          <p:cNvPr id="5" name="Picture 4">
            <a:extLst>
              <a:ext uri="{FF2B5EF4-FFF2-40B4-BE49-F238E27FC236}">
                <a16:creationId xmlns:a16="http://schemas.microsoft.com/office/drawing/2014/main" id="{C59B26EE-B90D-4E2A-ED85-53861D057A69}"/>
              </a:ext>
            </a:extLst>
          </p:cNvPr>
          <p:cNvPicPr>
            <a:picLocks noChangeAspect="1"/>
          </p:cNvPicPr>
          <p:nvPr/>
        </p:nvPicPr>
        <p:blipFill>
          <a:blip r:embed="rId2"/>
          <a:stretch>
            <a:fillRect/>
          </a:stretch>
        </p:blipFill>
        <p:spPr>
          <a:xfrm>
            <a:off x="408495" y="1449665"/>
            <a:ext cx="7057534" cy="2891413"/>
          </a:xfrm>
          <a:prstGeom prst="rect">
            <a:avLst/>
          </a:prstGeom>
        </p:spPr>
      </p:pic>
    </p:spTree>
    <p:extLst>
      <p:ext uri="{BB962C8B-B14F-4D97-AF65-F5344CB8AC3E}">
        <p14:creationId xmlns:p14="http://schemas.microsoft.com/office/powerpoint/2010/main" val="40405808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a:bodyPr>
          <a:lstStyle/>
          <a:p>
            <a:r>
              <a:rPr lang="en-IE" dirty="0">
                <a:solidFill>
                  <a:schemeClr val="tx1"/>
                </a:solidFill>
              </a:rPr>
              <a:t>Recursion (Higher Level)</a:t>
            </a:r>
          </a:p>
        </p:txBody>
      </p:sp>
      <p:sp>
        <p:nvSpPr>
          <p:cNvPr id="4" name="TextBox 3">
            <a:extLst>
              <a:ext uri="{FF2B5EF4-FFF2-40B4-BE49-F238E27FC236}">
                <a16:creationId xmlns:a16="http://schemas.microsoft.com/office/drawing/2014/main" id="{065E7AB0-9982-720E-5EFF-7E3929E4FAD2}"/>
              </a:ext>
            </a:extLst>
          </p:cNvPr>
          <p:cNvSpPr txBox="1"/>
          <p:nvPr/>
        </p:nvSpPr>
        <p:spPr>
          <a:xfrm>
            <a:off x="7466029" y="1206631"/>
            <a:ext cx="4128939" cy="5021055"/>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In </a:t>
            </a:r>
            <a:r>
              <a:rPr kumimoji="0" lang="en-IE" sz="2400" b="1" i="0" u="sng" strike="noStrike" kern="1200" cap="none" spc="0" normalizeH="0" baseline="0" noProof="0" dirty="0">
                <a:ln>
                  <a:noFill/>
                </a:ln>
                <a:solidFill>
                  <a:prstClr val="black"/>
                </a:solidFill>
                <a:effectLst/>
                <a:uLnTx/>
                <a:uFillTx/>
                <a:latin typeface="Corbel" panose="020B0503020204020204"/>
                <a:ea typeface="+mn-ea"/>
                <a:cs typeface="+mn-cs"/>
              </a:rPr>
              <a:t>the second stage </a:t>
            </a: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of the evaluation, the chain starts at the evaluation of 0! = 1 (the base case). This results in the completion of each successive step up the chain until 5!is reached</a:t>
            </a: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 </a:t>
            </a:r>
          </a:p>
        </p:txBody>
      </p:sp>
      <p:pic>
        <p:nvPicPr>
          <p:cNvPr id="6" name="Picture 5">
            <a:extLst>
              <a:ext uri="{FF2B5EF4-FFF2-40B4-BE49-F238E27FC236}">
                <a16:creationId xmlns:a16="http://schemas.microsoft.com/office/drawing/2014/main" id="{C68C0D9E-C2F2-4474-8DA6-9D20B778C81C}"/>
              </a:ext>
            </a:extLst>
          </p:cNvPr>
          <p:cNvPicPr>
            <a:picLocks noChangeAspect="1"/>
          </p:cNvPicPr>
          <p:nvPr/>
        </p:nvPicPr>
        <p:blipFill>
          <a:blip r:embed="rId2"/>
          <a:stretch>
            <a:fillRect/>
          </a:stretch>
        </p:blipFill>
        <p:spPr>
          <a:xfrm>
            <a:off x="380312" y="1206631"/>
            <a:ext cx="6964936" cy="3138906"/>
          </a:xfrm>
          <a:prstGeom prst="rect">
            <a:avLst/>
          </a:prstGeom>
        </p:spPr>
      </p:pic>
    </p:spTree>
    <p:extLst>
      <p:ext uri="{BB962C8B-B14F-4D97-AF65-F5344CB8AC3E}">
        <p14:creationId xmlns:p14="http://schemas.microsoft.com/office/powerpoint/2010/main" val="24795053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64566" y="150647"/>
            <a:ext cx="11239498" cy="820314"/>
          </a:xfrm>
        </p:spPr>
        <p:txBody>
          <a:bodyPr>
            <a:normAutofit/>
          </a:bodyPr>
          <a:lstStyle/>
          <a:p>
            <a:r>
              <a:rPr lang="en-IE" dirty="0">
                <a:solidFill>
                  <a:schemeClr val="tx1"/>
                </a:solidFill>
              </a:rPr>
              <a:t>Recursion (Higher Level)</a:t>
            </a:r>
          </a:p>
        </p:txBody>
      </p:sp>
      <p:sp>
        <p:nvSpPr>
          <p:cNvPr id="4" name="TextBox 3">
            <a:extLst>
              <a:ext uri="{FF2B5EF4-FFF2-40B4-BE49-F238E27FC236}">
                <a16:creationId xmlns:a16="http://schemas.microsoft.com/office/drawing/2014/main" id="{065E7AB0-9982-720E-5EFF-7E3929E4FAD2}"/>
              </a:ext>
            </a:extLst>
          </p:cNvPr>
          <p:cNvSpPr txBox="1"/>
          <p:nvPr/>
        </p:nvSpPr>
        <p:spPr>
          <a:xfrm>
            <a:off x="355471" y="725864"/>
            <a:ext cx="11239497" cy="2805063"/>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Recursion is considered to be </a:t>
            </a:r>
            <a:r>
              <a:rPr kumimoji="0" lang="en-IE" sz="2400" b="1" i="0" u="none" strike="noStrike" kern="1200" cap="none" spc="0" normalizeH="0" baseline="0" noProof="0" dirty="0">
                <a:ln>
                  <a:noFill/>
                </a:ln>
                <a:solidFill>
                  <a:prstClr val="black"/>
                </a:solidFill>
                <a:effectLst/>
                <a:uLnTx/>
                <a:uFillTx/>
                <a:latin typeface="Corbel" panose="020B0503020204020204"/>
                <a:ea typeface="+mn-ea"/>
                <a:cs typeface="+mn-cs"/>
              </a:rPr>
              <a:t>computationally expensive</a:t>
            </a: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 because it requires relatively large amounts of memory to complete. In python a recursive function can only call itself 1000 times and then python stops it</a:t>
            </a: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 </a:t>
            </a:r>
          </a:p>
        </p:txBody>
      </p:sp>
      <p:pic>
        <p:nvPicPr>
          <p:cNvPr id="8" name="Picture 7">
            <a:extLst>
              <a:ext uri="{FF2B5EF4-FFF2-40B4-BE49-F238E27FC236}">
                <a16:creationId xmlns:a16="http://schemas.microsoft.com/office/drawing/2014/main" id="{B8D49E5F-05DD-57DC-A3A0-51FFAB4CAF3C}"/>
              </a:ext>
            </a:extLst>
          </p:cNvPr>
          <p:cNvPicPr>
            <a:picLocks noChangeAspect="1"/>
          </p:cNvPicPr>
          <p:nvPr/>
        </p:nvPicPr>
        <p:blipFill>
          <a:blip r:embed="rId2"/>
          <a:stretch>
            <a:fillRect/>
          </a:stretch>
        </p:blipFill>
        <p:spPr>
          <a:xfrm>
            <a:off x="464566" y="2442033"/>
            <a:ext cx="9943236" cy="3477999"/>
          </a:xfrm>
          <a:prstGeom prst="rect">
            <a:avLst/>
          </a:prstGeom>
        </p:spPr>
      </p:pic>
    </p:spTree>
    <p:extLst>
      <p:ext uri="{BB962C8B-B14F-4D97-AF65-F5344CB8AC3E}">
        <p14:creationId xmlns:p14="http://schemas.microsoft.com/office/powerpoint/2010/main" val="13915113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64566" y="150647"/>
            <a:ext cx="11239498" cy="820314"/>
          </a:xfrm>
        </p:spPr>
        <p:txBody>
          <a:bodyPr>
            <a:normAutofit/>
          </a:bodyPr>
          <a:lstStyle/>
          <a:p>
            <a:r>
              <a:rPr lang="en-IE" dirty="0">
                <a:solidFill>
                  <a:schemeClr val="tx1"/>
                </a:solidFill>
              </a:rPr>
              <a:t>Recursion (Higher Level)</a:t>
            </a:r>
          </a:p>
        </p:txBody>
      </p:sp>
      <p:pic>
        <p:nvPicPr>
          <p:cNvPr id="5" name="Picture 4">
            <a:extLst>
              <a:ext uri="{FF2B5EF4-FFF2-40B4-BE49-F238E27FC236}">
                <a16:creationId xmlns:a16="http://schemas.microsoft.com/office/drawing/2014/main" id="{14863B5F-D010-D342-D490-2C3430BF1D29}"/>
              </a:ext>
            </a:extLst>
          </p:cNvPr>
          <p:cNvPicPr>
            <a:picLocks noChangeAspect="1"/>
          </p:cNvPicPr>
          <p:nvPr/>
        </p:nvPicPr>
        <p:blipFill>
          <a:blip r:embed="rId2"/>
          <a:stretch>
            <a:fillRect/>
          </a:stretch>
        </p:blipFill>
        <p:spPr>
          <a:xfrm>
            <a:off x="487936" y="873256"/>
            <a:ext cx="10077450" cy="3867150"/>
          </a:xfrm>
          <a:prstGeom prst="rect">
            <a:avLst/>
          </a:prstGeom>
        </p:spPr>
      </p:pic>
      <p:pic>
        <p:nvPicPr>
          <p:cNvPr id="7" name="Picture 6">
            <a:extLst>
              <a:ext uri="{FF2B5EF4-FFF2-40B4-BE49-F238E27FC236}">
                <a16:creationId xmlns:a16="http://schemas.microsoft.com/office/drawing/2014/main" id="{8E3521DA-4567-8D36-554F-B750E1B1476B}"/>
              </a:ext>
            </a:extLst>
          </p:cNvPr>
          <p:cNvPicPr>
            <a:picLocks noChangeAspect="1"/>
          </p:cNvPicPr>
          <p:nvPr/>
        </p:nvPicPr>
        <p:blipFill>
          <a:blip r:embed="rId3"/>
          <a:stretch>
            <a:fillRect/>
          </a:stretch>
        </p:blipFill>
        <p:spPr>
          <a:xfrm>
            <a:off x="7277100" y="2217263"/>
            <a:ext cx="3124200" cy="2819400"/>
          </a:xfrm>
          <a:prstGeom prst="rect">
            <a:avLst/>
          </a:prstGeom>
        </p:spPr>
      </p:pic>
    </p:spTree>
    <p:extLst>
      <p:ext uri="{BB962C8B-B14F-4D97-AF65-F5344CB8AC3E}">
        <p14:creationId xmlns:p14="http://schemas.microsoft.com/office/powerpoint/2010/main" val="22167503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a:bodyPr>
          <a:lstStyle/>
          <a:p>
            <a:r>
              <a:rPr lang="en-IE" dirty="0">
                <a:solidFill>
                  <a:schemeClr val="tx1"/>
                </a:solidFill>
              </a:rPr>
              <a:t>Recursion (Higher Level)</a:t>
            </a:r>
          </a:p>
        </p:txBody>
      </p:sp>
      <p:sp>
        <p:nvSpPr>
          <p:cNvPr id="4" name="TextBox 3">
            <a:extLst>
              <a:ext uri="{FF2B5EF4-FFF2-40B4-BE49-F238E27FC236}">
                <a16:creationId xmlns:a16="http://schemas.microsoft.com/office/drawing/2014/main" id="{065E7AB0-9982-720E-5EFF-7E3929E4FAD2}"/>
              </a:ext>
            </a:extLst>
          </p:cNvPr>
          <p:cNvSpPr txBox="1"/>
          <p:nvPr/>
        </p:nvSpPr>
        <p:spPr>
          <a:xfrm>
            <a:off x="476251" y="1206631"/>
            <a:ext cx="11118717" cy="5842497"/>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To Summarise, a recursive function has 4 parts:</a:t>
            </a:r>
          </a:p>
          <a:p>
            <a:pPr marL="457200" marR="0" lvl="0" indent="-457200" algn="l" defTabSz="457200" rtl="0" eaLnBrk="1" fontAlgn="auto" latinLnBrk="0" hangingPunct="1">
              <a:lnSpc>
                <a:spcPct val="150000"/>
              </a:lnSpc>
              <a:spcBef>
                <a:spcPts val="0"/>
              </a:spcBef>
              <a:spcAft>
                <a:spcPts val="0"/>
              </a:spcAft>
              <a:buClrTx/>
              <a:buSzTx/>
              <a:buFont typeface="+mj-lt"/>
              <a:buAutoNum type="arabicPeriod"/>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Defining the recursive function</a:t>
            </a:r>
          </a:p>
          <a:p>
            <a:pPr marL="457200" marR="0" lvl="0" indent="-457200" algn="l" defTabSz="457200" rtl="0" eaLnBrk="1" fontAlgn="auto" latinLnBrk="0" hangingPunct="1">
              <a:lnSpc>
                <a:spcPct val="150000"/>
              </a:lnSpc>
              <a:spcBef>
                <a:spcPts val="0"/>
              </a:spcBef>
              <a:spcAft>
                <a:spcPts val="0"/>
              </a:spcAft>
              <a:buClrTx/>
              <a:buSzTx/>
              <a:buFont typeface="+mj-lt"/>
              <a:buAutoNum type="arabicPeriod"/>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Defining the base case</a:t>
            </a:r>
          </a:p>
          <a:p>
            <a:pPr marL="457200" marR="0" lvl="0" indent="-457200" algn="l" defTabSz="457200" rtl="0" eaLnBrk="1" fontAlgn="auto" latinLnBrk="0" hangingPunct="1">
              <a:lnSpc>
                <a:spcPct val="150000"/>
              </a:lnSpc>
              <a:spcBef>
                <a:spcPts val="0"/>
              </a:spcBef>
              <a:spcAft>
                <a:spcPts val="0"/>
              </a:spcAft>
              <a:buClrTx/>
              <a:buSzTx/>
              <a:buFont typeface="+mj-lt"/>
              <a:buAutoNum type="arabicPeriod"/>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Specifying the value that must be returned when the base case is reached</a:t>
            </a:r>
          </a:p>
          <a:p>
            <a:pPr marL="457200" marR="0" lvl="0" indent="-457200" algn="l" defTabSz="457200" rtl="0" eaLnBrk="1" fontAlgn="auto" latinLnBrk="0" hangingPunct="1">
              <a:lnSpc>
                <a:spcPct val="150000"/>
              </a:lnSpc>
              <a:spcBef>
                <a:spcPts val="0"/>
              </a:spcBef>
              <a:spcAft>
                <a:spcPts val="0"/>
              </a:spcAft>
              <a:buClrTx/>
              <a:buSzTx/>
              <a:buFont typeface="+mj-lt"/>
              <a:buAutoNum type="arabicPeriod"/>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Specifying the operation that must be carried out with each returned value</a:t>
            </a: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 </a:t>
            </a:r>
          </a:p>
        </p:txBody>
      </p:sp>
    </p:spTree>
    <p:extLst>
      <p:ext uri="{BB962C8B-B14F-4D97-AF65-F5344CB8AC3E}">
        <p14:creationId xmlns:p14="http://schemas.microsoft.com/office/powerpoint/2010/main" val="31740033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fontScale="90000"/>
          </a:bodyPr>
          <a:lstStyle/>
          <a:p>
            <a:r>
              <a:rPr lang="en-IE" dirty="0">
                <a:solidFill>
                  <a:schemeClr val="tx1"/>
                </a:solidFill>
              </a:rPr>
              <a:t>Recursion Question </a:t>
            </a:r>
            <a:r>
              <a:rPr lang="en-IE" sz="4400" dirty="0"/>
              <a:t>Task 1 </a:t>
            </a:r>
            <a:r>
              <a:rPr lang="en-IE" sz="4400" dirty="0" err="1"/>
              <a:t>pg</a:t>
            </a:r>
            <a:r>
              <a:rPr lang="en-IE" sz="4400" dirty="0"/>
              <a:t> 209</a:t>
            </a:r>
            <a:br>
              <a:rPr lang="en-IE" sz="4400" dirty="0"/>
            </a:br>
            <a:endParaRPr lang="en-IE" dirty="0">
              <a:solidFill>
                <a:schemeClr val="tx1"/>
              </a:solidFill>
            </a:endParaRPr>
          </a:p>
        </p:txBody>
      </p:sp>
      <p:sp>
        <p:nvSpPr>
          <p:cNvPr id="4" name="TextBox 3">
            <a:extLst>
              <a:ext uri="{FF2B5EF4-FFF2-40B4-BE49-F238E27FC236}">
                <a16:creationId xmlns:a16="http://schemas.microsoft.com/office/drawing/2014/main" id="{065E7AB0-9982-720E-5EFF-7E3929E4FAD2}"/>
              </a:ext>
            </a:extLst>
          </p:cNvPr>
          <p:cNvSpPr txBox="1"/>
          <p:nvPr/>
        </p:nvSpPr>
        <p:spPr>
          <a:xfrm>
            <a:off x="476251" y="815328"/>
            <a:ext cx="11118717" cy="5196166"/>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A Fibonacci sequence is a sequence of numbers where the first 2 terms are 0 and 1 and the next terms in the sequence are the results of adding the last 2 numbers together. For example  0,1,1,2,3,5,8,13,….</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Write a Fibonacci function in Python using recursion.</a:t>
            </a: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Step 1: Define the recursive function </a:t>
            </a: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 </a:t>
            </a:r>
          </a:p>
        </p:txBody>
      </p:sp>
      <p:sp>
        <p:nvSpPr>
          <p:cNvPr id="3" name="TextBox 2">
            <a:extLst>
              <a:ext uri="{FF2B5EF4-FFF2-40B4-BE49-F238E27FC236}">
                <a16:creationId xmlns:a16="http://schemas.microsoft.com/office/drawing/2014/main" id="{16CE1B67-147C-B5D9-FCA8-4DAC76B244B3}"/>
              </a:ext>
            </a:extLst>
          </p:cNvPr>
          <p:cNvSpPr txBox="1"/>
          <p:nvPr/>
        </p:nvSpPr>
        <p:spPr>
          <a:xfrm>
            <a:off x="801278" y="4788816"/>
            <a:ext cx="7268066"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Fib(n) = fib(n-1) + fib(n-2)</a:t>
            </a:r>
          </a:p>
        </p:txBody>
      </p:sp>
    </p:spTree>
    <p:extLst>
      <p:ext uri="{BB962C8B-B14F-4D97-AF65-F5344CB8AC3E}">
        <p14:creationId xmlns:p14="http://schemas.microsoft.com/office/powerpoint/2010/main" val="2783399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fontScale="90000"/>
          </a:bodyPr>
          <a:lstStyle/>
          <a:p>
            <a:r>
              <a:rPr lang="en-IE" dirty="0">
                <a:solidFill>
                  <a:schemeClr val="tx1"/>
                </a:solidFill>
              </a:rPr>
              <a:t>Recursion Question </a:t>
            </a:r>
            <a:r>
              <a:rPr lang="en-IE" sz="4400" dirty="0"/>
              <a:t>Task 1 </a:t>
            </a:r>
            <a:r>
              <a:rPr lang="en-IE" sz="4400" dirty="0" err="1"/>
              <a:t>pg</a:t>
            </a:r>
            <a:r>
              <a:rPr lang="en-IE" sz="4400" dirty="0"/>
              <a:t> 209</a:t>
            </a:r>
            <a:br>
              <a:rPr lang="en-IE" sz="4400" dirty="0"/>
            </a:br>
            <a:endParaRPr lang="en-IE" dirty="0">
              <a:solidFill>
                <a:schemeClr val="tx1"/>
              </a:solidFill>
            </a:endParaRPr>
          </a:p>
        </p:txBody>
      </p:sp>
      <p:sp>
        <p:nvSpPr>
          <p:cNvPr id="4" name="TextBox 3">
            <a:extLst>
              <a:ext uri="{FF2B5EF4-FFF2-40B4-BE49-F238E27FC236}">
                <a16:creationId xmlns:a16="http://schemas.microsoft.com/office/drawing/2014/main" id="{065E7AB0-9982-720E-5EFF-7E3929E4FAD2}"/>
              </a:ext>
            </a:extLst>
          </p:cNvPr>
          <p:cNvSpPr txBox="1"/>
          <p:nvPr/>
        </p:nvSpPr>
        <p:spPr>
          <a:xfrm>
            <a:off x="476251" y="815328"/>
            <a:ext cx="11118717" cy="5196166"/>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A Fibonacci sequence is a sequence of numbers where the first 2 terms are 0 and 1 and the next terms in the sequence are the results of adding the last 2 numbers together. For example  1,1,2,3,5,8,13,….</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Write a Fibonacci function in Python using recursion.</a:t>
            </a: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Step 2: Define the base case</a:t>
            </a: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 </a:t>
            </a:r>
          </a:p>
        </p:txBody>
      </p:sp>
      <p:sp>
        <p:nvSpPr>
          <p:cNvPr id="3" name="TextBox 2">
            <a:extLst>
              <a:ext uri="{FF2B5EF4-FFF2-40B4-BE49-F238E27FC236}">
                <a16:creationId xmlns:a16="http://schemas.microsoft.com/office/drawing/2014/main" id="{16CE1B67-147C-B5D9-FCA8-4DAC76B244B3}"/>
              </a:ext>
            </a:extLst>
          </p:cNvPr>
          <p:cNvSpPr txBox="1"/>
          <p:nvPr/>
        </p:nvSpPr>
        <p:spPr>
          <a:xfrm>
            <a:off x="801278" y="4788816"/>
            <a:ext cx="7268066"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Fib(0)</a:t>
            </a:r>
          </a:p>
        </p:txBody>
      </p:sp>
    </p:spTree>
    <p:extLst>
      <p:ext uri="{BB962C8B-B14F-4D97-AF65-F5344CB8AC3E}">
        <p14:creationId xmlns:p14="http://schemas.microsoft.com/office/powerpoint/2010/main" val="2514875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fontScale="90000"/>
          </a:bodyPr>
          <a:lstStyle/>
          <a:p>
            <a:r>
              <a:rPr lang="en-IE" dirty="0">
                <a:solidFill>
                  <a:schemeClr val="tx1"/>
                </a:solidFill>
              </a:rPr>
              <a:t>Recursion Question </a:t>
            </a:r>
            <a:r>
              <a:rPr lang="en-IE" sz="4400" dirty="0"/>
              <a:t>Task 1 </a:t>
            </a:r>
            <a:r>
              <a:rPr lang="en-IE" sz="4400" dirty="0" err="1"/>
              <a:t>pg</a:t>
            </a:r>
            <a:r>
              <a:rPr lang="en-IE" sz="4400" dirty="0"/>
              <a:t> 209</a:t>
            </a:r>
            <a:br>
              <a:rPr lang="en-IE" sz="4400" dirty="0"/>
            </a:br>
            <a:endParaRPr lang="en-IE" dirty="0">
              <a:solidFill>
                <a:schemeClr val="tx1"/>
              </a:solidFill>
            </a:endParaRPr>
          </a:p>
        </p:txBody>
      </p:sp>
      <p:sp>
        <p:nvSpPr>
          <p:cNvPr id="4" name="TextBox 3">
            <a:extLst>
              <a:ext uri="{FF2B5EF4-FFF2-40B4-BE49-F238E27FC236}">
                <a16:creationId xmlns:a16="http://schemas.microsoft.com/office/drawing/2014/main" id="{065E7AB0-9982-720E-5EFF-7E3929E4FAD2}"/>
              </a:ext>
            </a:extLst>
          </p:cNvPr>
          <p:cNvSpPr txBox="1"/>
          <p:nvPr/>
        </p:nvSpPr>
        <p:spPr>
          <a:xfrm>
            <a:off x="476251" y="815328"/>
            <a:ext cx="11118717" cy="5842497"/>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A Fibonacci sequence is a sequence of numbers where the first 2 terms are 0 and 1 and the next terms in the sequence are the results of adding the last 2 numbers together. For example  1,1,2,3,5,8,13,….</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Write a Fibonacci function in Python using recursion.</a:t>
            </a: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Step 3: Specify the value that must be returned when the base case is reached</a:t>
            </a: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 </a:t>
            </a:r>
          </a:p>
        </p:txBody>
      </p:sp>
      <p:sp>
        <p:nvSpPr>
          <p:cNvPr id="3" name="TextBox 2">
            <a:extLst>
              <a:ext uri="{FF2B5EF4-FFF2-40B4-BE49-F238E27FC236}">
                <a16:creationId xmlns:a16="http://schemas.microsoft.com/office/drawing/2014/main" id="{16CE1B67-147C-B5D9-FCA8-4DAC76B244B3}"/>
              </a:ext>
            </a:extLst>
          </p:cNvPr>
          <p:cNvSpPr txBox="1"/>
          <p:nvPr/>
        </p:nvSpPr>
        <p:spPr>
          <a:xfrm>
            <a:off x="2969443" y="5062194"/>
            <a:ext cx="7268066"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Fib(0) = 1</a:t>
            </a:r>
          </a:p>
        </p:txBody>
      </p:sp>
    </p:spTree>
    <p:extLst>
      <p:ext uri="{BB962C8B-B14F-4D97-AF65-F5344CB8AC3E}">
        <p14:creationId xmlns:p14="http://schemas.microsoft.com/office/powerpoint/2010/main" val="3041219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fontScale="90000"/>
          </a:bodyPr>
          <a:lstStyle/>
          <a:p>
            <a:r>
              <a:rPr lang="en-IE" dirty="0">
                <a:solidFill>
                  <a:schemeClr val="tx1"/>
                </a:solidFill>
              </a:rPr>
              <a:t>Recursion Question </a:t>
            </a:r>
            <a:r>
              <a:rPr lang="en-IE" sz="4400" dirty="0"/>
              <a:t>Task 1 </a:t>
            </a:r>
            <a:r>
              <a:rPr lang="en-IE" sz="4400" dirty="0" err="1"/>
              <a:t>pg</a:t>
            </a:r>
            <a:r>
              <a:rPr lang="en-IE" sz="4400" dirty="0"/>
              <a:t> 209</a:t>
            </a:r>
            <a:br>
              <a:rPr lang="en-IE" sz="4400" dirty="0"/>
            </a:br>
            <a:endParaRPr lang="en-IE" dirty="0">
              <a:solidFill>
                <a:schemeClr val="tx1"/>
              </a:solidFill>
            </a:endParaRPr>
          </a:p>
        </p:txBody>
      </p:sp>
      <p:sp>
        <p:nvSpPr>
          <p:cNvPr id="4" name="TextBox 3">
            <a:extLst>
              <a:ext uri="{FF2B5EF4-FFF2-40B4-BE49-F238E27FC236}">
                <a16:creationId xmlns:a16="http://schemas.microsoft.com/office/drawing/2014/main" id="{065E7AB0-9982-720E-5EFF-7E3929E4FAD2}"/>
              </a:ext>
            </a:extLst>
          </p:cNvPr>
          <p:cNvSpPr txBox="1"/>
          <p:nvPr/>
        </p:nvSpPr>
        <p:spPr>
          <a:xfrm>
            <a:off x="476251" y="815328"/>
            <a:ext cx="11118717" cy="6488828"/>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A Fibonacci sequence is a sequence of numbers where the first 2 terms are 0 and 1 and the next terms in the sequence are the results of adding the last 2 numbers together. For example  1,1,2,3,5,8,13,….</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Write a Fibonacci function in Python using recursion.</a:t>
            </a: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Step 4:Specifying the operation that must be carried out with each returned value</a:t>
            </a: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 </a:t>
            </a:r>
          </a:p>
        </p:txBody>
      </p:sp>
      <p:sp>
        <p:nvSpPr>
          <p:cNvPr id="3" name="TextBox 2">
            <a:extLst>
              <a:ext uri="{FF2B5EF4-FFF2-40B4-BE49-F238E27FC236}">
                <a16:creationId xmlns:a16="http://schemas.microsoft.com/office/drawing/2014/main" id="{16CE1B67-147C-B5D9-FCA8-4DAC76B244B3}"/>
              </a:ext>
            </a:extLst>
          </p:cNvPr>
          <p:cNvSpPr txBox="1"/>
          <p:nvPr/>
        </p:nvSpPr>
        <p:spPr>
          <a:xfrm>
            <a:off x="2969443" y="5062194"/>
            <a:ext cx="7268066"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E" sz="2400" b="0" i="0" u="none" strike="noStrike" kern="1200" cap="none" spc="0" normalizeH="0" baseline="0" noProof="0" dirty="0">
                <a:ln>
                  <a:noFill/>
                </a:ln>
                <a:solidFill>
                  <a:prstClr val="black"/>
                </a:solidFill>
                <a:effectLst/>
                <a:uLnTx/>
                <a:uFillTx/>
                <a:latin typeface="Corbel" panose="020B0503020204020204"/>
                <a:ea typeface="+mn-ea"/>
                <a:cs typeface="+mn-cs"/>
              </a:rPr>
              <a:t>The operation is ADDITION</a:t>
            </a:r>
          </a:p>
        </p:txBody>
      </p:sp>
    </p:spTree>
    <p:extLst>
      <p:ext uri="{BB962C8B-B14F-4D97-AF65-F5344CB8AC3E}">
        <p14:creationId xmlns:p14="http://schemas.microsoft.com/office/powerpoint/2010/main" val="1282491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fontScale="90000"/>
          </a:bodyPr>
          <a:lstStyle/>
          <a:p>
            <a:r>
              <a:rPr lang="en-IE" dirty="0">
                <a:solidFill>
                  <a:schemeClr val="tx1"/>
                </a:solidFill>
              </a:rPr>
              <a:t>Recursion Question </a:t>
            </a:r>
            <a:r>
              <a:rPr lang="en-IE" sz="4400" dirty="0"/>
              <a:t>Task 1 </a:t>
            </a:r>
            <a:r>
              <a:rPr lang="en-IE" sz="4400" dirty="0" err="1"/>
              <a:t>pg</a:t>
            </a:r>
            <a:r>
              <a:rPr lang="en-IE" sz="4400" dirty="0"/>
              <a:t> 209</a:t>
            </a:r>
            <a:br>
              <a:rPr lang="en-IE" sz="4400" dirty="0"/>
            </a:br>
            <a:endParaRPr lang="en-IE" dirty="0">
              <a:solidFill>
                <a:schemeClr val="tx1"/>
              </a:solidFill>
            </a:endParaRPr>
          </a:p>
        </p:txBody>
      </p:sp>
      <p:sp>
        <p:nvSpPr>
          <p:cNvPr id="4" name="TextBox 3">
            <a:extLst>
              <a:ext uri="{FF2B5EF4-FFF2-40B4-BE49-F238E27FC236}">
                <a16:creationId xmlns:a16="http://schemas.microsoft.com/office/drawing/2014/main" id="{065E7AB0-9982-720E-5EFF-7E3929E4FAD2}"/>
              </a:ext>
            </a:extLst>
          </p:cNvPr>
          <p:cNvSpPr txBox="1"/>
          <p:nvPr/>
        </p:nvSpPr>
        <p:spPr>
          <a:xfrm>
            <a:off x="476251" y="815328"/>
            <a:ext cx="11118717" cy="1964512"/>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 </a:t>
            </a:r>
          </a:p>
        </p:txBody>
      </p:sp>
      <p:pic>
        <p:nvPicPr>
          <p:cNvPr id="6" name="Picture 5">
            <a:extLst>
              <a:ext uri="{FF2B5EF4-FFF2-40B4-BE49-F238E27FC236}">
                <a16:creationId xmlns:a16="http://schemas.microsoft.com/office/drawing/2014/main" id="{D50F1D2F-32CB-8D3D-3E05-2FB6DDA24B7A}"/>
              </a:ext>
            </a:extLst>
          </p:cNvPr>
          <p:cNvPicPr>
            <a:picLocks noChangeAspect="1"/>
          </p:cNvPicPr>
          <p:nvPr/>
        </p:nvPicPr>
        <p:blipFill>
          <a:blip r:embed="rId2"/>
          <a:stretch>
            <a:fillRect/>
          </a:stretch>
        </p:blipFill>
        <p:spPr>
          <a:xfrm>
            <a:off x="476251" y="962711"/>
            <a:ext cx="10795640" cy="4231457"/>
          </a:xfrm>
          <a:prstGeom prst="rect">
            <a:avLst/>
          </a:prstGeom>
        </p:spPr>
      </p:pic>
    </p:spTree>
    <p:extLst>
      <p:ext uri="{BB962C8B-B14F-4D97-AF65-F5344CB8AC3E}">
        <p14:creationId xmlns:p14="http://schemas.microsoft.com/office/powerpoint/2010/main" val="17841219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76251" y="386317"/>
            <a:ext cx="11239498" cy="820314"/>
          </a:xfrm>
        </p:spPr>
        <p:txBody>
          <a:bodyPr>
            <a:normAutofit/>
          </a:bodyPr>
          <a:lstStyle/>
          <a:p>
            <a:r>
              <a:rPr lang="en-IE" dirty="0">
                <a:solidFill>
                  <a:schemeClr val="tx1"/>
                </a:solidFill>
              </a:rPr>
              <a:t>Recursion (Higher Level)</a:t>
            </a:r>
          </a:p>
        </p:txBody>
      </p:sp>
      <p:sp>
        <p:nvSpPr>
          <p:cNvPr id="4" name="TextBox 3">
            <a:extLst>
              <a:ext uri="{FF2B5EF4-FFF2-40B4-BE49-F238E27FC236}">
                <a16:creationId xmlns:a16="http://schemas.microsoft.com/office/drawing/2014/main" id="{065E7AB0-9982-720E-5EFF-7E3929E4FAD2}"/>
              </a:ext>
            </a:extLst>
          </p:cNvPr>
          <p:cNvSpPr txBox="1"/>
          <p:nvPr/>
        </p:nvSpPr>
        <p:spPr>
          <a:xfrm>
            <a:off x="476251" y="1206631"/>
            <a:ext cx="11118718" cy="2556982"/>
          </a:xfrm>
          <a:prstGeom prst="rect">
            <a:avLst/>
          </a:prstGeom>
          <a:noFill/>
        </p:spPr>
        <p:txBody>
          <a:bodyPr wrap="square" rtlCol="0">
            <a:spAutoFit/>
          </a:bodyPr>
          <a:lstStyle/>
          <a:p>
            <a:pPr marL="0" marR="0" lvl="0" indent="0" algn="l" defTabSz="457200" rtl="0" eaLnBrk="1" fontAlgn="auto" latinLnBrk="0" hangingPunct="1">
              <a:lnSpc>
                <a:spcPct val="200000"/>
              </a:lnSpc>
              <a:spcBef>
                <a:spcPts val="0"/>
              </a:spcBef>
              <a:spcAft>
                <a:spcPts val="0"/>
              </a:spcAft>
              <a:buClrTx/>
              <a:buSzTx/>
              <a:buFontTx/>
              <a:buNone/>
              <a:tabLst/>
              <a:defRPr/>
            </a:pP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20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hlinkClick r:id="rId2"/>
              </a:rPr>
              <a:t>https://www.youtube.com/watch?v=ngCos392W4w</a:t>
            </a:r>
            <a:endPar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457200" rtl="0" eaLnBrk="1" fontAlgn="auto" latinLnBrk="0" hangingPunct="1">
              <a:lnSpc>
                <a:spcPct val="200000"/>
              </a:lnSpc>
              <a:spcBef>
                <a:spcPts val="0"/>
              </a:spcBef>
              <a:spcAft>
                <a:spcPts val="0"/>
              </a:spcAft>
              <a:buClrTx/>
              <a:buSzTx/>
              <a:buFontTx/>
              <a:buNone/>
              <a:tabLst/>
              <a:defRPr/>
            </a:pPr>
            <a:r>
              <a:rPr kumimoji="0" lang="en-IE" sz="2800" b="0" i="0" u="none" strike="noStrike" kern="1200" cap="none" spc="0" normalizeH="0" baseline="0" noProof="0" dirty="0">
                <a:ln>
                  <a:noFill/>
                </a:ln>
                <a:solidFill>
                  <a:prstClr val="black"/>
                </a:solidFill>
                <a:effectLst/>
                <a:uLnTx/>
                <a:uFillTx/>
                <a:latin typeface="Corbel" panose="020B0503020204020204"/>
                <a:ea typeface="+mn-ea"/>
                <a:cs typeface="+mn-cs"/>
              </a:rPr>
              <a:t> </a:t>
            </a:r>
          </a:p>
        </p:txBody>
      </p:sp>
    </p:spTree>
    <p:extLst>
      <p:ext uri="{BB962C8B-B14F-4D97-AF65-F5344CB8AC3E}">
        <p14:creationId xmlns:p14="http://schemas.microsoft.com/office/powerpoint/2010/main" val="1035103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asi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D59C47FF1BBBD41944C27E755792B60" ma:contentTypeVersion="13" ma:contentTypeDescription="Create a new document." ma:contentTypeScope="" ma:versionID="10712fcb74858acd939241f8f14c3c2a">
  <xsd:schema xmlns:xsd="http://www.w3.org/2001/XMLSchema" xmlns:xs="http://www.w3.org/2001/XMLSchema" xmlns:p="http://schemas.microsoft.com/office/2006/metadata/properties" xmlns:ns1="http://schemas.microsoft.com/sharepoint/v3" xmlns:ns2="2a24f1cd-5e3a-428d-a962-0c0266cdec1f" xmlns:ns3="2522d011-583a-4cec-893b-a3e4ebe7a880" targetNamespace="http://schemas.microsoft.com/office/2006/metadata/properties" ma:root="true" ma:fieldsID="762bbfe59eafa4ea92fb4b763fa075a5" ns1:_="" ns2:_="" ns3:_="">
    <xsd:import namespace="http://schemas.microsoft.com/sharepoint/v3"/>
    <xsd:import namespace="2a24f1cd-5e3a-428d-a962-0c0266cdec1f"/>
    <xsd:import namespace="2522d011-583a-4cec-893b-a3e4ebe7a88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a24f1cd-5e3a-428d-a962-0c0266cdec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12559f9-f71b-4af0-bfaa-ab2f6ccdd4a9"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522d011-583a-4cec-893b-a3e4ebe7a880"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28a40212-ea4a-4620-9c44-1250f1e428a8}" ma:internalName="TaxCatchAll" ma:showField="CatchAllData" ma:web="2522d011-583a-4cec-893b-a3e4ebe7a88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2a24f1cd-5e3a-428d-a962-0c0266cdec1f">
      <Terms xmlns="http://schemas.microsoft.com/office/infopath/2007/PartnerControls"/>
    </lcf76f155ced4ddcb4097134ff3c332f>
    <_ip_UnifiedCompliancePolicyProperties xmlns="http://schemas.microsoft.com/sharepoint/v3" xsi:nil="true"/>
    <TaxCatchAll xmlns="2522d011-583a-4cec-893b-a3e4ebe7a880" xsi:nil="true"/>
  </documentManagement>
</p:properties>
</file>

<file path=customXml/itemProps1.xml><?xml version="1.0" encoding="utf-8"?>
<ds:datastoreItem xmlns:ds="http://schemas.openxmlformats.org/officeDocument/2006/customXml" ds:itemID="{E19199E4-2EA5-498E-AB7B-39E852AEC129}"/>
</file>

<file path=customXml/itemProps2.xml><?xml version="1.0" encoding="utf-8"?>
<ds:datastoreItem xmlns:ds="http://schemas.openxmlformats.org/officeDocument/2006/customXml" ds:itemID="{41F1F369-7B2D-4EBB-B27D-EF9370751177}"/>
</file>

<file path=customXml/itemProps3.xml><?xml version="1.0" encoding="utf-8"?>
<ds:datastoreItem xmlns:ds="http://schemas.openxmlformats.org/officeDocument/2006/customXml" ds:itemID="{1FCCEC45-F29B-4419-A14F-ADA8BC7ED7F7}"/>
</file>

<file path=docProps/app.xml><?xml version="1.0" encoding="utf-8"?>
<Properties xmlns="http://schemas.openxmlformats.org/officeDocument/2006/extended-properties" xmlns:vt="http://schemas.openxmlformats.org/officeDocument/2006/docPropsVTypes">
  <TotalTime>12</TotalTime>
  <Words>2441</Words>
  <Application>Microsoft Office PowerPoint</Application>
  <PresentationFormat>Widescreen</PresentationFormat>
  <Paragraphs>304</Paragraphs>
  <Slides>58</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58</vt:i4>
      </vt:variant>
    </vt:vector>
  </HeadingPairs>
  <TitlesOfParts>
    <vt:vector size="66" baseType="lpstr">
      <vt:lpstr>Arial</vt:lpstr>
      <vt:lpstr>Calibri</vt:lpstr>
      <vt:lpstr>Calibri Light</vt:lpstr>
      <vt:lpstr>Cambria Math</vt:lpstr>
      <vt:lpstr>Corbel</vt:lpstr>
      <vt:lpstr>urw-din</vt:lpstr>
      <vt:lpstr>Office Theme</vt:lpstr>
      <vt:lpstr>Basis</vt:lpstr>
      <vt:lpstr>Python  Functions &amp; Recursion</vt:lpstr>
      <vt:lpstr>Functions</vt:lpstr>
      <vt:lpstr>Functions</vt:lpstr>
      <vt:lpstr>Functions – Defining and calling a function</vt:lpstr>
      <vt:lpstr>Functions – Defining and calling a function</vt:lpstr>
      <vt:lpstr>Functions – with arguments</vt:lpstr>
      <vt:lpstr>Functions – Calculate the volume of a sphere</vt:lpstr>
      <vt:lpstr>Functions – Calculate the volume of a sphere</vt:lpstr>
      <vt:lpstr>Functions – with multiple arguments  -&gt; calculate volume of cylinder</vt:lpstr>
      <vt:lpstr>Functions – with multiple arguments  -&gt; calculate volume of cylinder</vt:lpstr>
      <vt:lpstr>Functions – using arguments in different order</vt:lpstr>
      <vt:lpstr>Functions – calling functions with keyword arguments</vt:lpstr>
      <vt:lpstr>Functions – Practice Time Pg 199 Q1 – Q5</vt:lpstr>
      <vt:lpstr>Functions – Practice Time Pg 199 Q1 – Q5</vt:lpstr>
      <vt:lpstr>Functions – that return a value</vt:lpstr>
      <vt:lpstr>Functions – that return a value</vt:lpstr>
      <vt:lpstr>Functions – Practice Time Pg 199 Q1 – Q5</vt:lpstr>
      <vt:lpstr>Functions – that return a Boolean value</vt:lpstr>
      <vt:lpstr>Functions – that return a Boolean value</vt:lpstr>
      <vt:lpstr>Practice &amp; Homework  – pg 203 Tasks 1 to 8 inclusive</vt:lpstr>
      <vt:lpstr>Local &amp; Global Variables</vt:lpstr>
      <vt:lpstr>Local &amp; Global Variables</vt:lpstr>
      <vt:lpstr>Local &amp; Global Variables</vt:lpstr>
      <vt:lpstr>Local &amp; Global Variables</vt:lpstr>
      <vt:lpstr>Predict the output</vt:lpstr>
      <vt:lpstr>The Output</vt:lpstr>
      <vt:lpstr>Type and run this code</vt:lpstr>
      <vt:lpstr>Predict the output</vt:lpstr>
      <vt:lpstr>The Output</vt:lpstr>
      <vt:lpstr>Predict the output</vt:lpstr>
      <vt:lpstr>The Output</vt:lpstr>
      <vt:lpstr>Python is Modular</vt:lpstr>
      <vt:lpstr>Python is Modular</vt:lpstr>
      <vt:lpstr>Python file organisation</vt:lpstr>
      <vt:lpstr>Python file organisation</vt:lpstr>
      <vt:lpstr>Function Return Values</vt:lpstr>
      <vt:lpstr>Function Return Values</vt:lpstr>
      <vt:lpstr>Function Return Values</vt:lpstr>
      <vt:lpstr>Function Return Values</vt:lpstr>
      <vt:lpstr>Function Return Values</vt:lpstr>
      <vt:lpstr>Function Return Values</vt:lpstr>
      <vt:lpstr>Function Return Values</vt:lpstr>
      <vt:lpstr>A Prime Example Questions</vt:lpstr>
      <vt:lpstr>Recursion (Higher Level)</vt:lpstr>
      <vt:lpstr>Recursion (Higher Level)</vt:lpstr>
      <vt:lpstr>Recursion (Higher Level)</vt:lpstr>
      <vt:lpstr>PowerPoint Presentation</vt:lpstr>
      <vt:lpstr>Recursion (Higher Level)</vt:lpstr>
      <vt:lpstr>Recursion (Higher Level)</vt:lpstr>
      <vt:lpstr>Recursion (Higher Level)</vt:lpstr>
      <vt:lpstr>Recursion (Higher Level)</vt:lpstr>
      <vt:lpstr>Recursion (Higher Level)</vt:lpstr>
      <vt:lpstr>Recursion Question Task 1 pg 209 </vt:lpstr>
      <vt:lpstr>Recursion Question Task 1 pg 209 </vt:lpstr>
      <vt:lpstr>Recursion Question Task 1 pg 209 </vt:lpstr>
      <vt:lpstr>Recursion Question Task 1 pg 209 </vt:lpstr>
      <vt:lpstr>Recursion Question Task 1 pg 209 </vt:lpstr>
      <vt:lpstr>Recursion (Higher Level)</vt:lpstr>
    </vt:vector>
  </TitlesOfParts>
  <Company>EDU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Functions &amp; Recursion</dc:title>
  <dc:creator>Pauline Smyth</dc:creator>
  <cp:lastModifiedBy>Pauline Smyth</cp:lastModifiedBy>
  <cp:revision>1</cp:revision>
  <dcterms:created xsi:type="dcterms:W3CDTF">2022-09-22T10:48:32Z</dcterms:created>
  <dcterms:modified xsi:type="dcterms:W3CDTF">2022-09-22T11:00:51Z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0x0101008D59C47FF1BBBD41944C27E755792B60</vt:lpwstr>
  </property>
</Properties>
</file>